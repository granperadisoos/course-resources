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6" d="100"/>
          <a:sy n="66" d="100"/>
        </p:scale>
        <p:origin x="6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712391-5B42-4DA9-B1C5-0617F62B960A}" type="datetimeFigureOut">
              <a:rPr lang="en-US" smtClean="0"/>
              <a:t>3/13/2023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76F5EE-9B4A-4BE4-A734-6A4B6A112B41}" type="slidenum">
              <a:rPr lang="en-US" smtClean="0"/>
              <a:t>‹#›</a:t>
            </a:fld>
            <a:endParaRPr lang="en-US"/>
          </a:p>
        </p:txBody>
      </p:sp>
    </p:spTree>
    <p:extLst>
      <p:ext uri="{BB962C8B-B14F-4D97-AF65-F5344CB8AC3E}">
        <p14:creationId xmlns:p14="http://schemas.microsoft.com/office/powerpoint/2010/main" val="385716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DF27-2251-D94A-DFB2-8FBEE7C91D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4C2B22-547E-449B-6D94-CA1B4975DB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66F8BF9-F9F6-AC9E-5E03-2A18C72F4CBB}"/>
              </a:ext>
            </a:extLst>
          </p:cNvPr>
          <p:cNvSpPr>
            <a:spLocks noGrp="1"/>
          </p:cNvSpPr>
          <p:nvPr>
            <p:ph type="dt" sz="half" idx="10"/>
          </p:nvPr>
        </p:nvSpPr>
        <p:spPr/>
        <p:txBody>
          <a:bodyPr/>
          <a:lstStyle/>
          <a:p>
            <a:fld id="{620C2EA1-EF31-4366-82BC-1EEC282154A3}" type="datetime1">
              <a:rPr lang="en-US" smtClean="0"/>
              <a:t>3/13/2023</a:t>
            </a:fld>
            <a:endParaRPr lang="en-US"/>
          </a:p>
        </p:txBody>
      </p:sp>
      <p:sp>
        <p:nvSpPr>
          <p:cNvPr id="5" name="Footer Placeholder 4">
            <a:extLst>
              <a:ext uri="{FF2B5EF4-FFF2-40B4-BE49-F238E27FC236}">
                <a16:creationId xmlns:a16="http://schemas.microsoft.com/office/drawing/2014/main" id="{472349A2-2E31-D4FF-F3A8-2EAA4950B079}"/>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83711764-59BE-247E-7271-BB3E0947480A}"/>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6804894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A9880-45B4-1FAA-6656-2AA3335FBE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4AF06FF-DF87-614A-61D7-95377E94B0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108431-5C6A-D8B0-864B-B622FD1A39B1}"/>
              </a:ext>
            </a:extLst>
          </p:cNvPr>
          <p:cNvSpPr>
            <a:spLocks noGrp="1"/>
          </p:cNvSpPr>
          <p:nvPr>
            <p:ph type="dt" sz="half" idx="10"/>
          </p:nvPr>
        </p:nvSpPr>
        <p:spPr/>
        <p:txBody>
          <a:bodyPr/>
          <a:lstStyle/>
          <a:p>
            <a:fld id="{9C9E050B-B438-44DD-B648-96AD165CA4CC}" type="datetime1">
              <a:rPr lang="en-US" smtClean="0"/>
              <a:t>3/13/2023</a:t>
            </a:fld>
            <a:endParaRPr lang="en-US"/>
          </a:p>
        </p:txBody>
      </p:sp>
      <p:sp>
        <p:nvSpPr>
          <p:cNvPr id="5" name="Footer Placeholder 4">
            <a:extLst>
              <a:ext uri="{FF2B5EF4-FFF2-40B4-BE49-F238E27FC236}">
                <a16:creationId xmlns:a16="http://schemas.microsoft.com/office/drawing/2014/main" id="{F6796623-86E5-EA22-F2B2-1F6F0D847ED6}"/>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361D1CD6-A707-7284-EA3C-11BA4EA52D87}"/>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2884417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2C8B2-B9A9-DDB3-8247-D90BBC88DD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3E487F-E39E-8F17-C7C0-5D7E0040A7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A73AB1-B60C-7B70-39B3-A9FFD0858CFD}"/>
              </a:ext>
            </a:extLst>
          </p:cNvPr>
          <p:cNvSpPr>
            <a:spLocks noGrp="1"/>
          </p:cNvSpPr>
          <p:nvPr>
            <p:ph type="dt" sz="half" idx="10"/>
          </p:nvPr>
        </p:nvSpPr>
        <p:spPr/>
        <p:txBody>
          <a:bodyPr/>
          <a:lstStyle/>
          <a:p>
            <a:fld id="{E71B7828-F6B7-4149-9F0C-543E99693C81}" type="datetime1">
              <a:rPr lang="en-US" smtClean="0"/>
              <a:t>3/13/2023</a:t>
            </a:fld>
            <a:endParaRPr lang="en-US"/>
          </a:p>
        </p:txBody>
      </p:sp>
      <p:sp>
        <p:nvSpPr>
          <p:cNvPr id="5" name="Footer Placeholder 4">
            <a:extLst>
              <a:ext uri="{FF2B5EF4-FFF2-40B4-BE49-F238E27FC236}">
                <a16:creationId xmlns:a16="http://schemas.microsoft.com/office/drawing/2014/main" id="{1190F3B9-154A-74C4-387A-EC9D0E07C6E4}"/>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08C184C0-1DD1-760F-8D37-94CCC985C0FB}"/>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2291111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A6F66-1B98-54A8-F438-3B6C1CAA49F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BAD813-DC81-5F4A-DDB8-961ECEA063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B55391-0DD8-8426-4981-26D2DB04BC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61A735-D826-0C97-8958-60373D9A7D6F}"/>
              </a:ext>
            </a:extLst>
          </p:cNvPr>
          <p:cNvSpPr>
            <a:spLocks noGrp="1"/>
          </p:cNvSpPr>
          <p:nvPr>
            <p:ph type="dt" sz="half" idx="10"/>
          </p:nvPr>
        </p:nvSpPr>
        <p:spPr/>
        <p:txBody>
          <a:bodyPr/>
          <a:lstStyle/>
          <a:p>
            <a:fld id="{242BE1EE-E7AC-48E8-9905-AE8D3212C79F}" type="datetime1">
              <a:rPr lang="en-US" smtClean="0"/>
              <a:t>3/13/2023</a:t>
            </a:fld>
            <a:endParaRPr lang="en-US"/>
          </a:p>
        </p:txBody>
      </p:sp>
      <p:sp>
        <p:nvSpPr>
          <p:cNvPr id="6" name="Footer Placeholder 5">
            <a:extLst>
              <a:ext uri="{FF2B5EF4-FFF2-40B4-BE49-F238E27FC236}">
                <a16:creationId xmlns:a16="http://schemas.microsoft.com/office/drawing/2014/main" id="{BE524CAC-2874-4181-CFC4-43465E6370BB}"/>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F55F4EA4-E8F0-7C7F-6F85-EDBCA357D5F4}"/>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18484258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29EDD-ACB5-C546-B31A-AB4D2BF72E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613C8B2-293B-8474-D199-9F4119B073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C54E88C-9CCA-7A64-90A4-1527503776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75A8C4-FE9C-CD40-5AE7-9AF6DAE400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3F28F6-E1AC-E6DA-3B2F-5A53E3B543D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1C4B6F-1FB0-95D7-2A19-CE5FE54AE029}"/>
              </a:ext>
            </a:extLst>
          </p:cNvPr>
          <p:cNvSpPr>
            <a:spLocks noGrp="1"/>
          </p:cNvSpPr>
          <p:nvPr>
            <p:ph type="dt" sz="half" idx="10"/>
          </p:nvPr>
        </p:nvSpPr>
        <p:spPr/>
        <p:txBody>
          <a:bodyPr/>
          <a:lstStyle/>
          <a:p>
            <a:fld id="{83D5EDDE-FBB0-47AB-9954-84C1A58AF71A}" type="datetime1">
              <a:rPr lang="en-US" smtClean="0"/>
              <a:t>3/13/2023</a:t>
            </a:fld>
            <a:endParaRPr lang="en-US"/>
          </a:p>
        </p:txBody>
      </p:sp>
      <p:sp>
        <p:nvSpPr>
          <p:cNvPr id="8" name="Footer Placeholder 7">
            <a:extLst>
              <a:ext uri="{FF2B5EF4-FFF2-40B4-BE49-F238E27FC236}">
                <a16:creationId xmlns:a16="http://schemas.microsoft.com/office/drawing/2014/main" id="{5FF8728F-8E92-B0E7-D61E-DF38C278CE5C}"/>
              </a:ext>
            </a:extLst>
          </p:cNvPr>
          <p:cNvSpPr>
            <a:spLocks noGrp="1"/>
          </p:cNvSpPr>
          <p:nvPr>
            <p:ph type="ftr" sz="quarter" idx="11"/>
          </p:nvPr>
        </p:nvSpPr>
        <p:spPr/>
        <p:txBody>
          <a:bodyPr/>
          <a:lstStyle/>
          <a:p>
            <a:r>
              <a:rPr lang="en-US"/>
              <a:t>Chowdhury Mujaddid Ahmed </a:t>
            </a:r>
          </a:p>
        </p:txBody>
      </p:sp>
      <p:sp>
        <p:nvSpPr>
          <p:cNvPr id="9" name="Slide Number Placeholder 8">
            <a:extLst>
              <a:ext uri="{FF2B5EF4-FFF2-40B4-BE49-F238E27FC236}">
                <a16:creationId xmlns:a16="http://schemas.microsoft.com/office/drawing/2014/main" id="{3F919CD9-51AF-2325-7B88-3B7B9E67E66B}"/>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39560535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58025-C6D3-A9A9-974F-91C65683F3B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8CE4E8-0489-68D1-B605-AF4944A6EE92}"/>
              </a:ext>
            </a:extLst>
          </p:cNvPr>
          <p:cNvSpPr>
            <a:spLocks noGrp="1"/>
          </p:cNvSpPr>
          <p:nvPr>
            <p:ph type="dt" sz="half" idx="10"/>
          </p:nvPr>
        </p:nvSpPr>
        <p:spPr/>
        <p:txBody>
          <a:bodyPr/>
          <a:lstStyle/>
          <a:p>
            <a:fld id="{2E371FCC-24D6-4696-8BD1-9C19907F7D29}" type="datetime1">
              <a:rPr lang="en-US" smtClean="0"/>
              <a:t>3/13/2023</a:t>
            </a:fld>
            <a:endParaRPr lang="en-US"/>
          </a:p>
        </p:txBody>
      </p:sp>
      <p:sp>
        <p:nvSpPr>
          <p:cNvPr id="4" name="Footer Placeholder 3">
            <a:extLst>
              <a:ext uri="{FF2B5EF4-FFF2-40B4-BE49-F238E27FC236}">
                <a16:creationId xmlns:a16="http://schemas.microsoft.com/office/drawing/2014/main" id="{77EFF64B-C51C-F23E-D54D-DBD4A7D87A89}"/>
              </a:ext>
            </a:extLst>
          </p:cNvPr>
          <p:cNvSpPr>
            <a:spLocks noGrp="1"/>
          </p:cNvSpPr>
          <p:nvPr>
            <p:ph type="ftr" sz="quarter" idx="11"/>
          </p:nvPr>
        </p:nvSpPr>
        <p:spPr/>
        <p:txBody>
          <a:bodyPr/>
          <a:lstStyle/>
          <a:p>
            <a:r>
              <a:rPr lang="en-US"/>
              <a:t>Chowdhury Mujaddid Ahmed </a:t>
            </a:r>
          </a:p>
        </p:txBody>
      </p:sp>
      <p:sp>
        <p:nvSpPr>
          <p:cNvPr id="5" name="Slide Number Placeholder 4">
            <a:extLst>
              <a:ext uri="{FF2B5EF4-FFF2-40B4-BE49-F238E27FC236}">
                <a16:creationId xmlns:a16="http://schemas.microsoft.com/office/drawing/2014/main" id="{85B1DC34-E24D-48B5-BB37-8F16D8A99B07}"/>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2361864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10CB77-FD15-1739-95BF-48A4BBA30ECC}"/>
              </a:ext>
            </a:extLst>
          </p:cNvPr>
          <p:cNvSpPr>
            <a:spLocks noGrp="1"/>
          </p:cNvSpPr>
          <p:nvPr>
            <p:ph type="dt" sz="half" idx="10"/>
          </p:nvPr>
        </p:nvSpPr>
        <p:spPr/>
        <p:txBody>
          <a:bodyPr/>
          <a:lstStyle/>
          <a:p>
            <a:fld id="{5B942EAF-48CF-4492-B77D-3CFD7B7A52C0}" type="datetime1">
              <a:rPr lang="en-US" smtClean="0"/>
              <a:t>3/13/2023</a:t>
            </a:fld>
            <a:endParaRPr lang="en-US"/>
          </a:p>
        </p:txBody>
      </p:sp>
      <p:sp>
        <p:nvSpPr>
          <p:cNvPr id="3" name="Footer Placeholder 2">
            <a:extLst>
              <a:ext uri="{FF2B5EF4-FFF2-40B4-BE49-F238E27FC236}">
                <a16:creationId xmlns:a16="http://schemas.microsoft.com/office/drawing/2014/main" id="{F092763A-EF1C-8269-6396-492B43BC32C9}"/>
              </a:ext>
            </a:extLst>
          </p:cNvPr>
          <p:cNvSpPr>
            <a:spLocks noGrp="1"/>
          </p:cNvSpPr>
          <p:nvPr>
            <p:ph type="ftr" sz="quarter" idx="11"/>
          </p:nvPr>
        </p:nvSpPr>
        <p:spPr/>
        <p:txBody>
          <a:bodyPr/>
          <a:lstStyle/>
          <a:p>
            <a:r>
              <a:rPr lang="en-US"/>
              <a:t>Chowdhury Mujaddid Ahmed </a:t>
            </a:r>
          </a:p>
        </p:txBody>
      </p:sp>
      <p:sp>
        <p:nvSpPr>
          <p:cNvPr id="4" name="Slide Number Placeholder 3">
            <a:extLst>
              <a:ext uri="{FF2B5EF4-FFF2-40B4-BE49-F238E27FC236}">
                <a16:creationId xmlns:a16="http://schemas.microsoft.com/office/drawing/2014/main" id="{295D0025-4388-BCB3-DA3F-F1E303FEF33A}"/>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22956000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5AF56-92DE-DCA5-8127-43033C9BD0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7E9B79-3EE2-1C06-D3FD-361F320A8E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7104AE-BE29-BD6A-0B09-9F69F0BF1A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295D74-6CC3-7FCD-C51F-757B90586ED2}"/>
              </a:ext>
            </a:extLst>
          </p:cNvPr>
          <p:cNvSpPr>
            <a:spLocks noGrp="1"/>
          </p:cNvSpPr>
          <p:nvPr>
            <p:ph type="dt" sz="half" idx="10"/>
          </p:nvPr>
        </p:nvSpPr>
        <p:spPr/>
        <p:txBody>
          <a:bodyPr/>
          <a:lstStyle/>
          <a:p>
            <a:fld id="{9E52C6E4-03AB-4625-8A19-19016417C5B5}" type="datetime1">
              <a:rPr lang="en-US" smtClean="0"/>
              <a:t>3/13/2023</a:t>
            </a:fld>
            <a:endParaRPr lang="en-US"/>
          </a:p>
        </p:txBody>
      </p:sp>
      <p:sp>
        <p:nvSpPr>
          <p:cNvPr id="6" name="Footer Placeholder 5">
            <a:extLst>
              <a:ext uri="{FF2B5EF4-FFF2-40B4-BE49-F238E27FC236}">
                <a16:creationId xmlns:a16="http://schemas.microsoft.com/office/drawing/2014/main" id="{6F6B7F5F-BF11-8C57-C8F6-7DE8227D8235}"/>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C993798E-C31E-AC59-7CF6-DED10D1C9972}"/>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1116448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3F56-CE9B-3F89-9320-CF7FA0C6FB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6820B1D-CA96-E108-96A6-281421EE32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6B3DFAF-F27E-5510-D2D8-2798433C59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DECFE7-E45F-D236-EAE8-A0DDF8626538}"/>
              </a:ext>
            </a:extLst>
          </p:cNvPr>
          <p:cNvSpPr>
            <a:spLocks noGrp="1"/>
          </p:cNvSpPr>
          <p:nvPr>
            <p:ph type="dt" sz="half" idx="10"/>
          </p:nvPr>
        </p:nvSpPr>
        <p:spPr/>
        <p:txBody>
          <a:bodyPr/>
          <a:lstStyle/>
          <a:p>
            <a:fld id="{19EC5040-A923-411B-B674-44F8974A7B5F}" type="datetime1">
              <a:rPr lang="en-US" smtClean="0"/>
              <a:t>3/13/2023</a:t>
            </a:fld>
            <a:endParaRPr lang="en-US"/>
          </a:p>
        </p:txBody>
      </p:sp>
      <p:sp>
        <p:nvSpPr>
          <p:cNvPr id="6" name="Footer Placeholder 5">
            <a:extLst>
              <a:ext uri="{FF2B5EF4-FFF2-40B4-BE49-F238E27FC236}">
                <a16:creationId xmlns:a16="http://schemas.microsoft.com/office/drawing/2014/main" id="{00D2A41A-ED86-14A9-6945-118FAAF0A769}"/>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B95E06ED-208C-65D8-87C3-E14DCC0414FA}"/>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24340719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023E5F-30A3-3383-F56D-A893A9C77C4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7B53A2-47CC-2AF9-2667-67E8FD9AE6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846323-3B3C-67C2-6EEC-5EEA71F295B8}"/>
              </a:ext>
            </a:extLst>
          </p:cNvPr>
          <p:cNvSpPr>
            <a:spLocks noGrp="1"/>
          </p:cNvSpPr>
          <p:nvPr>
            <p:ph type="dt" sz="half" idx="10"/>
          </p:nvPr>
        </p:nvSpPr>
        <p:spPr/>
        <p:txBody>
          <a:bodyPr/>
          <a:lstStyle/>
          <a:p>
            <a:fld id="{75D4DC81-118E-4FAC-9FD8-24474D75EF83}" type="datetime1">
              <a:rPr lang="en-US" smtClean="0"/>
              <a:t>3/13/2023</a:t>
            </a:fld>
            <a:endParaRPr lang="en-US"/>
          </a:p>
        </p:txBody>
      </p:sp>
      <p:sp>
        <p:nvSpPr>
          <p:cNvPr id="5" name="Footer Placeholder 4">
            <a:extLst>
              <a:ext uri="{FF2B5EF4-FFF2-40B4-BE49-F238E27FC236}">
                <a16:creationId xmlns:a16="http://schemas.microsoft.com/office/drawing/2014/main" id="{66EFEF24-AC89-3F88-FA3A-182C698FD76A}"/>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3615B114-FA65-051A-AD71-EE46AA2EA488}"/>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29452097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270DE0-BCDE-A83C-D069-5BE5A2F1424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FE55A51-1A97-661C-DADE-2A1A30E163E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A44D8A-75E8-46FC-BCC3-FA148503A781}"/>
              </a:ext>
            </a:extLst>
          </p:cNvPr>
          <p:cNvSpPr>
            <a:spLocks noGrp="1"/>
          </p:cNvSpPr>
          <p:nvPr>
            <p:ph type="dt" sz="half" idx="10"/>
          </p:nvPr>
        </p:nvSpPr>
        <p:spPr/>
        <p:txBody>
          <a:bodyPr/>
          <a:lstStyle/>
          <a:p>
            <a:fld id="{1FD12E54-5982-4204-8512-274B0A448204}" type="datetime1">
              <a:rPr lang="en-US" smtClean="0"/>
              <a:t>3/13/2023</a:t>
            </a:fld>
            <a:endParaRPr lang="en-US"/>
          </a:p>
        </p:txBody>
      </p:sp>
      <p:sp>
        <p:nvSpPr>
          <p:cNvPr id="5" name="Footer Placeholder 4">
            <a:extLst>
              <a:ext uri="{FF2B5EF4-FFF2-40B4-BE49-F238E27FC236}">
                <a16:creationId xmlns:a16="http://schemas.microsoft.com/office/drawing/2014/main" id="{EE1D4BD3-7FFD-B2B7-F442-DC3A4C82D0D0}"/>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EE12F66B-CF22-C144-9022-164E92DA4C7C}"/>
              </a:ext>
            </a:extLst>
          </p:cNvPr>
          <p:cNvSpPr>
            <a:spLocks noGrp="1"/>
          </p:cNvSpPr>
          <p:nvPr>
            <p:ph type="sldNum" sz="quarter" idx="12"/>
          </p:nvPr>
        </p:nvSpPr>
        <p:spPr/>
        <p:txBody>
          <a:bodyPr/>
          <a:lstStyle/>
          <a:p>
            <a:fld id="{6E3508DE-D4A4-4142-A805-4770F4A9C85F}" type="slidenum">
              <a:rPr lang="en-US" smtClean="0"/>
              <a:t>‹#›</a:t>
            </a:fld>
            <a:endParaRPr lang="en-US"/>
          </a:p>
        </p:txBody>
      </p:sp>
    </p:spTree>
    <p:extLst>
      <p:ext uri="{BB962C8B-B14F-4D97-AF65-F5344CB8AC3E}">
        <p14:creationId xmlns:p14="http://schemas.microsoft.com/office/powerpoint/2010/main" val="1074795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D6B9898-C32A-0474-CE11-2E601EFB2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A7AD0A-AF4C-B3C2-1F2C-DE1DEB7ED6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F0238-3725-9D7C-2C72-36ED6A174A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E5AEA7-BB77-465C-BA05-DB4EB34BF460}" type="datetime1">
              <a:rPr lang="en-US" smtClean="0"/>
              <a:t>3/13/2023</a:t>
            </a:fld>
            <a:endParaRPr lang="en-US"/>
          </a:p>
        </p:txBody>
      </p:sp>
      <p:sp>
        <p:nvSpPr>
          <p:cNvPr id="5" name="Footer Placeholder 4">
            <a:extLst>
              <a:ext uri="{FF2B5EF4-FFF2-40B4-BE49-F238E27FC236}">
                <a16:creationId xmlns:a16="http://schemas.microsoft.com/office/drawing/2014/main" id="{19EFBF29-5E07-9EB0-49B5-FFB53CADB8F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Chowdhury Mujaddid Ahmed </a:t>
            </a:r>
          </a:p>
        </p:txBody>
      </p:sp>
      <p:sp>
        <p:nvSpPr>
          <p:cNvPr id="6" name="Slide Number Placeholder 5">
            <a:extLst>
              <a:ext uri="{FF2B5EF4-FFF2-40B4-BE49-F238E27FC236}">
                <a16:creationId xmlns:a16="http://schemas.microsoft.com/office/drawing/2014/main" id="{AEB68582-0F01-6B8D-C3BB-AF38E0FC3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3508DE-D4A4-4142-A805-4770F4A9C85F}" type="slidenum">
              <a:rPr lang="en-US" smtClean="0"/>
              <a:t>‹#›</a:t>
            </a:fld>
            <a:endParaRPr lang="en-US"/>
          </a:p>
        </p:txBody>
      </p:sp>
    </p:spTree>
    <p:extLst>
      <p:ext uri="{BB962C8B-B14F-4D97-AF65-F5344CB8AC3E}">
        <p14:creationId xmlns:p14="http://schemas.microsoft.com/office/powerpoint/2010/main" val="3255010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education.nationalgeographic.org/resource/coas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en.banglapedia.org/index.php?title=Bangladesh_Geography#:~:text=Although%20Bangladesh%20is%20a%20small,economic%20zone%20of%20the%20country." TargetMode="Externa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climateknowledgeportal.worldbank.org/country/bangladesh/vulnerability" TargetMode="Externa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5D2894-EAFD-418F-6B6D-72BA21C43A4A}"/>
              </a:ext>
            </a:extLst>
          </p:cNvPr>
          <p:cNvSpPr>
            <a:spLocks noGrp="1"/>
          </p:cNvSpPr>
          <p:nvPr>
            <p:ph type="ctrTitle"/>
          </p:nvPr>
        </p:nvSpPr>
        <p:spPr/>
        <p:txBody>
          <a:bodyPr>
            <a:normAutofit fontScale="90000"/>
          </a:bodyPr>
          <a:lstStyle/>
          <a:p>
            <a:r>
              <a:rPr lang="en-US" b="0" i="0" dirty="0">
                <a:solidFill>
                  <a:srgbClr val="000000"/>
                </a:solidFill>
                <a:effectLst/>
                <a:latin typeface="Arial Rounded MT Bold" panose="020F0704030504030204" pitchFamily="34" charset="0"/>
              </a:rPr>
              <a:t>Bangladesh Coastal line and Natural Phenomenon </a:t>
            </a:r>
            <a:endParaRPr lang="en-US" dirty="0">
              <a:latin typeface="Arial Rounded MT Bold" panose="020F0704030504030204" pitchFamily="34" charset="0"/>
            </a:endParaRPr>
          </a:p>
        </p:txBody>
      </p:sp>
      <p:sp>
        <p:nvSpPr>
          <p:cNvPr id="3" name="Subtitle 2">
            <a:extLst>
              <a:ext uri="{FF2B5EF4-FFF2-40B4-BE49-F238E27FC236}">
                <a16:creationId xmlns:a16="http://schemas.microsoft.com/office/drawing/2014/main" id="{35D904D5-6E46-A5CF-3F9D-6896E675EEC8}"/>
              </a:ext>
            </a:extLst>
          </p:cNvPr>
          <p:cNvSpPr>
            <a:spLocks noGrp="1"/>
          </p:cNvSpPr>
          <p:nvPr>
            <p:ph type="subTitle" idx="1"/>
          </p:nvPr>
        </p:nvSpPr>
        <p:spPr/>
        <p:txBody>
          <a:bodyPr/>
          <a:lstStyle/>
          <a:p>
            <a:r>
              <a:rPr lang="en-US" dirty="0"/>
              <a:t>By </a:t>
            </a:r>
          </a:p>
          <a:p>
            <a:r>
              <a:rPr lang="en-US" dirty="0"/>
              <a:t>Chowdhury Mujaddid Ahmed </a:t>
            </a:r>
          </a:p>
        </p:txBody>
      </p:sp>
      <p:sp>
        <p:nvSpPr>
          <p:cNvPr id="4" name="Date Placeholder 3">
            <a:extLst>
              <a:ext uri="{FF2B5EF4-FFF2-40B4-BE49-F238E27FC236}">
                <a16:creationId xmlns:a16="http://schemas.microsoft.com/office/drawing/2014/main" id="{DC52D050-32EB-C734-E28F-70755D7AAA5E}"/>
              </a:ext>
            </a:extLst>
          </p:cNvPr>
          <p:cNvSpPr>
            <a:spLocks noGrp="1"/>
          </p:cNvSpPr>
          <p:nvPr>
            <p:ph type="dt" sz="half" idx="10"/>
          </p:nvPr>
        </p:nvSpPr>
        <p:spPr/>
        <p:txBody>
          <a:bodyPr/>
          <a:lstStyle/>
          <a:p>
            <a:fld id="{7ED6B82A-4B4D-45DB-AA27-D408C506206C}" type="datetime1">
              <a:rPr lang="en-US" smtClean="0"/>
              <a:t>3/13/2023</a:t>
            </a:fld>
            <a:endParaRPr lang="en-US"/>
          </a:p>
        </p:txBody>
      </p:sp>
      <p:sp>
        <p:nvSpPr>
          <p:cNvPr id="5" name="Footer Placeholder 4">
            <a:extLst>
              <a:ext uri="{FF2B5EF4-FFF2-40B4-BE49-F238E27FC236}">
                <a16:creationId xmlns:a16="http://schemas.microsoft.com/office/drawing/2014/main" id="{FE190FE6-6A37-F07F-0D23-9CA0924310BD}"/>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A49C4EF4-BC66-7B3C-69C8-4C280C45A84E}"/>
              </a:ext>
            </a:extLst>
          </p:cNvPr>
          <p:cNvSpPr>
            <a:spLocks noGrp="1"/>
          </p:cNvSpPr>
          <p:nvPr>
            <p:ph type="sldNum" sz="quarter" idx="12"/>
          </p:nvPr>
        </p:nvSpPr>
        <p:spPr/>
        <p:txBody>
          <a:bodyPr/>
          <a:lstStyle/>
          <a:p>
            <a:fld id="{6E3508DE-D4A4-4142-A805-4770F4A9C85F}" type="slidenum">
              <a:rPr lang="en-US" smtClean="0"/>
              <a:t>1</a:t>
            </a:fld>
            <a:endParaRPr lang="en-US"/>
          </a:p>
        </p:txBody>
      </p:sp>
    </p:spTree>
    <p:extLst>
      <p:ext uri="{BB962C8B-B14F-4D97-AF65-F5344CB8AC3E}">
        <p14:creationId xmlns:p14="http://schemas.microsoft.com/office/powerpoint/2010/main" val="955107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B3D42-16B5-869B-79D7-4E66E4F4BAAA}"/>
              </a:ext>
            </a:extLst>
          </p:cNvPr>
          <p:cNvSpPr>
            <a:spLocks noGrp="1"/>
          </p:cNvSpPr>
          <p:nvPr>
            <p:ph type="title"/>
          </p:nvPr>
        </p:nvSpPr>
        <p:spPr/>
        <p:txBody>
          <a:bodyPr/>
          <a:lstStyle/>
          <a:p>
            <a:pPr algn="ctr"/>
            <a:r>
              <a:rPr lang="en-US" b="0" i="0" dirty="0">
                <a:solidFill>
                  <a:srgbClr val="000000"/>
                </a:solidFill>
                <a:effectLst/>
                <a:latin typeface="Arial Rounded MT Bold" panose="020F0704030504030204" pitchFamily="34" charset="0"/>
              </a:rPr>
              <a:t>Coastal line</a:t>
            </a:r>
            <a:endParaRPr lang="en-US" dirty="0"/>
          </a:p>
        </p:txBody>
      </p:sp>
      <p:sp>
        <p:nvSpPr>
          <p:cNvPr id="3" name="Content Placeholder 2">
            <a:extLst>
              <a:ext uri="{FF2B5EF4-FFF2-40B4-BE49-F238E27FC236}">
                <a16:creationId xmlns:a16="http://schemas.microsoft.com/office/drawing/2014/main" id="{4E0680FB-306A-5DAA-F51C-3DD6AEC7E813}"/>
              </a:ext>
            </a:extLst>
          </p:cNvPr>
          <p:cNvSpPr>
            <a:spLocks noGrp="1"/>
          </p:cNvSpPr>
          <p:nvPr>
            <p:ph idx="1"/>
          </p:nvPr>
        </p:nvSpPr>
        <p:spPr/>
        <p:txBody>
          <a:bodyPr>
            <a:normAutofit fontScale="92500" lnSpcReduction="10000"/>
          </a:bodyPr>
          <a:lstStyle/>
          <a:p>
            <a:r>
              <a:rPr lang="en-US" dirty="0"/>
              <a:t>The coast is the land along a sea. The boundary of a coast, where land meets water, is called the coastline.</a:t>
            </a:r>
          </a:p>
          <a:p>
            <a:r>
              <a:rPr lang="en-US" dirty="0"/>
              <a:t>Waves, tides, and currents help create coastlines. When waves crash onto the shore, they wear away at or erode, the land. But they also leave behind little parts of the sea, such as shells, sand dollars, seaweeds, and hermit crabs. Sometimes these objects end up as more permanent parts of the coastline.</a:t>
            </a:r>
          </a:p>
          <a:p>
            <a:r>
              <a:rPr lang="en-US" dirty="0"/>
              <a:t>Coasts help us understand natural events, such as weather and changing sea levels. During storms, coasts are the first places to be flooded. Some coasts have coastal plains. Coastal plains are pieces of flat, low-lying land that can become visible when sea levels start decreasing.</a:t>
            </a:r>
          </a:p>
          <a:p>
            <a:pPr marL="0" indent="0">
              <a:buNone/>
            </a:pPr>
            <a:r>
              <a:rPr lang="en-US" dirty="0"/>
              <a:t>							-Source: </a:t>
            </a:r>
            <a:r>
              <a:rPr lang="en-US" dirty="0">
                <a:hlinkClick r:id="rId2"/>
              </a:rPr>
              <a:t>National Geography </a:t>
            </a:r>
            <a:endParaRPr lang="en-US" dirty="0"/>
          </a:p>
          <a:p>
            <a:pPr marL="0" indent="0">
              <a:buNone/>
            </a:pPr>
            <a:endParaRPr lang="en-US" dirty="0"/>
          </a:p>
          <a:p>
            <a:endParaRPr lang="en-US" dirty="0"/>
          </a:p>
        </p:txBody>
      </p:sp>
      <p:sp>
        <p:nvSpPr>
          <p:cNvPr id="4" name="Date Placeholder 3">
            <a:extLst>
              <a:ext uri="{FF2B5EF4-FFF2-40B4-BE49-F238E27FC236}">
                <a16:creationId xmlns:a16="http://schemas.microsoft.com/office/drawing/2014/main" id="{800425DE-8E97-C42F-D83C-1C314E7E2598}"/>
              </a:ext>
            </a:extLst>
          </p:cNvPr>
          <p:cNvSpPr>
            <a:spLocks noGrp="1"/>
          </p:cNvSpPr>
          <p:nvPr>
            <p:ph type="dt" sz="half" idx="10"/>
          </p:nvPr>
        </p:nvSpPr>
        <p:spPr/>
        <p:txBody>
          <a:bodyPr/>
          <a:lstStyle/>
          <a:p>
            <a:fld id="{F63B3DC0-242A-4A07-B1D0-FFF3BCA7ED3F}" type="datetime1">
              <a:rPr lang="en-US" smtClean="0"/>
              <a:t>3/13/2023</a:t>
            </a:fld>
            <a:endParaRPr lang="en-US"/>
          </a:p>
        </p:txBody>
      </p:sp>
      <p:sp>
        <p:nvSpPr>
          <p:cNvPr id="5" name="Footer Placeholder 4">
            <a:extLst>
              <a:ext uri="{FF2B5EF4-FFF2-40B4-BE49-F238E27FC236}">
                <a16:creationId xmlns:a16="http://schemas.microsoft.com/office/drawing/2014/main" id="{D143CE21-2A54-610B-B5A5-2538E5925B97}"/>
              </a:ext>
            </a:extLst>
          </p:cNvPr>
          <p:cNvSpPr>
            <a:spLocks noGrp="1"/>
          </p:cNvSpPr>
          <p:nvPr>
            <p:ph type="ftr" sz="quarter" idx="11"/>
          </p:nvPr>
        </p:nvSpPr>
        <p:spPr/>
        <p:txBody>
          <a:bodyPr/>
          <a:lstStyle/>
          <a:p>
            <a:r>
              <a:rPr lang="en-US"/>
              <a:t>Chowdhury Mujaddid Ahmed </a:t>
            </a:r>
          </a:p>
        </p:txBody>
      </p:sp>
      <p:sp>
        <p:nvSpPr>
          <p:cNvPr id="6" name="Slide Number Placeholder 5">
            <a:extLst>
              <a:ext uri="{FF2B5EF4-FFF2-40B4-BE49-F238E27FC236}">
                <a16:creationId xmlns:a16="http://schemas.microsoft.com/office/drawing/2014/main" id="{21F4269C-32C1-64F4-C6DE-1246A95CCCAF}"/>
              </a:ext>
            </a:extLst>
          </p:cNvPr>
          <p:cNvSpPr>
            <a:spLocks noGrp="1"/>
          </p:cNvSpPr>
          <p:nvPr>
            <p:ph type="sldNum" sz="quarter" idx="12"/>
          </p:nvPr>
        </p:nvSpPr>
        <p:spPr/>
        <p:txBody>
          <a:bodyPr/>
          <a:lstStyle/>
          <a:p>
            <a:fld id="{6E3508DE-D4A4-4142-A805-4770F4A9C85F}" type="slidenum">
              <a:rPr lang="en-US" smtClean="0"/>
              <a:t>2</a:t>
            </a:fld>
            <a:endParaRPr lang="en-US"/>
          </a:p>
        </p:txBody>
      </p:sp>
    </p:spTree>
    <p:extLst>
      <p:ext uri="{BB962C8B-B14F-4D97-AF65-F5344CB8AC3E}">
        <p14:creationId xmlns:p14="http://schemas.microsoft.com/office/powerpoint/2010/main" val="23591735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6C1E9-BEFC-0861-B2B7-6E16610EB219}"/>
              </a:ext>
            </a:extLst>
          </p:cNvPr>
          <p:cNvSpPr>
            <a:spLocks noGrp="1"/>
          </p:cNvSpPr>
          <p:nvPr>
            <p:ph type="title"/>
          </p:nvPr>
        </p:nvSpPr>
        <p:spPr/>
        <p:txBody>
          <a:bodyPr/>
          <a:lstStyle/>
          <a:p>
            <a:pPr algn="ctr"/>
            <a:r>
              <a:rPr lang="en-US" b="0" i="0" dirty="0">
                <a:solidFill>
                  <a:srgbClr val="000000"/>
                </a:solidFill>
                <a:effectLst/>
                <a:latin typeface="Arial Rounded MT Bold" panose="020F0704030504030204" pitchFamily="34" charset="0"/>
              </a:rPr>
              <a:t>Bangladesh Coastal line</a:t>
            </a:r>
            <a:endParaRPr lang="en-US" dirty="0"/>
          </a:p>
        </p:txBody>
      </p:sp>
      <p:sp>
        <p:nvSpPr>
          <p:cNvPr id="3" name="Content Placeholder 2">
            <a:extLst>
              <a:ext uri="{FF2B5EF4-FFF2-40B4-BE49-F238E27FC236}">
                <a16:creationId xmlns:a16="http://schemas.microsoft.com/office/drawing/2014/main" id="{F38B3D75-DECE-27C7-2AAF-A2817E798DDE}"/>
              </a:ext>
            </a:extLst>
          </p:cNvPr>
          <p:cNvSpPr>
            <a:spLocks noGrp="1"/>
          </p:cNvSpPr>
          <p:nvPr>
            <p:ph sz="half" idx="1"/>
          </p:nvPr>
        </p:nvSpPr>
        <p:spPr/>
        <p:txBody>
          <a:bodyPr>
            <a:normAutofit lnSpcReduction="10000"/>
          </a:bodyPr>
          <a:lstStyle/>
          <a:p>
            <a:r>
              <a:rPr lang="en-US" dirty="0"/>
              <a:t>Bangladesh is a small country, the length of the coastline is more than 580 km. The territorial waters of Bangladesh extend 12 nautical miles (22.22 km) and the area of the high seas extending to 200 nautical miles (370.40 km) measured from the base lines constitutes the economic zone of the country.</a:t>
            </a:r>
          </a:p>
          <a:p>
            <a:r>
              <a:rPr lang="en-US" dirty="0"/>
              <a:t>-Source: </a:t>
            </a:r>
            <a:r>
              <a:rPr lang="en-US" dirty="0">
                <a:hlinkClick r:id="rId2"/>
              </a:rPr>
              <a:t>Banglapedia</a:t>
            </a:r>
            <a:endParaRPr lang="en-US" dirty="0"/>
          </a:p>
        </p:txBody>
      </p:sp>
      <p:pic>
        <p:nvPicPr>
          <p:cNvPr id="6" name="Content Placeholder 5">
            <a:extLst>
              <a:ext uri="{FF2B5EF4-FFF2-40B4-BE49-F238E27FC236}">
                <a16:creationId xmlns:a16="http://schemas.microsoft.com/office/drawing/2014/main" id="{9D7FA3E6-5026-AA0F-7798-B1385AB0B00E}"/>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1936302"/>
            <a:ext cx="5181600" cy="4129983"/>
          </a:xfrm>
        </p:spPr>
      </p:pic>
      <p:sp>
        <p:nvSpPr>
          <p:cNvPr id="7" name="Date Placeholder 6">
            <a:extLst>
              <a:ext uri="{FF2B5EF4-FFF2-40B4-BE49-F238E27FC236}">
                <a16:creationId xmlns:a16="http://schemas.microsoft.com/office/drawing/2014/main" id="{9DABF9B4-E962-4398-2806-A9DC01FB250D}"/>
              </a:ext>
            </a:extLst>
          </p:cNvPr>
          <p:cNvSpPr>
            <a:spLocks noGrp="1"/>
          </p:cNvSpPr>
          <p:nvPr>
            <p:ph type="dt" sz="half" idx="10"/>
          </p:nvPr>
        </p:nvSpPr>
        <p:spPr/>
        <p:txBody>
          <a:bodyPr/>
          <a:lstStyle/>
          <a:p>
            <a:fld id="{0FB6F2A7-5739-4253-91DB-D55657A20CC6}" type="datetime1">
              <a:rPr lang="en-US" smtClean="0"/>
              <a:t>3/13/2023</a:t>
            </a:fld>
            <a:endParaRPr lang="en-US"/>
          </a:p>
        </p:txBody>
      </p:sp>
      <p:sp>
        <p:nvSpPr>
          <p:cNvPr id="8" name="Footer Placeholder 7">
            <a:extLst>
              <a:ext uri="{FF2B5EF4-FFF2-40B4-BE49-F238E27FC236}">
                <a16:creationId xmlns:a16="http://schemas.microsoft.com/office/drawing/2014/main" id="{F8E840BA-A395-2AD3-45C6-1A4D31324DDC}"/>
              </a:ext>
            </a:extLst>
          </p:cNvPr>
          <p:cNvSpPr>
            <a:spLocks noGrp="1"/>
          </p:cNvSpPr>
          <p:nvPr>
            <p:ph type="ftr" sz="quarter" idx="11"/>
          </p:nvPr>
        </p:nvSpPr>
        <p:spPr/>
        <p:txBody>
          <a:bodyPr/>
          <a:lstStyle/>
          <a:p>
            <a:r>
              <a:rPr lang="en-US" dirty="0"/>
              <a:t>Chowdhury Mujaddid Ahmed </a:t>
            </a:r>
          </a:p>
        </p:txBody>
      </p:sp>
      <p:sp>
        <p:nvSpPr>
          <p:cNvPr id="9" name="Slide Number Placeholder 8">
            <a:extLst>
              <a:ext uri="{FF2B5EF4-FFF2-40B4-BE49-F238E27FC236}">
                <a16:creationId xmlns:a16="http://schemas.microsoft.com/office/drawing/2014/main" id="{F6ABC4D2-6411-AB2F-3371-3BC958308698}"/>
              </a:ext>
            </a:extLst>
          </p:cNvPr>
          <p:cNvSpPr>
            <a:spLocks noGrp="1"/>
          </p:cNvSpPr>
          <p:nvPr>
            <p:ph type="sldNum" sz="quarter" idx="12"/>
          </p:nvPr>
        </p:nvSpPr>
        <p:spPr/>
        <p:txBody>
          <a:bodyPr/>
          <a:lstStyle/>
          <a:p>
            <a:fld id="{6E3508DE-D4A4-4142-A805-4770F4A9C85F}" type="slidenum">
              <a:rPr lang="en-US" smtClean="0"/>
              <a:t>3</a:t>
            </a:fld>
            <a:endParaRPr lang="en-US"/>
          </a:p>
        </p:txBody>
      </p:sp>
    </p:spTree>
    <p:extLst>
      <p:ext uri="{BB962C8B-B14F-4D97-AF65-F5344CB8AC3E}">
        <p14:creationId xmlns:p14="http://schemas.microsoft.com/office/powerpoint/2010/main" val="19929244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E4848-3A43-391B-4FF6-0F02C6244D65}"/>
              </a:ext>
            </a:extLst>
          </p:cNvPr>
          <p:cNvSpPr>
            <a:spLocks noGrp="1"/>
          </p:cNvSpPr>
          <p:nvPr>
            <p:ph type="title"/>
          </p:nvPr>
        </p:nvSpPr>
        <p:spPr/>
        <p:txBody>
          <a:bodyPr/>
          <a:lstStyle/>
          <a:p>
            <a:r>
              <a:rPr lang="en-US" b="0" i="0" dirty="0">
                <a:solidFill>
                  <a:srgbClr val="000000"/>
                </a:solidFill>
                <a:effectLst/>
                <a:latin typeface="Arial Rounded MT Bold" panose="020F0704030504030204" pitchFamily="34" charset="0"/>
              </a:rPr>
              <a:t>Bangladesh and Natural Phenomena </a:t>
            </a:r>
            <a:endParaRPr lang="en-US" dirty="0"/>
          </a:p>
        </p:txBody>
      </p:sp>
      <p:sp>
        <p:nvSpPr>
          <p:cNvPr id="3" name="Content Placeholder 2">
            <a:extLst>
              <a:ext uri="{FF2B5EF4-FFF2-40B4-BE49-F238E27FC236}">
                <a16:creationId xmlns:a16="http://schemas.microsoft.com/office/drawing/2014/main" id="{3E633642-C91B-8BFD-32C0-E8A2F36947FE}"/>
              </a:ext>
            </a:extLst>
          </p:cNvPr>
          <p:cNvSpPr>
            <a:spLocks noGrp="1"/>
          </p:cNvSpPr>
          <p:nvPr>
            <p:ph sz="half" idx="1"/>
          </p:nvPr>
        </p:nvSpPr>
        <p:spPr/>
        <p:txBody>
          <a:bodyPr>
            <a:normAutofit fontScale="92500" lnSpcReduction="10000"/>
          </a:bodyPr>
          <a:lstStyle/>
          <a:p>
            <a:r>
              <a:rPr lang="en-US" sz="1600" b="1" dirty="0"/>
              <a:t>Earthquakes: </a:t>
            </a:r>
            <a:r>
              <a:rPr lang="en-US" sz="1600" dirty="0"/>
              <a:t>Bangladesh is located in a seismically active and high-risk region. The northern and eastern regions of the country are particularly susceptible to earthquakes.</a:t>
            </a:r>
          </a:p>
          <a:p>
            <a:r>
              <a:rPr lang="en-US" sz="1600" b="1" dirty="0"/>
              <a:t>Droughts: </a:t>
            </a:r>
            <a:r>
              <a:rPr lang="en-US" sz="1600" dirty="0"/>
              <a:t>Seasonal droughts in Bangladesh most commonly affect the northwestern region, as it receives lower rainfall than the rest of the country. These droughts have a devastating impact on crops thereby also affecting the food security of subsistence farmers.</a:t>
            </a:r>
          </a:p>
          <a:p>
            <a:r>
              <a:rPr lang="en-US" sz="1600" b="1" dirty="0"/>
              <a:t>Floods: </a:t>
            </a:r>
            <a:r>
              <a:rPr lang="en-US" sz="1600" dirty="0"/>
              <a:t>Floods and riverbank erosions affect some one million people annually in Bangladesh. Once every three to five years, up to two-thirds of Bangladesh is inundated by floods. Floods affect a greater population base than any other natural hazard in the country.</a:t>
            </a:r>
          </a:p>
          <a:p>
            <a:r>
              <a:rPr lang="en-US" sz="1600" b="1" dirty="0"/>
              <a:t>Cyclones: </a:t>
            </a:r>
            <a:r>
              <a:rPr lang="en-US" sz="1600" dirty="0"/>
              <a:t>Sixty percent of the worldwide deaths caused by cyclones in the last 20 years occurred in Bangladesh. The cyclone that struck the coastal areas of Bangladesh in November 1970 caused over 300,000 deaths and US$ 2.5 billion worth of damage to property.</a:t>
            </a:r>
          </a:p>
          <a:p>
            <a:pPr marL="0" indent="0">
              <a:buNone/>
            </a:pPr>
            <a:r>
              <a:rPr lang="en-US" sz="1600" dirty="0"/>
              <a:t>		-Source: </a:t>
            </a:r>
            <a:r>
              <a:rPr lang="en-US" sz="1600" dirty="0">
                <a:hlinkClick r:id="rId2"/>
              </a:rPr>
              <a:t>Climate Change Portal </a:t>
            </a:r>
            <a:endParaRPr lang="en-US" sz="1600" dirty="0"/>
          </a:p>
        </p:txBody>
      </p:sp>
      <p:pic>
        <p:nvPicPr>
          <p:cNvPr id="9" name="Content Placeholder 8">
            <a:extLst>
              <a:ext uri="{FF2B5EF4-FFF2-40B4-BE49-F238E27FC236}">
                <a16:creationId xmlns:a16="http://schemas.microsoft.com/office/drawing/2014/main" id="{3E46F36D-5F7C-873B-0B4B-1A347CBBE0B0}"/>
              </a:ext>
            </a:extLst>
          </p:cNvPr>
          <p:cNvPicPr>
            <a:picLocks noGrp="1" noChangeAspect="1"/>
          </p:cNvPicPr>
          <p:nvPr>
            <p:ph sz="half" idx="2"/>
          </p:nvPr>
        </p:nvPicPr>
        <p:blipFill>
          <a:blip r:embed="rId3"/>
          <a:stretch>
            <a:fillRect/>
          </a:stretch>
        </p:blipFill>
        <p:spPr>
          <a:xfrm>
            <a:off x="6369425" y="2068399"/>
            <a:ext cx="4883401" cy="3403775"/>
          </a:xfrm>
        </p:spPr>
      </p:pic>
      <p:sp>
        <p:nvSpPr>
          <p:cNvPr id="5" name="Date Placeholder 4">
            <a:extLst>
              <a:ext uri="{FF2B5EF4-FFF2-40B4-BE49-F238E27FC236}">
                <a16:creationId xmlns:a16="http://schemas.microsoft.com/office/drawing/2014/main" id="{31D71962-7D84-92FF-D8F3-896C394BE4C1}"/>
              </a:ext>
            </a:extLst>
          </p:cNvPr>
          <p:cNvSpPr>
            <a:spLocks noGrp="1"/>
          </p:cNvSpPr>
          <p:nvPr>
            <p:ph type="dt" sz="half" idx="10"/>
          </p:nvPr>
        </p:nvSpPr>
        <p:spPr/>
        <p:txBody>
          <a:bodyPr/>
          <a:lstStyle/>
          <a:p>
            <a:fld id="{035D990E-0754-4362-B531-D81B8D4E4717}" type="datetime1">
              <a:rPr lang="en-US" smtClean="0"/>
              <a:t>3/13/2023</a:t>
            </a:fld>
            <a:endParaRPr lang="en-US"/>
          </a:p>
        </p:txBody>
      </p:sp>
      <p:sp>
        <p:nvSpPr>
          <p:cNvPr id="6" name="Footer Placeholder 5">
            <a:extLst>
              <a:ext uri="{FF2B5EF4-FFF2-40B4-BE49-F238E27FC236}">
                <a16:creationId xmlns:a16="http://schemas.microsoft.com/office/drawing/2014/main" id="{D1F03EDE-F5C0-19D3-0FE3-4511E0F1D51C}"/>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519B3A6C-9F4A-8690-1D57-94F9A300D38C}"/>
              </a:ext>
            </a:extLst>
          </p:cNvPr>
          <p:cNvSpPr>
            <a:spLocks noGrp="1"/>
          </p:cNvSpPr>
          <p:nvPr>
            <p:ph type="sldNum" sz="quarter" idx="12"/>
          </p:nvPr>
        </p:nvSpPr>
        <p:spPr/>
        <p:txBody>
          <a:bodyPr/>
          <a:lstStyle/>
          <a:p>
            <a:fld id="{6E3508DE-D4A4-4142-A805-4770F4A9C85F}" type="slidenum">
              <a:rPr lang="en-US" smtClean="0"/>
              <a:t>4</a:t>
            </a:fld>
            <a:endParaRPr lang="en-US"/>
          </a:p>
        </p:txBody>
      </p:sp>
    </p:spTree>
    <p:extLst>
      <p:ext uri="{BB962C8B-B14F-4D97-AF65-F5344CB8AC3E}">
        <p14:creationId xmlns:p14="http://schemas.microsoft.com/office/powerpoint/2010/main" val="26202841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5E5E1-894C-9C28-CBD9-8381393A10DF}"/>
              </a:ext>
            </a:extLst>
          </p:cNvPr>
          <p:cNvSpPr>
            <a:spLocks noGrp="1"/>
          </p:cNvSpPr>
          <p:nvPr>
            <p:ph type="title"/>
          </p:nvPr>
        </p:nvSpPr>
        <p:spPr/>
        <p:txBody>
          <a:bodyPr/>
          <a:lstStyle/>
          <a:p>
            <a:pPr algn="ctr"/>
            <a:r>
              <a:rPr lang="en-US" dirty="0">
                <a:latin typeface="Arial Rounded MT Bold" panose="020F0704030504030204" pitchFamily="34" charset="0"/>
              </a:rPr>
              <a:t>Bangladesh Natural Calamity timeline </a:t>
            </a:r>
          </a:p>
        </p:txBody>
      </p:sp>
      <p:pic>
        <p:nvPicPr>
          <p:cNvPr id="9" name="Content Placeholder 8">
            <a:extLst>
              <a:ext uri="{FF2B5EF4-FFF2-40B4-BE49-F238E27FC236}">
                <a16:creationId xmlns:a16="http://schemas.microsoft.com/office/drawing/2014/main" id="{3992154D-2C26-C0C6-EFA6-BC1EECE8EE5A}"/>
              </a:ext>
            </a:extLst>
          </p:cNvPr>
          <p:cNvPicPr>
            <a:picLocks noGrp="1" noChangeAspect="1"/>
          </p:cNvPicPr>
          <p:nvPr>
            <p:ph sz="half" idx="2"/>
          </p:nvPr>
        </p:nvPicPr>
        <p:blipFill>
          <a:blip r:embed="rId2"/>
          <a:stretch>
            <a:fillRect/>
          </a:stretch>
        </p:blipFill>
        <p:spPr>
          <a:xfrm>
            <a:off x="584742" y="2114732"/>
            <a:ext cx="11283208" cy="3737428"/>
          </a:xfrm>
        </p:spPr>
      </p:pic>
      <p:sp>
        <p:nvSpPr>
          <p:cNvPr id="5" name="Date Placeholder 4">
            <a:extLst>
              <a:ext uri="{FF2B5EF4-FFF2-40B4-BE49-F238E27FC236}">
                <a16:creationId xmlns:a16="http://schemas.microsoft.com/office/drawing/2014/main" id="{E74463FF-8F43-26B0-B707-FAD3BAFC4B27}"/>
              </a:ext>
            </a:extLst>
          </p:cNvPr>
          <p:cNvSpPr>
            <a:spLocks noGrp="1"/>
          </p:cNvSpPr>
          <p:nvPr>
            <p:ph type="dt" sz="half" idx="10"/>
          </p:nvPr>
        </p:nvSpPr>
        <p:spPr/>
        <p:txBody>
          <a:bodyPr/>
          <a:lstStyle/>
          <a:p>
            <a:fld id="{242BE1EE-E7AC-48E8-9905-AE8D3212C79F}" type="datetime1">
              <a:rPr lang="en-US" smtClean="0"/>
              <a:t>3/13/2023</a:t>
            </a:fld>
            <a:endParaRPr lang="en-US"/>
          </a:p>
        </p:txBody>
      </p:sp>
      <p:sp>
        <p:nvSpPr>
          <p:cNvPr id="6" name="Footer Placeholder 5">
            <a:extLst>
              <a:ext uri="{FF2B5EF4-FFF2-40B4-BE49-F238E27FC236}">
                <a16:creationId xmlns:a16="http://schemas.microsoft.com/office/drawing/2014/main" id="{CEA4F3D4-8C20-8564-F117-FF474AF33593}"/>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D21F04DE-2087-86B6-491D-73A39D634435}"/>
              </a:ext>
            </a:extLst>
          </p:cNvPr>
          <p:cNvSpPr>
            <a:spLocks noGrp="1"/>
          </p:cNvSpPr>
          <p:nvPr>
            <p:ph type="sldNum" sz="quarter" idx="12"/>
          </p:nvPr>
        </p:nvSpPr>
        <p:spPr/>
        <p:txBody>
          <a:bodyPr/>
          <a:lstStyle/>
          <a:p>
            <a:fld id="{6E3508DE-D4A4-4142-A805-4770F4A9C85F}" type="slidenum">
              <a:rPr lang="en-US" smtClean="0"/>
              <a:t>5</a:t>
            </a:fld>
            <a:endParaRPr lang="en-US"/>
          </a:p>
        </p:txBody>
      </p:sp>
    </p:spTree>
    <p:extLst>
      <p:ext uri="{BB962C8B-B14F-4D97-AF65-F5344CB8AC3E}">
        <p14:creationId xmlns:p14="http://schemas.microsoft.com/office/powerpoint/2010/main" val="754157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574A1-AEF2-F698-DDB8-7D24E831850C}"/>
              </a:ext>
            </a:extLst>
          </p:cNvPr>
          <p:cNvSpPr>
            <a:spLocks noGrp="1"/>
          </p:cNvSpPr>
          <p:nvPr>
            <p:ph type="title"/>
          </p:nvPr>
        </p:nvSpPr>
        <p:spPr/>
        <p:txBody>
          <a:bodyPr/>
          <a:lstStyle/>
          <a:p>
            <a:pPr algn="ctr"/>
            <a:r>
              <a:rPr lang="en-US" dirty="0">
                <a:latin typeface="Arial Rounded MT Bold" panose="020F0704030504030204" pitchFamily="34" charset="0"/>
              </a:rPr>
              <a:t>Thank you </a:t>
            </a:r>
          </a:p>
        </p:txBody>
      </p:sp>
      <p:sp>
        <p:nvSpPr>
          <p:cNvPr id="8" name="Content Placeholder 7">
            <a:extLst>
              <a:ext uri="{FF2B5EF4-FFF2-40B4-BE49-F238E27FC236}">
                <a16:creationId xmlns:a16="http://schemas.microsoft.com/office/drawing/2014/main" id="{3868B079-6707-83AC-97DF-A19C6CAAE7E4}"/>
              </a:ext>
            </a:extLst>
          </p:cNvPr>
          <p:cNvSpPr>
            <a:spLocks noGrp="1"/>
          </p:cNvSpPr>
          <p:nvPr>
            <p:ph idx="1"/>
          </p:nvPr>
        </p:nvSpPr>
        <p:spPr/>
        <p:txBody>
          <a:bodyPr>
            <a:normAutofit/>
          </a:bodyPr>
          <a:lstStyle/>
          <a:p>
            <a:pPr marL="0" indent="0" algn="ctr">
              <a:buNone/>
            </a:pPr>
            <a:endParaRPr lang="en-US" sz="4800" dirty="0">
              <a:latin typeface="Arial Rounded MT Bold" panose="020F0704030504030204" pitchFamily="34" charset="0"/>
            </a:endParaRPr>
          </a:p>
          <a:p>
            <a:pPr marL="0" indent="0" algn="ctr">
              <a:buNone/>
            </a:pPr>
            <a:r>
              <a:rPr lang="en-US" sz="4800" dirty="0">
                <a:latin typeface="Arial Rounded MT Bold" panose="020F0704030504030204" pitchFamily="34" charset="0"/>
              </a:rPr>
              <a:t>End of Lecture 4</a:t>
            </a:r>
          </a:p>
        </p:txBody>
      </p:sp>
      <p:sp>
        <p:nvSpPr>
          <p:cNvPr id="5" name="Date Placeholder 4">
            <a:extLst>
              <a:ext uri="{FF2B5EF4-FFF2-40B4-BE49-F238E27FC236}">
                <a16:creationId xmlns:a16="http://schemas.microsoft.com/office/drawing/2014/main" id="{7C50A93B-6A75-0026-CF53-52D07E3EED1E}"/>
              </a:ext>
            </a:extLst>
          </p:cNvPr>
          <p:cNvSpPr>
            <a:spLocks noGrp="1"/>
          </p:cNvSpPr>
          <p:nvPr>
            <p:ph type="dt" sz="half" idx="10"/>
          </p:nvPr>
        </p:nvSpPr>
        <p:spPr/>
        <p:txBody>
          <a:bodyPr/>
          <a:lstStyle/>
          <a:p>
            <a:fld id="{242BE1EE-E7AC-48E8-9905-AE8D3212C79F}" type="datetime1">
              <a:rPr lang="en-US" smtClean="0"/>
              <a:t>3/13/2023</a:t>
            </a:fld>
            <a:endParaRPr lang="en-US"/>
          </a:p>
        </p:txBody>
      </p:sp>
      <p:sp>
        <p:nvSpPr>
          <p:cNvPr id="6" name="Footer Placeholder 5">
            <a:extLst>
              <a:ext uri="{FF2B5EF4-FFF2-40B4-BE49-F238E27FC236}">
                <a16:creationId xmlns:a16="http://schemas.microsoft.com/office/drawing/2014/main" id="{53A9BC6B-9413-27AE-F556-F339D0B95A69}"/>
              </a:ext>
            </a:extLst>
          </p:cNvPr>
          <p:cNvSpPr>
            <a:spLocks noGrp="1"/>
          </p:cNvSpPr>
          <p:nvPr>
            <p:ph type="ftr" sz="quarter" idx="11"/>
          </p:nvPr>
        </p:nvSpPr>
        <p:spPr/>
        <p:txBody>
          <a:bodyPr/>
          <a:lstStyle/>
          <a:p>
            <a:r>
              <a:rPr lang="en-US"/>
              <a:t>Chowdhury Mujaddid Ahmed </a:t>
            </a:r>
          </a:p>
        </p:txBody>
      </p:sp>
      <p:sp>
        <p:nvSpPr>
          <p:cNvPr id="7" name="Slide Number Placeholder 6">
            <a:extLst>
              <a:ext uri="{FF2B5EF4-FFF2-40B4-BE49-F238E27FC236}">
                <a16:creationId xmlns:a16="http://schemas.microsoft.com/office/drawing/2014/main" id="{BF08B707-82F4-46F5-C798-2082F49B4377}"/>
              </a:ext>
            </a:extLst>
          </p:cNvPr>
          <p:cNvSpPr>
            <a:spLocks noGrp="1"/>
          </p:cNvSpPr>
          <p:nvPr>
            <p:ph type="sldNum" sz="quarter" idx="12"/>
          </p:nvPr>
        </p:nvSpPr>
        <p:spPr/>
        <p:txBody>
          <a:bodyPr/>
          <a:lstStyle/>
          <a:p>
            <a:fld id="{6E3508DE-D4A4-4142-A805-4770F4A9C85F}" type="slidenum">
              <a:rPr lang="en-US" smtClean="0"/>
              <a:t>6</a:t>
            </a:fld>
            <a:endParaRPr lang="en-US"/>
          </a:p>
        </p:txBody>
      </p:sp>
    </p:spTree>
    <p:extLst>
      <p:ext uri="{BB962C8B-B14F-4D97-AF65-F5344CB8AC3E}">
        <p14:creationId xmlns:p14="http://schemas.microsoft.com/office/powerpoint/2010/main" val="19890492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447</Words>
  <Application>Microsoft Office PowerPoint</Application>
  <PresentationFormat>Widescreen</PresentationFormat>
  <Paragraphs>39</Paragraphs>
  <Slides>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Rounded MT Bold</vt:lpstr>
      <vt:lpstr>Calibri</vt:lpstr>
      <vt:lpstr>Calibri Light</vt:lpstr>
      <vt:lpstr>Office Theme</vt:lpstr>
      <vt:lpstr>Bangladesh Coastal line and Natural Phenomenon </vt:lpstr>
      <vt:lpstr>Coastal line</vt:lpstr>
      <vt:lpstr>Bangladesh Coastal line</vt:lpstr>
      <vt:lpstr>Bangladesh and Natural Phenomena </vt:lpstr>
      <vt:lpstr>Bangladesh Natural Calamity timeline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Bangladesh Coastal line and Natural Phenomenon </dc:title>
  <dc:creator>Chowdhury Mujaddid Ahmed</dc:creator>
  <cp:lastModifiedBy>Chowdhury Mujaddid Ahmed</cp:lastModifiedBy>
  <cp:revision>1</cp:revision>
  <dcterms:created xsi:type="dcterms:W3CDTF">2023-03-13T05:51:48Z</dcterms:created>
  <dcterms:modified xsi:type="dcterms:W3CDTF">2023-03-13T07:18:08Z</dcterms:modified>
</cp:coreProperties>
</file>