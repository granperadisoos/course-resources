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68" r:id="rId3"/>
    <p:sldId id="269" r:id="rId4"/>
    <p:sldId id="257" r:id="rId5"/>
    <p:sldId id="258" r:id="rId6"/>
    <p:sldId id="259" r:id="rId7"/>
    <p:sldId id="260" r:id="rId8"/>
    <p:sldId id="261" r:id="rId9"/>
    <p:sldId id="262" r:id="rId10"/>
    <p:sldId id="263" r:id="rId11"/>
    <p:sldId id="264" r:id="rId12"/>
    <p:sldId id="265" r:id="rId13"/>
    <p:sldId id="266" r:id="rId14"/>
    <p:sldId id="267" r:id="rId15"/>
    <p:sldId id="270" r:id="rId16"/>
    <p:sldId id="271" r:id="rId17"/>
    <p:sldId id="273"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sorterViewPr>
    <p:cViewPr>
      <p:scale>
        <a:sx n="100" d="100"/>
        <a:sy n="100" d="100"/>
      </p:scale>
      <p:origin x="0" y="-416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80182A-3692-4670-A9BA-84194B664A6B}" type="datetimeFigureOut">
              <a:rPr lang="en-US" smtClean="0"/>
              <a:t>5/1/2023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A0BF01-22A6-44FA-951D-F9A45049B378}" type="slidenum">
              <a:rPr lang="en-US" smtClean="0"/>
              <a:t>‹#›</a:t>
            </a:fld>
            <a:endParaRPr lang="en-US"/>
          </a:p>
        </p:txBody>
      </p:sp>
    </p:spTree>
    <p:extLst>
      <p:ext uri="{BB962C8B-B14F-4D97-AF65-F5344CB8AC3E}">
        <p14:creationId xmlns:p14="http://schemas.microsoft.com/office/powerpoint/2010/main" val="563963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AA88E-E0BF-33BC-58C2-E9377AF01C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6E0751-DFCD-18EF-AD94-76228A02E9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6F2E69-3C3F-4B03-30C0-A1FE137F29A9}"/>
              </a:ext>
            </a:extLst>
          </p:cNvPr>
          <p:cNvSpPr>
            <a:spLocks noGrp="1"/>
          </p:cNvSpPr>
          <p:nvPr>
            <p:ph type="dt" sz="half" idx="10"/>
          </p:nvPr>
        </p:nvSpPr>
        <p:spPr/>
        <p:txBody>
          <a:bodyPr/>
          <a:lstStyle/>
          <a:p>
            <a:fld id="{95C5BF87-281E-4568-885B-BB9414E6116F}" type="datetime1">
              <a:rPr lang="en-US" smtClean="0"/>
              <a:t>5/1/2023</a:t>
            </a:fld>
            <a:endParaRPr lang="en-US"/>
          </a:p>
        </p:txBody>
      </p:sp>
      <p:sp>
        <p:nvSpPr>
          <p:cNvPr id="5" name="Footer Placeholder 4">
            <a:extLst>
              <a:ext uri="{FF2B5EF4-FFF2-40B4-BE49-F238E27FC236}">
                <a16:creationId xmlns:a16="http://schemas.microsoft.com/office/drawing/2014/main" id="{6685A008-DC95-C445-96F7-2D122AD34249}"/>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A7539160-3A73-E729-23A6-79DFE8046FDD}"/>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836277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29276-849E-AE5B-6AAD-E564CB9292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A2D775-7B44-179C-B31A-0BCE08D37E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26E797-8B4A-CC01-E50F-F9343B6B2163}"/>
              </a:ext>
            </a:extLst>
          </p:cNvPr>
          <p:cNvSpPr>
            <a:spLocks noGrp="1"/>
          </p:cNvSpPr>
          <p:nvPr>
            <p:ph type="dt" sz="half" idx="10"/>
          </p:nvPr>
        </p:nvSpPr>
        <p:spPr/>
        <p:txBody>
          <a:bodyPr/>
          <a:lstStyle/>
          <a:p>
            <a:fld id="{58FF2F16-2CC6-47C4-B72C-C2ACC24A232E}" type="datetime1">
              <a:rPr lang="en-US" smtClean="0"/>
              <a:t>5/1/2023</a:t>
            </a:fld>
            <a:endParaRPr lang="en-US"/>
          </a:p>
        </p:txBody>
      </p:sp>
      <p:sp>
        <p:nvSpPr>
          <p:cNvPr id="5" name="Footer Placeholder 4">
            <a:extLst>
              <a:ext uri="{FF2B5EF4-FFF2-40B4-BE49-F238E27FC236}">
                <a16:creationId xmlns:a16="http://schemas.microsoft.com/office/drawing/2014/main" id="{48F00CDA-F296-6EAA-4681-477513C8E55F}"/>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449ADB3D-4792-DE83-40A9-D57F5B0662B3}"/>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40089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83089-863B-0AEF-5A5F-7DC19A96D4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1F9CBB-6C2C-D778-DBE6-8AF1CE51B0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744E18-269A-FC7E-2D0E-96789AFC8D2C}"/>
              </a:ext>
            </a:extLst>
          </p:cNvPr>
          <p:cNvSpPr>
            <a:spLocks noGrp="1"/>
          </p:cNvSpPr>
          <p:nvPr>
            <p:ph type="dt" sz="half" idx="10"/>
          </p:nvPr>
        </p:nvSpPr>
        <p:spPr/>
        <p:txBody>
          <a:bodyPr/>
          <a:lstStyle/>
          <a:p>
            <a:fld id="{7E841F27-AF09-453C-9B3F-4CF4309F045C}" type="datetime1">
              <a:rPr lang="en-US" smtClean="0"/>
              <a:t>5/1/2023</a:t>
            </a:fld>
            <a:endParaRPr lang="en-US"/>
          </a:p>
        </p:txBody>
      </p:sp>
      <p:sp>
        <p:nvSpPr>
          <p:cNvPr id="5" name="Footer Placeholder 4">
            <a:extLst>
              <a:ext uri="{FF2B5EF4-FFF2-40B4-BE49-F238E27FC236}">
                <a16:creationId xmlns:a16="http://schemas.microsoft.com/office/drawing/2014/main" id="{7825D446-141F-90E4-B1D0-A4FA53584924}"/>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22C04C58-E739-0914-E5CC-2D33CD8540C3}"/>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1254973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02A50-3DF3-FC5F-77F2-B8A56C069E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1B0BA36-A052-0A7A-F73E-242267DEB3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1227D6-863F-B872-7C70-D8069C27936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E3477E-A4BE-794F-7B85-C1692EA2CF2B}"/>
              </a:ext>
            </a:extLst>
          </p:cNvPr>
          <p:cNvSpPr>
            <a:spLocks noGrp="1"/>
          </p:cNvSpPr>
          <p:nvPr>
            <p:ph type="dt" sz="half" idx="10"/>
          </p:nvPr>
        </p:nvSpPr>
        <p:spPr/>
        <p:txBody>
          <a:bodyPr/>
          <a:lstStyle/>
          <a:p>
            <a:fld id="{B4330940-C2BB-4451-AAC4-4D59E6AFD8F8}" type="datetime1">
              <a:rPr lang="en-US" smtClean="0"/>
              <a:t>5/1/2023</a:t>
            </a:fld>
            <a:endParaRPr lang="en-US"/>
          </a:p>
        </p:txBody>
      </p:sp>
      <p:sp>
        <p:nvSpPr>
          <p:cNvPr id="6" name="Footer Placeholder 5">
            <a:extLst>
              <a:ext uri="{FF2B5EF4-FFF2-40B4-BE49-F238E27FC236}">
                <a16:creationId xmlns:a16="http://schemas.microsoft.com/office/drawing/2014/main" id="{5895BF94-9D22-F6B7-8C60-F4298616BE6E}"/>
              </a:ext>
            </a:extLst>
          </p:cNvPr>
          <p:cNvSpPr>
            <a:spLocks noGrp="1"/>
          </p:cNvSpPr>
          <p:nvPr>
            <p:ph type="ftr" sz="quarter" idx="11"/>
          </p:nvPr>
        </p:nvSpPr>
        <p:spPr/>
        <p:txBody>
          <a:bodyPr/>
          <a:lstStyle/>
          <a:p>
            <a:r>
              <a:rPr lang="en-US"/>
              <a:t>Chowdhury Mujaddid Ahmed</a:t>
            </a:r>
          </a:p>
        </p:txBody>
      </p:sp>
      <p:sp>
        <p:nvSpPr>
          <p:cNvPr id="7" name="Slide Number Placeholder 6">
            <a:extLst>
              <a:ext uri="{FF2B5EF4-FFF2-40B4-BE49-F238E27FC236}">
                <a16:creationId xmlns:a16="http://schemas.microsoft.com/office/drawing/2014/main" id="{A4609CDD-65C4-D70C-7D48-8FF45947B57C}"/>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2696850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B94DF-D315-B543-F617-C91E69A7D4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15426D-C149-5760-EF25-CAB298E3EF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B2C575-51C4-9144-69EA-2F3F334234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5276DA-D372-9107-AC7F-73CBA53FD2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E7E555-8DF6-A974-2DD2-ADFD7F3B28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760FAF-1785-A4A1-F26F-25160683C0E1}"/>
              </a:ext>
            </a:extLst>
          </p:cNvPr>
          <p:cNvSpPr>
            <a:spLocks noGrp="1"/>
          </p:cNvSpPr>
          <p:nvPr>
            <p:ph type="dt" sz="half" idx="10"/>
          </p:nvPr>
        </p:nvSpPr>
        <p:spPr/>
        <p:txBody>
          <a:bodyPr/>
          <a:lstStyle/>
          <a:p>
            <a:fld id="{361BF55E-8053-45B0-B929-93559C288A39}" type="datetime1">
              <a:rPr lang="en-US" smtClean="0"/>
              <a:t>5/1/2023</a:t>
            </a:fld>
            <a:endParaRPr lang="en-US"/>
          </a:p>
        </p:txBody>
      </p:sp>
      <p:sp>
        <p:nvSpPr>
          <p:cNvPr id="8" name="Footer Placeholder 7">
            <a:extLst>
              <a:ext uri="{FF2B5EF4-FFF2-40B4-BE49-F238E27FC236}">
                <a16:creationId xmlns:a16="http://schemas.microsoft.com/office/drawing/2014/main" id="{DD4508F2-CB44-F24A-C677-E3FD28101A29}"/>
              </a:ext>
            </a:extLst>
          </p:cNvPr>
          <p:cNvSpPr>
            <a:spLocks noGrp="1"/>
          </p:cNvSpPr>
          <p:nvPr>
            <p:ph type="ftr" sz="quarter" idx="11"/>
          </p:nvPr>
        </p:nvSpPr>
        <p:spPr/>
        <p:txBody>
          <a:bodyPr/>
          <a:lstStyle/>
          <a:p>
            <a:r>
              <a:rPr lang="en-US"/>
              <a:t>Chowdhury Mujaddid Ahmed</a:t>
            </a:r>
          </a:p>
        </p:txBody>
      </p:sp>
      <p:sp>
        <p:nvSpPr>
          <p:cNvPr id="9" name="Slide Number Placeholder 8">
            <a:extLst>
              <a:ext uri="{FF2B5EF4-FFF2-40B4-BE49-F238E27FC236}">
                <a16:creationId xmlns:a16="http://schemas.microsoft.com/office/drawing/2014/main" id="{30AB1861-C131-E985-9DDB-8370DEDCC2C9}"/>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2222867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D4394-9FC9-F320-C140-80434D1F07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71529E-CA2D-9E74-BF97-6A53DE49AD99}"/>
              </a:ext>
            </a:extLst>
          </p:cNvPr>
          <p:cNvSpPr>
            <a:spLocks noGrp="1"/>
          </p:cNvSpPr>
          <p:nvPr>
            <p:ph type="dt" sz="half" idx="10"/>
          </p:nvPr>
        </p:nvSpPr>
        <p:spPr/>
        <p:txBody>
          <a:bodyPr/>
          <a:lstStyle/>
          <a:p>
            <a:fld id="{C8867FDC-0FC9-474F-9634-0D8B153BA18B}" type="datetime1">
              <a:rPr lang="en-US" smtClean="0"/>
              <a:t>5/1/2023</a:t>
            </a:fld>
            <a:endParaRPr lang="en-US"/>
          </a:p>
        </p:txBody>
      </p:sp>
      <p:sp>
        <p:nvSpPr>
          <p:cNvPr id="4" name="Footer Placeholder 3">
            <a:extLst>
              <a:ext uri="{FF2B5EF4-FFF2-40B4-BE49-F238E27FC236}">
                <a16:creationId xmlns:a16="http://schemas.microsoft.com/office/drawing/2014/main" id="{3275E1CF-F64C-B0E8-A42B-DEA9ED295C75}"/>
              </a:ext>
            </a:extLst>
          </p:cNvPr>
          <p:cNvSpPr>
            <a:spLocks noGrp="1"/>
          </p:cNvSpPr>
          <p:nvPr>
            <p:ph type="ftr" sz="quarter" idx="11"/>
          </p:nvPr>
        </p:nvSpPr>
        <p:spPr/>
        <p:txBody>
          <a:bodyPr/>
          <a:lstStyle/>
          <a:p>
            <a:r>
              <a:rPr lang="en-US"/>
              <a:t>Chowdhury Mujaddid Ahmed</a:t>
            </a:r>
          </a:p>
        </p:txBody>
      </p:sp>
      <p:sp>
        <p:nvSpPr>
          <p:cNvPr id="5" name="Slide Number Placeholder 4">
            <a:extLst>
              <a:ext uri="{FF2B5EF4-FFF2-40B4-BE49-F238E27FC236}">
                <a16:creationId xmlns:a16="http://schemas.microsoft.com/office/drawing/2014/main" id="{F91AABE6-8614-BB6A-A5F0-B54783BA916B}"/>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1821222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720A5D-508C-83C6-7C2F-2A4F8C486EBF}"/>
              </a:ext>
            </a:extLst>
          </p:cNvPr>
          <p:cNvSpPr>
            <a:spLocks noGrp="1"/>
          </p:cNvSpPr>
          <p:nvPr>
            <p:ph type="dt" sz="half" idx="10"/>
          </p:nvPr>
        </p:nvSpPr>
        <p:spPr/>
        <p:txBody>
          <a:bodyPr/>
          <a:lstStyle/>
          <a:p>
            <a:fld id="{F44CF635-E3A2-408F-9500-C7797B37F4F5}" type="datetime1">
              <a:rPr lang="en-US" smtClean="0"/>
              <a:t>5/1/2023</a:t>
            </a:fld>
            <a:endParaRPr lang="en-US"/>
          </a:p>
        </p:txBody>
      </p:sp>
      <p:sp>
        <p:nvSpPr>
          <p:cNvPr id="3" name="Footer Placeholder 2">
            <a:extLst>
              <a:ext uri="{FF2B5EF4-FFF2-40B4-BE49-F238E27FC236}">
                <a16:creationId xmlns:a16="http://schemas.microsoft.com/office/drawing/2014/main" id="{F35D1F45-302D-8390-9010-574353ACC01A}"/>
              </a:ext>
            </a:extLst>
          </p:cNvPr>
          <p:cNvSpPr>
            <a:spLocks noGrp="1"/>
          </p:cNvSpPr>
          <p:nvPr>
            <p:ph type="ftr" sz="quarter" idx="11"/>
          </p:nvPr>
        </p:nvSpPr>
        <p:spPr/>
        <p:txBody>
          <a:bodyPr/>
          <a:lstStyle/>
          <a:p>
            <a:r>
              <a:rPr lang="en-US"/>
              <a:t>Chowdhury Mujaddid Ahmed</a:t>
            </a:r>
          </a:p>
        </p:txBody>
      </p:sp>
      <p:sp>
        <p:nvSpPr>
          <p:cNvPr id="4" name="Slide Number Placeholder 3">
            <a:extLst>
              <a:ext uri="{FF2B5EF4-FFF2-40B4-BE49-F238E27FC236}">
                <a16:creationId xmlns:a16="http://schemas.microsoft.com/office/drawing/2014/main" id="{1EB874F2-CCC2-1E1A-5ED8-416CD05BCDB8}"/>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2343742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9468D-40C5-2F9F-15DE-0D4E6FDBA6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A0E4D4-FDAE-2426-CDC1-16A445AEDE9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4E6C6C-62F9-C2B0-79E5-80A89DC61D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5128FE-F9B7-CDF8-38E6-FB2E3683A428}"/>
              </a:ext>
            </a:extLst>
          </p:cNvPr>
          <p:cNvSpPr>
            <a:spLocks noGrp="1"/>
          </p:cNvSpPr>
          <p:nvPr>
            <p:ph type="dt" sz="half" idx="10"/>
          </p:nvPr>
        </p:nvSpPr>
        <p:spPr/>
        <p:txBody>
          <a:bodyPr/>
          <a:lstStyle/>
          <a:p>
            <a:fld id="{C6F6DE7C-A576-40D6-B54F-9064CBF2773A}" type="datetime1">
              <a:rPr lang="en-US" smtClean="0"/>
              <a:t>5/1/2023</a:t>
            </a:fld>
            <a:endParaRPr lang="en-US"/>
          </a:p>
        </p:txBody>
      </p:sp>
      <p:sp>
        <p:nvSpPr>
          <p:cNvPr id="6" name="Footer Placeholder 5">
            <a:extLst>
              <a:ext uri="{FF2B5EF4-FFF2-40B4-BE49-F238E27FC236}">
                <a16:creationId xmlns:a16="http://schemas.microsoft.com/office/drawing/2014/main" id="{F5214175-015B-60AA-6D81-BA22AA93CF65}"/>
              </a:ext>
            </a:extLst>
          </p:cNvPr>
          <p:cNvSpPr>
            <a:spLocks noGrp="1"/>
          </p:cNvSpPr>
          <p:nvPr>
            <p:ph type="ftr" sz="quarter" idx="11"/>
          </p:nvPr>
        </p:nvSpPr>
        <p:spPr/>
        <p:txBody>
          <a:bodyPr/>
          <a:lstStyle/>
          <a:p>
            <a:r>
              <a:rPr lang="en-US"/>
              <a:t>Chowdhury Mujaddid Ahmed</a:t>
            </a:r>
          </a:p>
        </p:txBody>
      </p:sp>
      <p:sp>
        <p:nvSpPr>
          <p:cNvPr id="7" name="Slide Number Placeholder 6">
            <a:extLst>
              <a:ext uri="{FF2B5EF4-FFF2-40B4-BE49-F238E27FC236}">
                <a16:creationId xmlns:a16="http://schemas.microsoft.com/office/drawing/2014/main" id="{7DC8CBD1-612C-B414-C78D-C7209B12D6CD}"/>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15310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F5443-03F2-9475-E24A-1CC527724D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5926B7-DCDA-A3F6-0F6E-69EBEA5A6B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BFA339-A2A0-A888-8F56-CFDE75E04F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1A81F-1525-4100-3D8F-B6E3767CB8D7}"/>
              </a:ext>
            </a:extLst>
          </p:cNvPr>
          <p:cNvSpPr>
            <a:spLocks noGrp="1"/>
          </p:cNvSpPr>
          <p:nvPr>
            <p:ph type="dt" sz="half" idx="10"/>
          </p:nvPr>
        </p:nvSpPr>
        <p:spPr/>
        <p:txBody>
          <a:bodyPr/>
          <a:lstStyle/>
          <a:p>
            <a:fld id="{44980A3D-9CDC-4F5B-8488-35C8F3261BBB}" type="datetime1">
              <a:rPr lang="en-US" smtClean="0"/>
              <a:t>5/1/2023</a:t>
            </a:fld>
            <a:endParaRPr lang="en-US"/>
          </a:p>
        </p:txBody>
      </p:sp>
      <p:sp>
        <p:nvSpPr>
          <p:cNvPr id="6" name="Footer Placeholder 5">
            <a:extLst>
              <a:ext uri="{FF2B5EF4-FFF2-40B4-BE49-F238E27FC236}">
                <a16:creationId xmlns:a16="http://schemas.microsoft.com/office/drawing/2014/main" id="{D04847D4-AB23-81FC-CA2B-568D56E79D3D}"/>
              </a:ext>
            </a:extLst>
          </p:cNvPr>
          <p:cNvSpPr>
            <a:spLocks noGrp="1"/>
          </p:cNvSpPr>
          <p:nvPr>
            <p:ph type="ftr" sz="quarter" idx="11"/>
          </p:nvPr>
        </p:nvSpPr>
        <p:spPr/>
        <p:txBody>
          <a:bodyPr/>
          <a:lstStyle/>
          <a:p>
            <a:r>
              <a:rPr lang="en-US"/>
              <a:t>Chowdhury Mujaddid Ahmed</a:t>
            </a:r>
          </a:p>
        </p:txBody>
      </p:sp>
      <p:sp>
        <p:nvSpPr>
          <p:cNvPr id="7" name="Slide Number Placeholder 6">
            <a:extLst>
              <a:ext uri="{FF2B5EF4-FFF2-40B4-BE49-F238E27FC236}">
                <a16:creationId xmlns:a16="http://schemas.microsoft.com/office/drawing/2014/main" id="{CDCE6505-5A50-A95D-729D-BEFB3163B169}"/>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951785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1BB95-CD22-DD15-3847-4DF9115B8B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03F4F1-8D07-00AF-46BF-8BD88B0FEA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6B28E4-29B9-C38C-38C3-AD7D9232534D}"/>
              </a:ext>
            </a:extLst>
          </p:cNvPr>
          <p:cNvSpPr>
            <a:spLocks noGrp="1"/>
          </p:cNvSpPr>
          <p:nvPr>
            <p:ph type="dt" sz="half" idx="10"/>
          </p:nvPr>
        </p:nvSpPr>
        <p:spPr/>
        <p:txBody>
          <a:bodyPr/>
          <a:lstStyle/>
          <a:p>
            <a:fld id="{115324D0-03E1-4D51-9945-7016373575A9}" type="datetime1">
              <a:rPr lang="en-US" smtClean="0"/>
              <a:t>5/1/2023</a:t>
            </a:fld>
            <a:endParaRPr lang="en-US"/>
          </a:p>
        </p:txBody>
      </p:sp>
      <p:sp>
        <p:nvSpPr>
          <p:cNvPr id="5" name="Footer Placeholder 4">
            <a:extLst>
              <a:ext uri="{FF2B5EF4-FFF2-40B4-BE49-F238E27FC236}">
                <a16:creationId xmlns:a16="http://schemas.microsoft.com/office/drawing/2014/main" id="{B3BC05B6-9357-31B9-C1D5-0DA895468DD6}"/>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E31BF996-F925-8D82-2A61-56AF535C96FD}"/>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148966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EAD66D-090B-B6C0-B3F1-7A41F29BF5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BFCCB7-CB44-A505-1D5E-84C80B4B75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4C526-E271-B5C8-04DF-8EE6D6DCD57B}"/>
              </a:ext>
            </a:extLst>
          </p:cNvPr>
          <p:cNvSpPr>
            <a:spLocks noGrp="1"/>
          </p:cNvSpPr>
          <p:nvPr>
            <p:ph type="dt" sz="half" idx="10"/>
          </p:nvPr>
        </p:nvSpPr>
        <p:spPr/>
        <p:txBody>
          <a:bodyPr/>
          <a:lstStyle/>
          <a:p>
            <a:fld id="{CA66F018-770C-413D-8DD2-DFA5EBE04D72}" type="datetime1">
              <a:rPr lang="en-US" smtClean="0"/>
              <a:t>5/1/2023</a:t>
            </a:fld>
            <a:endParaRPr lang="en-US"/>
          </a:p>
        </p:txBody>
      </p:sp>
      <p:sp>
        <p:nvSpPr>
          <p:cNvPr id="5" name="Footer Placeholder 4">
            <a:extLst>
              <a:ext uri="{FF2B5EF4-FFF2-40B4-BE49-F238E27FC236}">
                <a16:creationId xmlns:a16="http://schemas.microsoft.com/office/drawing/2014/main" id="{CA211557-2266-0FC0-0493-5BC20DB0E245}"/>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2096984C-81BC-432D-61DB-19890185D7BD}"/>
              </a:ext>
            </a:extLst>
          </p:cNvPr>
          <p:cNvSpPr>
            <a:spLocks noGrp="1"/>
          </p:cNvSpPr>
          <p:nvPr>
            <p:ph type="sldNum" sz="quarter" idx="12"/>
          </p:nvPr>
        </p:nvSpPr>
        <p:spPr/>
        <p:txBody>
          <a:bodyPr/>
          <a:lstStyle/>
          <a:p>
            <a:fld id="{FE6E6D8B-34B2-43B1-858A-2A2C0E1C997D}" type="slidenum">
              <a:rPr lang="en-US" smtClean="0"/>
              <a:t>‹#›</a:t>
            </a:fld>
            <a:endParaRPr lang="en-US"/>
          </a:p>
        </p:txBody>
      </p:sp>
    </p:spTree>
    <p:extLst>
      <p:ext uri="{BB962C8B-B14F-4D97-AF65-F5344CB8AC3E}">
        <p14:creationId xmlns:p14="http://schemas.microsoft.com/office/powerpoint/2010/main" val="1377912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6B0A88-E7E4-59F4-229A-5CCBCD21FA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3E6661-381F-1FC8-5211-678A7FC652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EC668-1EB2-4EA8-7426-2B43C5B900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1851F7-0115-43AF-AF4E-F316D3267FBB}" type="datetime1">
              <a:rPr lang="en-US" smtClean="0"/>
              <a:t>5/1/2023</a:t>
            </a:fld>
            <a:endParaRPr lang="en-US"/>
          </a:p>
        </p:txBody>
      </p:sp>
      <p:sp>
        <p:nvSpPr>
          <p:cNvPr id="5" name="Footer Placeholder 4">
            <a:extLst>
              <a:ext uri="{FF2B5EF4-FFF2-40B4-BE49-F238E27FC236}">
                <a16:creationId xmlns:a16="http://schemas.microsoft.com/office/drawing/2014/main" id="{7637C029-0DD1-10B3-69A7-2B351E248E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Chowdhury Mujaddid Ahmed</a:t>
            </a:r>
          </a:p>
        </p:txBody>
      </p:sp>
      <p:sp>
        <p:nvSpPr>
          <p:cNvPr id="6" name="Slide Number Placeholder 5">
            <a:extLst>
              <a:ext uri="{FF2B5EF4-FFF2-40B4-BE49-F238E27FC236}">
                <a16:creationId xmlns:a16="http://schemas.microsoft.com/office/drawing/2014/main" id="{697ED65F-7853-61D1-8EB5-2E600CAE3F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6E6D8B-34B2-43B1-858A-2A2C0E1C997D}" type="slidenum">
              <a:rPr lang="en-US" smtClean="0"/>
              <a:t>‹#›</a:t>
            </a:fld>
            <a:endParaRPr lang="en-US"/>
          </a:p>
        </p:txBody>
      </p:sp>
    </p:spTree>
    <p:extLst>
      <p:ext uri="{BB962C8B-B14F-4D97-AF65-F5344CB8AC3E}">
        <p14:creationId xmlns:p14="http://schemas.microsoft.com/office/powerpoint/2010/main" val="1529502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statista.com/statistics/438359/share-of-economic-sectors-in-the-gdp-in-bangladesh/#:~:text=This%20statistic%20shows%20the%20share,sector%20contributed%20about%2051.3%20percent."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statista.com/statistics/438359/share-of-economic-sectors-in-the-gdp-in-bangladesh/" TargetMode="External"/><Relationship Id="rId2" Type="http://schemas.openxmlformats.org/officeDocument/2006/relationships/hyperlink" Target="https://www.bb.org.bd/en/index.php/financialactivity/bankfi" TargetMode="External"/><Relationship Id="rId1" Type="http://schemas.openxmlformats.org/officeDocument/2006/relationships/slideLayout" Target="../slideLayouts/slideLayout2.xml"/><Relationship Id="rId5" Type="http://schemas.openxmlformats.org/officeDocument/2006/relationships/hyperlink" Target="https://businessinspection.com.bd/industry-wise-gdp-contribution-in-bd/" TargetMode="External"/><Relationship Id="rId4" Type="http://schemas.openxmlformats.org/officeDocument/2006/relationships/hyperlink" Target="https://www.investopedia.com/terms/i/industry.as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8FAA2-97B0-023F-CB03-0E79FA8AB01C}"/>
              </a:ext>
            </a:extLst>
          </p:cNvPr>
          <p:cNvSpPr>
            <a:spLocks noGrp="1"/>
          </p:cNvSpPr>
          <p:nvPr>
            <p:ph type="ctrTitle"/>
          </p:nvPr>
        </p:nvSpPr>
        <p:spPr/>
        <p:txBody>
          <a:bodyPr/>
          <a:lstStyle/>
          <a:p>
            <a:r>
              <a:rPr lang="en-US" dirty="0">
                <a:latin typeface="Arial Rounded MT Bold" panose="020F0704030504030204" pitchFamily="34" charset="0"/>
              </a:rPr>
              <a:t>Sectors and Industries of Bangladesh</a:t>
            </a:r>
          </a:p>
        </p:txBody>
      </p:sp>
      <p:sp>
        <p:nvSpPr>
          <p:cNvPr id="3" name="Subtitle 2">
            <a:extLst>
              <a:ext uri="{FF2B5EF4-FFF2-40B4-BE49-F238E27FC236}">
                <a16:creationId xmlns:a16="http://schemas.microsoft.com/office/drawing/2014/main" id="{6AFCBA09-408E-2BE9-9B1C-86E4CBF40EF4}"/>
              </a:ext>
            </a:extLst>
          </p:cNvPr>
          <p:cNvSpPr>
            <a:spLocks noGrp="1"/>
          </p:cNvSpPr>
          <p:nvPr>
            <p:ph type="subTitle" idx="1"/>
          </p:nvPr>
        </p:nvSpPr>
        <p:spPr/>
        <p:txBody>
          <a:bodyPr/>
          <a:lstStyle/>
          <a:p>
            <a:r>
              <a:rPr lang="en-US" dirty="0"/>
              <a:t>By </a:t>
            </a:r>
          </a:p>
          <a:p>
            <a:r>
              <a:rPr lang="en-US" dirty="0"/>
              <a:t>Chowdhury Mujaddid Ahmed</a:t>
            </a:r>
          </a:p>
        </p:txBody>
      </p:sp>
      <p:sp>
        <p:nvSpPr>
          <p:cNvPr id="4" name="Date Placeholder 3">
            <a:extLst>
              <a:ext uri="{FF2B5EF4-FFF2-40B4-BE49-F238E27FC236}">
                <a16:creationId xmlns:a16="http://schemas.microsoft.com/office/drawing/2014/main" id="{C746998E-1303-46AC-43AF-6028F80C83C9}"/>
              </a:ext>
            </a:extLst>
          </p:cNvPr>
          <p:cNvSpPr>
            <a:spLocks noGrp="1"/>
          </p:cNvSpPr>
          <p:nvPr>
            <p:ph type="dt" sz="half" idx="10"/>
          </p:nvPr>
        </p:nvSpPr>
        <p:spPr/>
        <p:txBody>
          <a:bodyPr/>
          <a:lstStyle/>
          <a:p>
            <a:fld id="{EF2FE84D-CFE9-492E-A152-5F197ADB5869}" type="datetime1">
              <a:rPr lang="en-US" smtClean="0"/>
              <a:t>5/1/2023</a:t>
            </a:fld>
            <a:endParaRPr lang="en-US"/>
          </a:p>
        </p:txBody>
      </p:sp>
      <p:sp>
        <p:nvSpPr>
          <p:cNvPr id="5" name="Footer Placeholder 4">
            <a:extLst>
              <a:ext uri="{FF2B5EF4-FFF2-40B4-BE49-F238E27FC236}">
                <a16:creationId xmlns:a16="http://schemas.microsoft.com/office/drawing/2014/main" id="{0014FC69-8161-9108-FBDD-19CCBF2B17B9}"/>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366E4C14-5742-B4B3-1DCB-D69FCBDB771D}"/>
              </a:ext>
            </a:extLst>
          </p:cNvPr>
          <p:cNvSpPr>
            <a:spLocks noGrp="1"/>
          </p:cNvSpPr>
          <p:nvPr>
            <p:ph type="sldNum" sz="quarter" idx="12"/>
          </p:nvPr>
        </p:nvSpPr>
        <p:spPr/>
        <p:txBody>
          <a:bodyPr/>
          <a:lstStyle/>
          <a:p>
            <a:fld id="{FE6E6D8B-34B2-43B1-858A-2A2C0E1C997D}" type="slidenum">
              <a:rPr lang="en-US" smtClean="0"/>
              <a:t>1</a:t>
            </a:fld>
            <a:endParaRPr lang="en-US"/>
          </a:p>
        </p:txBody>
      </p:sp>
    </p:spTree>
    <p:extLst>
      <p:ext uri="{BB962C8B-B14F-4D97-AF65-F5344CB8AC3E}">
        <p14:creationId xmlns:p14="http://schemas.microsoft.com/office/powerpoint/2010/main" val="3822667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7F86F-47EF-5FD3-11BA-CD30243A1E8F}"/>
              </a:ext>
            </a:extLst>
          </p:cNvPr>
          <p:cNvSpPr>
            <a:spLocks noGrp="1"/>
          </p:cNvSpPr>
          <p:nvPr>
            <p:ph type="title"/>
          </p:nvPr>
        </p:nvSpPr>
        <p:spPr/>
        <p:txBody>
          <a:bodyPr/>
          <a:lstStyle/>
          <a:p>
            <a:pPr algn="ctr"/>
            <a:r>
              <a:rPr lang="en-US" dirty="0">
                <a:latin typeface="Arial Rounded MT Bold" panose="020F0704030504030204" pitchFamily="34" charset="0"/>
              </a:rPr>
              <a:t>GDP vs GNP</a:t>
            </a:r>
          </a:p>
        </p:txBody>
      </p:sp>
      <p:pic>
        <p:nvPicPr>
          <p:cNvPr id="14" name="Content Placeholder 13">
            <a:extLst>
              <a:ext uri="{FF2B5EF4-FFF2-40B4-BE49-F238E27FC236}">
                <a16:creationId xmlns:a16="http://schemas.microsoft.com/office/drawing/2014/main" id="{E84DAA2C-420E-34CF-CE52-4755562BB454}"/>
              </a:ext>
            </a:extLst>
          </p:cNvPr>
          <p:cNvPicPr>
            <a:picLocks noGrp="1" noChangeAspect="1"/>
          </p:cNvPicPr>
          <p:nvPr>
            <p:ph sz="half" idx="2"/>
          </p:nvPr>
        </p:nvPicPr>
        <p:blipFill>
          <a:blip r:embed="rId2"/>
          <a:stretch>
            <a:fillRect/>
          </a:stretch>
        </p:blipFill>
        <p:spPr>
          <a:xfrm>
            <a:off x="7044692" y="2760199"/>
            <a:ext cx="4554791" cy="2058335"/>
          </a:xfrm>
        </p:spPr>
      </p:pic>
      <p:sp>
        <p:nvSpPr>
          <p:cNvPr id="5" name="Date Placeholder 4">
            <a:extLst>
              <a:ext uri="{FF2B5EF4-FFF2-40B4-BE49-F238E27FC236}">
                <a16:creationId xmlns:a16="http://schemas.microsoft.com/office/drawing/2014/main" id="{8542F0FF-64C4-7EB6-F021-22F2C444DB82}"/>
              </a:ext>
            </a:extLst>
          </p:cNvPr>
          <p:cNvSpPr>
            <a:spLocks noGrp="1"/>
          </p:cNvSpPr>
          <p:nvPr>
            <p:ph type="dt" sz="half" idx="10"/>
          </p:nvPr>
        </p:nvSpPr>
        <p:spPr/>
        <p:txBody>
          <a:bodyPr/>
          <a:lstStyle/>
          <a:p>
            <a:fld id="{B4330940-C2BB-4451-AAC4-4D59E6AFD8F8}" type="datetime1">
              <a:rPr lang="en-US" smtClean="0"/>
              <a:t>5/2/2023</a:t>
            </a:fld>
            <a:endParaRPr lang="en-US"/>
          </a:p>
        </p:txBody>
      </p:sp>
      <p:sp>
        <p:nvSpPr>
          <p:cNvPr id="6" name="Footer Placeholder 5">
            <a:extLst>
              <a:ext uri="{FF2B5EF4-FFF2-40B4-BE49-F238E27FC236}">
                <a16:creationId xmlns:a16="http://schemas.microsoft.com/office/drawing/2014/main" id="{3985FD86-C63F-71F1-33F0-ED1691ED6D87}"/>
              </a:ext>
            </a:extLst>
          </p:cNvPr>
          <p:cNvSpPr>
            <a:spLocks noGrp="1"/>
          </p:cNvSpPr>
          <p:nvPr>
            <p:ph type="ftr" sz="quarter" idx="11"/>
          </p:nvPr>
        </p:nvSpPr>
        <p:spPr/>
        <p:txBody>
          <a:bodyPr/>
          <a:lstStyle/>
          <a:p>
            <a:r>
              <a:rPr lang="en-US"/>
              <a:t>Chowdhury Mujaddid Ahmed</a:t>
            </a:r>
          </a:p>
        </p:txBody>
      </p:sp>
      <p:sp>
        <p:nvSpPr>
          <p:cNvPr id="7" name="Slide Number Placeholder 6">
            <a:extLst>
              <a:ext uri="{FF2B5EF4-FFF2-40B4-BE49-F238E27FC236}">
                <a16:creationId xmlns:a16="http://schemas.microsoft.com/office/drawing/2014/main" id="{057C6A23-D9E8-66C6-972B-BDC2FF1C8811}"/>
              </a:ext>
            </a:extLst>
          </p:cNvPr>
          <p:cNvSpPr>
            <a:spLocks noGrp="1"/>
          </p:cNvSpPr>
          <p:nvPr>
            <p:ph type="sldNum" sz="quarter" idx="12"/>
          </p:nvPr>
        </p:nvSpPr>
        <p:spPr/>
        <p:txBody>
          <a:bodyPr/>
          <a:lstStyle/>
          <a:p>
            <a:fld id="{FE6E6D8B-34B2-43B1-858A-2A2C0E1C997D}" type="slidenum">
              <a:rPr lang="en-US" smtClean="0"/>
              <a:t>2</a:t>
            </a:fld>
            <a:endParaRPr lang="en-US"/>
          </a:p>
        </p:txBody>
      </p:sp>
      <p:pic>
        <p:nvPicPr>
          <p:cNvPr id="12" name="Content Placeholder 11">
            <a:extLst>
              <a:ext uri="{FF2B5EF4-FFF2-40B4-BE49-F238E27FC236}">
                <a16:creationId xmlns:a16="http://schemas.microsoft.com/office/drawing/2014/main" id="{C9ECACAC-23E7-1750-59C5-CABCC05697FB}"/>
              </a:ext>
            </a:extLst>
          </p:cNvPr>
          <p:cNvPicPr>
            <a:picLocks noGrp="1" noChangeAspect="1"/>
          </p:cNvPicPr>
          <p:nvPr>
            <p:ph sz="half" idx="1"/>
          </p:nvPr>
        </p:nvPicPr>
        <p:blipFill>
          <a:blip r:embed="rId3"/>
          <a:stretch>
            <a:fillRect/>
          </a:stretch>
        </p:blipFill>
        <p:spPr>
          <a:xfrm>
            <a:off x="592517" y="2673572"/>
            <a:ext cx="5846783" cy="2380987"/>
          </a:xfrm>
        </p:spPr>
      </p:pic>
      <p:cxnSp>
        <p:nvCxnSpPr>
          <p:cNvPr id="16" name="Straight Connector 15">
            <a:extLst>
              <a:ext uri="{FF2B5EF4-FFF2-40B4-BE49-F238E27FC236}">
                <a16:creationId xmlns:a16="http://schemas.microsoft.com/office/drawing/2014/main" id="{FEB8734B-5BF8-CF6E-FAF2-9DC9B10BFCD8}"/>
              </a:ext>
            </a:extLst>
          </p:cNvPr>
          <p:cNvCxnSpPr/>
          <p:nvPr/>
        </p:nvCxnSpPr>
        <p:spPr>
          <a:xfrm>
            <a:off x="6554804" y="2107933"/>
            <a:ext cx="0" cy="3599848"/>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21427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5D166B3-C07C-26F0-F9D8-A5CFD277DB60}"/>
              </a:ext>
            </a:extLst>
          </p:cNvPr>
          <p:cNvSpPr>
            <a:spLocks noGrp="1"/>
          </p:cNvSpPr>
          <p:nvPr>
            <p:ph type="dt" sz="half" idx="10"/>
          </p:nvPr>
        </p:nvSpPr>
        <p:spPr/>
        <p:txBody>
          <a:bodyPr/>
          <a:lstStyle/>
          <a:p>
            <a:fld id="{B4330940-C2BB-4451-AAC4-4D59E6AFD8F8}" type="datetime1">
              <a:rPr lang="en-US" smtClean="0"/>
              <a:t>5/2/2023</a:t>
            </a:fld>
            <a:endParaRPr lang="en-US"/>
          </a:p>
        </p:txBody>
      </p:sp>
      <p:sp>
        <p:nvSpPr>
          <p:cNvPr id="6" name="Footer Placeholder 5">
            <a:extLst>
              <a:ext uri="{FF2B5EF4-FFF2-40B4-BE49-F238E27FC236}">
                <a16:creationId xmlns:a16="http://schemas.microsoft.com/office/drawing/2014/main" id="{A8414618-854A-2175-DE5B-521CBCB7A32A}"/>
              </a:ext>
            </a:extLst>
          </p:cNvPr>
          <p:cNvSpPr>
            <a:spLocks noGrp="1"/>
          </p:cNvSpPr>
          <p:nvPr>
            <p:ph type="ftr" sz="quarter" idx="11"/>
          </p:nvPr>
        </p:nvSpPr>
        <p:spPr/>
        <p:txBody>
          <a:bodyPr/>
          <a:lstStyle/>
          <a:p>
            <a:r>
              <a:rPr lang="en-US"/>
              <a:t>Chowdhury Mujaddid Ahmed</a:t>
            </a:r>
          </a:p>
        </p:txBody>
      </p:sp>
      <p:sp>
        <p:nvSpPr>
          <p:cNvPr id="7" name="Slide Number Placeholder 6">
            <a:extLst>
              <a:ext uri="{FF2B5EF4-FFF2-40B4-BE49-F238E27FC236}">
                <a16:creationId xmlns:a16="http://schemas.microsoft.com/office/drawing/2014/main" id="{7F1E80D7-8EDD-93B7-98DB-BF6A9D0C5528}"/>
              </a:ext>
            </a:extLst>
          </p:cNvPr>
          <p:cNvSpPr>
            <a:spLocks noGrp="1"/>
          </p:cNvSpPr>
          <p:nvPr>
            <p:ph type="sldNum" sz="quarter" idx="12"/>
          </p:nvPr>
        </p:nvSpPr>
        <p:spPr/>
        <p:txBody>
          <a:bodyPr/>
          <a:lstStyle/>
          <a:p>
            <a:fld id="{FE6E6D8B-34B2-43B1-858A-2A2C0E1C997D}" type="slidenum">
              <a:rPr lang="en-US" smtClean="0"/>
              <a:t>3</a:t>
            </a:fld>
            <a:endParaRPr lang="en-US"/>
          </a:p>
        </p:txBody>
      </p:sp>
      <p:pic>
        <p:nvPicPr>
          <p:cNvPr id="10" name="Picture 9">
            <a:extLst>
              <a:ext uri="{FF2B5EF4-FFF2-40B4-BE49-F238E27FC236}">
                <a16:creationId xmlns:a16="http://schemas.microsoft.com/office/drawing/2014/main" id="{20F34D41-2926-01B6-6BDC-EC4AF927DF78}"/>
              </a:ext>
            </a:extLst>
          </p:cNvPr>
          <p:cNvPicPr>
            <a:picLocks noChangeAspect="1"/>
          </p:cNvPicPr>
          <p:nvPr/>
        </p:nvPicPr>
        <p:blipFill>
          <a:blip r:embed="rId2"/>
          <a:stretch>
            <a:fillRect/>
          </a:stretch>
        </p:blipFill>
        <p:spPr>
          <a:xfrm>
            <a:off x="154449" y="293846"/>
            <a:ext cx="5114501" cy="2458979"/>
          </a:xfrm>
          <a:prstGeom prst="rect">
            <a:avLst/>
          </a:prstGeom>
        </p:spPr>
      </p:pic>
      <p:pic>
        <p:nvPicPr>
          <p:cNvPr id="12" name="Picture 11">
            <a:extLst>
              <a:ext uri="{FF2B5EF4-FFF2-40B4-BE49-F238E27FC236}">
                <a16:creationId xmlns:a16="http://schemas.microsoft.com/office/drawing/2014/main" id="{02B92961-A4C3-DFAB-5296-B35AEE4D813C}"/>
              </a:ext>
            </a:extLst>
          </p:cNvPr>
          <p:cNvPicPr>
            <a:picLocks noChangeAspect="1"/>
          </p:cNvPicPr>
          <p:nvPr/>
        </p:nvPicPr>
        <p:blipFill>
          <a:blip r:embed="rId3"/>
          <a:stretch>
            <a:fillRect/>
          </a:stretch>
        </p:blipFill>
        <p:spPr>
          <a:xfrm>
            <a:off x="60020" y="2828560"/>
            <a:ext cx="5303358" cy="1726027"/>
          </a:xfrm>
          <a:prstGeom prst="rect">
            <a:avLst/>
          </a:prstGeom>
        </p:spPr>
      </p:pic>
      <p:pic>
        <p:nvPicPr>
          <p:cNvPr id="14" name="Picture 13">
            <a:extLst>
              <a:ext uri="{FF2B5EF4-FFF2-40B4-BE49-F238E27FC236}">
                <a16:creationId xmlns:a16="http://schemas.microsoft.com/office/drawing/2014/main" id="{FB5C7259-56EB-6410-B71D-B8534644697E}"/>
              </a:ext>
            </a:extLst>
          </p:cNvPr>
          <p:cNvPicPr>
            <a:picLocks noChangeAspect="1"/>
          </p:cNvPicPr>
          <p:nvPr/>
        </p:nvPicPr>
        <p:blipFill>
          <a:blip r:embed="rId4"/>
          <a:stretch>
            <a:fillRect/>
          </a:stretch>
        </p:blipFill>
        <p:spPr>
          <a:xfrm>
            <a:off x="60020" y="4696450"/>
            <a:ext cx="5303358" cy="1659900"/>
          </a:xfrm>
          <a:prstGeom prst="rect">
            <a:avLst/>
          </a:prstGeom>
        </p:spPr>
      </p:pic>
      <p:pic>
        <p:nvPicPr>
          <p:cNvPr id="16" name="Picture 15">
            <a:extLst>
              <a:ext uri="{FF2B5EF4-FFF2-40B4-BE49-F238E27FC236}">
                <a16:creationId xmlns:a16="http://schemas.microsoft.com/office/drawing/2014/main" id="{214AC27E-4E74-0A30-EE9D-C28B0C1DBB80}"/>
              </a:ext>
            </a:extLst>
          </p:cNvPr>
          <p:cNvPicPr>
            <a:picLocks noChangeAspect="1"/>
          </p:cNvPicPr>
          <p:nvPr/>
        </p:nvPicPr>
        <p:blipFill>
          <a:blip r:embed="rId5"/>
          <a:stretch>
            <a:fillRect/>
          </a:stretch>
        </p:blipFill>
        <p:spPr>
          <a:xfrm>
            <a:off x="5657663" y="293846"/>
            <a:ext cx="5696137" cy="1943447"/>
          </a:xfrm>
          <a:prstGeom prst="rect">
            <a:avLst/>
          </a:prstGeom>
        </p:spPr>
      </p:pic>
      <p:pic>
        <p:nvPicPr>
          <p:cNvPr id="18" name="Picture 17">
            <a:extLst>
              <a:ext uri="{FF2B5EF4-FFF2-40B4-BE49-F238E27FC236}">
                <a16:creationId xmlns:a16="http://schemas.microsoft.com/office/drawing/2014/main" id="{75FAE504-F528-043A-6CF2-4B42D14EB8E2}"/>
              </a:ext>
            </a:extLst>
          </p:cNvPr>
          <p:cNvPicPr>
            <a:picLocks noChangeAspect="1"/>
          </p:cNvPicPr>
          <p:nvPr/>
        </p:nvPicPr>
        <p:blipFill>
          <a:blip r:embed="rId6"/>
          <a:stretch>
            <a:fillRect/>
          </a:stretch>
        </p:blipFill>
        <p:spPr>
          <a:xfrm>
            <a:off x="5848011" y="2599105"/>
            <a:ext cx="5525178" cy="2184935"/>
          </a:xfrm>
          <a:prstGeom prst="rect">
            <a:avLst/>
          </a:prstGeom>
        </p:spPr>
      </p:pic>
      <p:sp>
        <p:nvSpPr>
          <p:cNvPr id="19" name="TextBox 18">
            <a:extLst>
              <a:ext uri="{FF2B5EF4-FFF2-40B4-BE49-F238E27FC236}">
                <a16:creationId xmlns:a16="http://schemas.microsoft.com/office/drawing/2014/main" id="{4FA4E3C0-0A6E-BE3A-A13E-426C2B096123}"/>
              </a:ext>
            </a:extLst>
          </p:cNvPr>
          <p:cNvSpPr txBox="1"/>
          <p:nvPr/>
        </p:nvSpPr>
        <p:spPr>
          <a:xfrm>
            <a:off x="6828624" y="5270803"/>
            <a:ext cx="4433374" cy="369332"/>
          </a:xfrm>
          <a:prstGeom prst="rect">
            <a:avLst/>
          </a:prstGeom>
          <a:noFill/>
        </p:spPr>
        <p:txBody>
          <a:bodyPr wrap="square" rtlCol="0">
            <a:spAutoFit/>
          </a:bodyPr>
          <a:lstStyle/>
          <a:p>
            <a:r>
              <a:rPr lang="en-US" dirty="0"/>
              <a:t>Source: GDP vs GNP (wallstreetmojo.com)</a:t>
            </a:r>
          </a:p>
        </p:txBody>
      </p:sp>
    </p:spTree>
    <p:extLst>
      <p:ext uri="{BB962C8B-B14F-4D97-AF65-F5344CB8AC3E}">
        <p14:creationId xmlns:p14="http://schemas.microsoft.com/office/powerpoint/2010/main" val="1170754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1AE43-B750-E086-46C2-7A9664522FDF}"/>
              </a:ext>
            </a:extLst>
          </p:cNvPr>
          <p:cNvSpPr>
            <a:spLocks noGrp="1"/>
          </p:cNvSpPr>
          <p:nvPr>
            <p:ph type="title"/>
          </p:nvPr>
        </p:nvSpPr>
        <p:spPr/>
        <p:txBody>
          <a:bodyPr/>
          <a:lstStyle/>
          <a:p>
            <a:pPr algn="ctr"/>
            <a:r>
              <a:rPr lang="en-US" dirty="0">
                <a:latin typeface="Arial Rounded MT Bold" panose="020F0704030504030204" pitchFamily="34" charset="0"/>
              </a:rPr>
              <a:t>What is a sector? </a:t>
            </a:r>
          </a:p>
        </p:txBody>
      </p:sp>
      <p:sp>
        <p:nvSpPr>
          <p:cNvPr id="3" name="Content Placeholder 2">
            <a:extLst>
              <a:ext uri="{FF2B5EF4-FFF2-40B4-BE49-F238E27FC236}">
                <a16:creationId xmlns:a16="http://schemas.microsoft.com/office/drawing/2014/main" id="{F572D84C-1036-338E-3AC0-0EA4FF282B05}"/>
              </a:ext>
            </a:extLst>
          </p:cNvPr>
          <p:cNvSpPr>
            <a:spLocks noGrp="1"/>
          </p:cNvSpPr>
          <p:nvPr>
            <p:ph idx="1"/>
          </p:nvPr>
        </p:nvSpPr>
        <p:spPr/>
        <p:txBody>
          <a:bodyPr/>
          <a:lstStyle/>
          <a:p>
            <a:r>
              <a:rPr lang="en-US" dirty="0"/>
              <a:t>A sector refers to a broad economic segment that contains industries while an industry falls within a sector and breaks down according to more specific companies and business activities.</a:t>
            </a:r>
          </a:p>
          <a:p>
            <a:r>
              <a:rPr lang="en-US" dirty="0"/>
              <a:t>Although some may think of them as the same, the terms "industry" and "sector" have </a:t>
            </a:r>
            <a:r>
              <a:rPr lang="en-US" b="1" dirty="0"/>
              <a:t>different meanings</a:t>
            </a:r>
            <a:r>
              <a:rPr lang="en-US" dirty="0"/>
              <a:t>. Industry refers to a specific group of similar types of companies, while sector describes a large segment of the economy. In the stock market, the generally accepted terminology cites a sector as a broad classification and an industry as a more narrow one.</a:t>
            </a:r>
          </a:p>
        </p:txBody>
      </p:sp>
      <p:sp>
        <p:nvSpPr>
          <p:cNvPr id="4" name="Date Placeholder 3">
            <a:extLst>
              <a:ext uri="{FF2B5EF4-FFF2-40B4-BE49-F238E27FC236}">
                <a16:creationId xmlns:a16="http://schemas.microsoft.com/office/drawing/2014/main" id="{86E1B05E-C7CF-1412-09B7-9FF606BDF825}"/>
              </a:ext>
            </a:extLst>
          </p:cNvPr>
          <p:cNvSpPr>
            <a:spLocks noGrp="1"/>
          </p:cNvSpPr>
          <p:nvPr>
            <p:ph type="dt" sz="half" idx="10"/>
          </p:nvPr>
        </p:nvSpPr>
        <p:spPr/>
        <p:txBody>
          <a:bodyPr/>
          <a:lstStyle/>
          <a:p>
            <a:fld id="{A43C9114-7CF0-40AC-BE7E-472E4E9BA346}" type="datetime1">
              <a:rPr lang="en-US" smtClean="0"/>
              <a:t>5/1/2023</a:t>
            </a:fld>
            <a:endParaRPr lang="en-US"/>
          </a:p>
        </p:txBody>
      </p:sp>
      <p:sp>
        <p:nvSpPr>
          <p:cNvPr id="5" name="Footer Placeholder 4">
            <a:extLst>
              <a:ext uri="{FF2B5EF4-FFF2-40B4-BE49-F238E27FC236}">
                <a16:creationId xmlns:a16="http://schemas.microsoft.com/office/drawing/2014/main" id="{66E57D0A-E95F-C570-94E6-7077936825B3}"/>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621A1756-1D6D-25AF-97EB-39DE1B839595}"/>
              </a:ext>
            </a:extLst>
          </p:cNvPr>
          <p:cNvSpPr>
            <a:spLocks noGrp="1"/>
          </p:cNvSpPr>
          <p:nvPr>
            <p:ph type="sldNum" sz="quarter" idx="12"/>
          </p:nvPr>
        </p:nvSpPr>
        <p:spPr/>
        <p:txBody>
          <a:bodyPr/>
          <a:lstStyle/>
          <a:p>
            <a:fld id="{FE6E6D8B-34B2-43B1-858A-2A2C0E1C997D}" type="slidenum">
              <a:rPr lang="en-US" smtClean="0"/>
              <a:t>4</a:t>
            </a:fld>
            <a:endParaRPr lang="en-US"/>
          </a:p>
        </p:txBody>
      </p:sp>
    </p:spTree>
    <p:extLst>
      <p:ext uri="{BB962C8B-B14F-4D97-AF65-F5344CB8AC3E}">
        <p14:creationId xmlns:p14="http://schemas.microsoft.com/office/powerpoint/2010/main" val="1703586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3A148-F8C0-E2FD-F495-064DF80170F1}"/>
              </a:ext>
            </a:extLst>
          </p:cNvPr>
          <p:cNvSpPr>
            <a:spLocks noGrp="1"/>
          </p:cNvSpPr>
          <p:nvPr>
            <p:ph type="title"/>
          </p:nvPr>
        </p:nvSpPr>
        <p:spPr/>
        <p:txBody>
          <a:bodyPr/>
          <a:lstStyle/>
          <a:p>
            <a:pPr algn="ctr"/>
            <a:r>
              <a:rPr lang="en-US" dirty="0">
                <a:latin typeface="Arial Rounded MT Bold" panose="020F0704030504030204" pitchFamily="34" charset="0"/>
              </a:rPr>
              <a:t>What is an industry?</a:t>
            </a:r>
          </a:p>
        </p:txBody>
      </p:sp>
      <p:sp>
        <p:nvSpPr>
          <p:cNvPr id="3" name="Content Placeholder 2">
            <a:extLst>
              <a:ext uri="{FF2B5EF4-FFF2-40B4-BE49-F238E27FC236}">
                <a16:creationId xmlns:a16="http://schemas.microsoft.com/office/drawing/2014/main" id="{D6F431CB-1D39-739D-A077-6620B862976B}"/>
              </a:ext>
            </a:extLst>
          </p:cNvPr>
          <p:cNvSpPr>
            <a:spLocks noGrp="1"/>
          </p:cNvSpPr>
          <p:nvPr>
            <p:ph sz="half" idx="1"/>
          </p:nvPr>
        </p:nvSpPr>
        <p:spPr>
          <a:xfrm>
            <a:off x="838200" y="1825625"/>
            <a:ext cx="5514474" cy="4351338"/>
          </a:xfrm>
        </p:spPr>
        <p:txBody>
          <a:bodyPr>
            <a:normAutofit/>
          </a:bodyPr>
          <a:lstStyle/>
          <a:p>
            <a:r>
              <a:rPr lang="en-US" dirty="0"/>
              <a:t>Individual companies are generally classified into an industry based on their largest sources of revenue. For example, while an automobile manufacturer might have a financing division that contributes 10% to the firm's overall revenues, the company would be classified in the automaker industry by most classification systems.</a:t>
            </a:r>
          </a:p>
        </p:txBody>
      </p:sp>
      <p:pic>
        <p:nvPicPr>
          <p:cNvPr id="5" name="Content Placeholder 4">
            <a:extLst>
              <a:ext uri="{FF2B5EF4-FFF2-40B4-BE49-F238E27FC236}">
                <a16:creationId xmlns:a16="http://schemas.microsoft.com/office/drawing/2014/main" id="{35AE7645-CDA3-29F4-768C-322687D2C37C}"/>
              </a:ext>
            </a:extLst>
          </p:cNvPr>
          <p:cNvPicPr>
            <a:picLocks noGrp="1" noChangeAspect="1"/>
          </p:cNvPicPr>
          <p:nvPr>
            <p:ph sz="half" idx="2"/>
          </p:nvPr>
        </p:nvPicPr>
        <p:blipFill>
          <a:blip r:embed="rId2"/>
          <a:stretch>
            <a:fillRect/>
          </a:stretch>
        </p:blipFill>
        <p:spPr>
          <a:xfrm>
            <a:off x="6624587" y="1825625"/>
            <a:ext cx="5181600" cy="3454400"/>
          </a:xfrm>
          <a:prstGeom prst="rect">
            <a:avLst/>
          </a:prstGeom>
        </p:spPr>
      </p:pic>
      <p:sp>
        <p:nvSpPr>
          <p:cNvPr id="6" name="Date Placeholder 5">
            <a:extLst>
              <a:ext uri="{FF2B5EF4-FFF2-40B4-BE49-F238E27FC236}">
                <a16:creationId xmlns:a16="http://schemas.microsoft.com/office/drawing/2014/main" id="{F8EF6096-988E-D383-AD8F-618146013CBB}"/>
              </a:ext>
            </a:extLst>
          </p:cNvPr>
          <p:cNvSpPr>
            <a:spLocks noGrp="1"/>
          </p:cNvSpPr>
          <p:nvPr>
            <p:ph type="dt" sz="half" idx="10"/>
          </p:nvPr>
        </p:nvSpPr>
        <p:spPr/>
        <p:txBody>
          <a:bodyPr/>
          <a:lstStyle/>
          <a:p>
            <a:fld id="{EFF9D4C4-55A3-4D97-A903-C968C09E89CC}" type="datetime1">
              <a:rPr lang="en-US" smtClean="0"/>
              <a:t>5/1/2023</a:t>
            </a:fld>
            <a:endParaRPr lang="en-US"/>
          </a:p>
        </p:txBody>
      </p:sp>
      <p:sp>
        <p:nvSpPr>
          <p:cNvPr id="7" name="Footer Placeholder 6">
            <a:extLst>
              <a:ext uri="{FF2B5EF4-FFF2-40B4-BE49-F238E27FC236}">
                <a16:creationId xmlns:a16="http://schemas.microsoft.com/office/drawing/2014/main" id="{132A3945-0987-41ED-C781-1AD3F408DDE0}"/>
              </a:ext>
            </a:extLst>
          </p:cNvPr>
          <p:cNvSpPr>
            <a:spLocks noGrp="1"/>
          </p:cNvSpPr>
          <p:nvPr>
            <p:ph type="ftr" sz="quarter" idx="11"/>
          </p:nvPr>
        </p:nvSpPr>
        <p:spPr/>
        <p:txBody>
          <a:bodyPr/>
          <a:lstStyle/>
          <a:p>
            <a:r>
              <a:rPr lang="en-US"/>
              <a:t>Chowdhury Mujaddid Ahmed</a:t>
            </a:r>
          </a:p>
        </p:txBody>
      </p:sp>
      <p:sp>
        <p:nvSpPr>
          <p:cNvPr id="8" name="Slide Number Placeholder 7">
            <a:extLst>
              <a:ext uri="{FF2B5EF4-FFF2-40B4-BE49-F238E27FC236}">
                <a16:creationId xmlns:a16="http://schemas.microsoft.com/office/drawing/2014/main" id="{C0D68F6F-C0B2-B454-17C6-98FB1C19A32D}"/>
              </a:ext>
            </a:extLst>
          </p:cNvPr>
          <p:cNvSpPr>
            <a:spLocks noGrp="1"/>
          </p:cNvSpPr>
          <p:nvPr>
            <p:ph type="sldNum" sz="quarter" idx="12"/>
          </p:nvPr>
        </p:nvSpPr>
        <p:spPr/>
        <p:txBody>
          <a:bodyPr/>
          <a:lstStyle/>
          <a:p>
            <a:fld id="{FE6E6D8B-34B2-43B1-858A-2A2C0E1C997D}" type="slidenum">
              <a:rPr lang="en-US" smtClean="0"/>
              <a:t>5</a:t>
            </a:fld>
            <a:endParaRPr lang="en-US"/>
          </a:p>
        </p:txBody>
      </p:sp>
    </p:spTree>
    <p:extLst>
      <p:ext uri="{BB962C8B-B14F-4D97-AF65-F5344CB8AC3E}">
        <p14:creationId xmlns:p14="http://schemas.microsoft.com/office/powerpoint/2010/main" val="1616793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44CBC-7C31-5E79-C2BB-A0E4AE410675}"/>
              </a:ext>
            </a:extLst>
          </p:cNvPr>
          <p:cNvSpPr>
            <a:spLocks noGrp="1"/>
          </p:cNvSpPr>
          <p:nvPr>
            <p:ph type="title"/>
          </p:nvPr>
        </p:nvSpPr>
        <p:spPr/>
        <p:txBody>
          <a:bodyPr/>
          <a:lstStyle/>
          <a:p>
            <a:pPr algn="ctr"/>
            <a:r>
              <a:rPr lang="en-US" dirty="0">
                <a:latin typeface="Arial Rounded MT Bold" panose="020F0704030504030204" pitchFamily="34" charset="0"/>
              </a:rPr>
              <a:t>Economic Sectors</a:t>
            </a:r>
          </a:p>
        </p:txBody>
      </p:sp>
      <p:pic>
        <p:nvPicPr>
          <p:cNvPr id="8" name="Content Placeholder 7">
            <a:extLst>
              <a:ext uri="{FF2B5EF4-FFF2-40B4-BE49-F238E27FC236}">
                <a16:creationId xmlns:a16="http://schemas.microsoft.com/office/drawing/2014/main" id="{8E5024CB-9B89-EFF1-5971-1C8978338308}"/>
              </a:ext>
            </a:extLst>
          </p:cNvPr>
          <p:cNvPicPr>
            <a:picLocks noGrp="1" noChangeAspect="1"/>
          </p:cNvPicPr>
          <p:nvPr>
            <p:ph idx="1"/>
          </p:nvPr>
        </p:nvPicPr>
        <p:blipFill>
          <a:blip r:embed="rId2"/>
          <a:stretch>
            <a:fillRect/>
          </a:stretch>
        </p:blipFill>
        <p:spPr>
          <a:xfrm>
            <a:off x="2830628" y="1507991"/>
            <a:ext cx="6356297" cy="4729179"/>
          </a:xfrm>
        </p:spPr>
      </p:pic>
      <p:sp>
        <p:nvSpPr>
          <p:cNvPr id="4" name="Date Placeholder 3">
            <a:extLst>
              <a:ext uri="{FF2B5EF4-FFF2-40B4-BE49-F238E27FC236}">
                <a16:creationId xmlns:a16="http://schemas.microsoft.com/office/drawing/2014/main" id="{6E6BE9A7-AF6F-ABB5-4D12-AAE2ABBAF6C4}"/>
              </a:ext>
            </a:extLst>
          </p:cNvPr>
          <p:cNvSpPr>
            <a:spLocks noGrp="1"/>
          </p:cNvSpPr>
          <p:nvPr>
            <p:ph type="dt" sz="half" idx="10"/>
          </p:nvPr>
        </p:nvSpPr>
        <p:spPr/>
        <p:txBody>
          <a:bodyPr/>
          <a:lstStyle/>
          <a:p>
            <a:fld id="{58FF2F16-2CC6-47C4-B72C-C2ACC24A232E}" type="datetime1">
              <a:rPr lang="en-US" smtClean="0"/>
              <a:t>5/1/2023</a:t>
            </a:fld>
            <a:endParaRPr lang="en-US"/>
          </a:p>
        </p:txBody>
      </p:sp>
      <p:sp>
        <p:nvSpPr>
          <p:cNvPr id="5" name="Footer Placeholder 4">
            <a:extLst>
              <a:ext uri="{FF2B5EF4-FFF2-40B4-BE49-F238E27FC236}">
                <a16:creationId xmlns:a16="http://schemas.microsoft.com/office/drawing/2014/main" id="{7A3E6364-8F06-DEDC-B6D6-B8D3A0483E6D}"/>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235F3B33-6690-C76E-04D1-59769E748065}"/>
              </a:ext>
            </a:extLst>
          </p:cNvPr>
          <p:cNvSpPr>
            <a:spLocks noGrp="1"/>
          </p:cNvSpPr>
          <p:nvPr>
            <p:ph type="sldNum" sz="quarter" idx="12"/>
          </p:nvPr>
        </p:nvSpPr>
        <p:spPr/>
        <p:txBody>
          <a:bodyPr/>
          <a:lstStyle/>
          <a:p>
            <a:fld id="{FE6E6D8B-34B2-43B1-858A-2A2C0E1C997D}" type="slidenum">
              <a:rPr lang="en-US" smtClean="0"/>
              <a:t>6</a:t>
            </a:fld>
            <a:endParaRPr lang="en-US"/>
          </a:p>
        </p:txBody>
      </p:sp>
    </p:spTree>
    <p:extLst>
      <p:ext uri="{BB962C8B-B14F-4D97-AF65-F5344CB8AC3E}">
        <p14:creationId xmlns:p14="http://schemas.microsoft.com/office/powerpoint/2010/main" val="3383194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9979E-3167-00BD-1F2B-3B1BC380AC31}"/>
              </a:ext>
            </a:extLst>
          </p:cNvPr>
          <p:cNvSpPr>
            <a:spLocks noGrp="1"/>
          </p:cNvSpPr>
          <p:nvPr>
            <p:ph type="title"/>
          </p:nvPr>
        </p:nvSpPr>
        <p:spPr/>
        <p:txBody>
          <a:bodyPr/>
          <a:lstStyle/>
          <a:p>
            <a:pPr algn="ctr"/>
            <a:r>
              <a:rPr lang="en-US" dirty="0">
                <a:latin typeface="Arial Rounded MT Bold" panose="020F0704030504030204" pitchFamily="34" charset="0"/>
              </a:rPr>
              <a:t>Economic sectors of Bangladesh </a:t>
            </a:r>
          </a:p>
        </p:txBody>
      </p:sp>
      <p:pic>
        <p:nvPicPr>
          <p:cNvPr id="8" name="Content Placeholder 7">
            <a:extLst>
              <a:ext uri="{FF2B5EF4-FFF2-40B4-BE49-F238E27FC236}">
                <a16:creationId xmlns:a16="http://schemas.microsoft.com/office/drawing/2014/main" id="{C0978F4C-AF39-BC2F-6B6A-04E5345A51F9}"/>
              </a:ext>
            </a:extLst>
          </p:cNvPr>
          <p:cNvPicPr>
            <a:picLocks noGrp="1" noChangeAspect="1"/>
          </p:cNvPicPr>
          <p:nvPr>
            <p:ph idx="1"/>
          </p:nvPr>
        </p:nvPicPr>
        <p:blipFill>
          <a:blip r:embed="rId2"/>
          <a:stretch>
            <a:fillRect/>
          </a:stretch>
        </p:blipFill>
        <p:spPr>
          <a:xfrm>
            <a:off x="2209800" y="1459681"/>
            <a:ext cx="7460378" cy="4758033"/>
          </a:xfrm>
        </p:spPr>
      </p:pic>
      <p:sp>
        <p:nvSpPr>
          <p:cNvPr id="4" name="Date Placeholder 3">
            <a:extLst>
              <a:ext uri="{FF2B5EF4-FFF2-40B4-BE49-F238E27FC236}">
                <a16:creationId xmlns:a16="http://schemas.microsoft.com/office/drawing/2014/main" id="{661EB051-27B7-9C1C-8F35-8D5C8A5566D6}"/>
              </a:ext>
            </a:extLst>
          </p:cNvPr>
          <p:cNvSpPr>
            <a:spLocks noGrp="1"/>
          </p:cNvSpPr>
          <p:nvPr>
            <p:ph type="dt" sz="half" idx="10"/>
          </p:nvPr>
        </p:nvSpPr>
        <p:spPr/>
        <p:txBody>
          <a:bodyPr/>
          <a:lstStyle/>
          <a:p>
            <a:fld id="{58FF2F16-2CC6-47C4-B72C-C2ACC24A232E}" type="datetime1">
              <a:rPr lang="en-US" smtClean="0"/>
              <a:t>5/1/2023</a:t>
            </a:fld>
            <a:endParaRPr lang="en-US"/>
          </a:p>
        </p:txBody>
      </p:sp>
      <p:sp>
        <p:nvSpPr>
          <p:cNvPr id="5" name="Footer Placeholder 4">
            <a:extLst>
              <a:ext uri="{FF2B5EF4-FFF2-40B4-BE49-F238E27FC236}">
                <a16:creationId xmlns:a16="http://schemas.microsoft.com/office/drawing/2014/main" id="{A61B00E5-E1D3-901F-693D-8DB5F4762D79}"/>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B21503D2-3E17-9A6D-DBA9-CAE647E6E8D7}"/>
              </a:ext>
            </a:extLst>
          </p:cNvPr>
          <p:cNvSpPr>
            <a:spLocks noGrp="1"/>
          </p:cNvSpPr>
          <p:nvPr>
            <p:ph type="sldNum" sz="quarter" idx="12"/>
          </p:nvPr>
        </p:nvSpPr>
        <p:spPr/>
        <p:txBody>
          <a:bodyPr/>
          <a:lstStyle/>
          <a:p>
            <a:fld id="{FE6E6D8B-34B2-43B1-858A-2A2C0E1C997D}" type="slidenum">
              <a:rPr lang="en-US" smtClean="0"/>
              <a:t>7</a:t>
            </a:fld>
            <a:endParaRPr lang="en-US"/>
          </a:p>
        </p:txBody>
      </p:sp>
      <p:sp>
        <p:nvSpPr>
          <p:cNvPr id="9" name="TextBox 8">
            <a:extLst>
              <a:ext uri="{FF2B5EF4-FFF2-40B4-BE49-F238E27FC236}">
                <a16:creationId xmlns:a16="http://schemas.microsoft.com/office/drawing/2014/main" id="{2DDACFC2-7D23-ED08-8902-E9CB249FCBA9}"/>
              </a:ext>
            </a:extLst>
          </p:cNvPr>
          <p:cNvSpPr txBox="1"/>
          <p:nvPr/>
        </p:nvSpPr>
        <p:spPr>
          <a:xfrm>
            <a:off x="9982200" y="5534526"/>
            <a:ext cx="1558491" cy="369332"/>
          </a:xfrm>
          <a:prstGeom prst="rect">
            <a:avLst/>
          </a:prstGeom>
          <a:noFill/>
        </p:spPr>
        <p:txBody>
          <a:bodyPr wrap="square" rtlCol="0">
            <a:spAutoFit/>
          </a:bodyPr>
          <a:lstStyle/>
          <a:p>
            <a:r>
              <a:rPr lang="en-US" dirty="0">
                <a:hlinkClick r:id="rId3"/>
              </a:rPr>
              <a:t>Statista.com</a:t>
            </a:r>
            <a:endParaRPr lang="en-US" dirty="0"/>
          </a:p>
        </p:txBody>
      </p:sp>
    </p:spTree>
    <p:extLst>
      <p:ext uri="{BB962C8B-B14F-4D97-AF65-F5344CB8AC3E}">
        <p14:creationId xmlns:p14="http://schemas.microsoft.com/office/powerpoint/2010/main" val="1703212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15B6A-C5FD-496E-1C10-1B637C3A67CA}"/>
              </a:ext>
            </a:extLst>
          </p:cNvPr>
          <p:cNvSpPr>
            <a:spLocks noGrp="1"/>
          </p:cNvSpPr>
          <p:nvPr>
            <p:ph type="title"/>
          </p:nvPr>
        </p:nvSpPr>
        <p:spPr/>
        <p:txBody>
          <a:bodyPr/>
          <a:lstStyle/>
          <a:p>
            <a:pPr algn="ctr"/>
            <a:r>
              <a:rPr lang="en-US" dirty="0">
                <a:latin typeface="Arial Rounded MT Bold" panose="020F0704030504030204" pitchFamily="34" charset="0"/>
              </a:rPr>
              <a:t>Major Industries of Bangladesh </a:t>
            </a:r>
          </a:p>
        </p:txBody>
      </p:sp>
      <p:sp>
        <p:nvSpPr>
          <p:cNvPr id="3" name="Content Placeholder 2">
            <a:extLst>
              <a:ext uri="{FF2B5EF4-FFF2-40B4-BE49-F238E27FC236}">
                <a16:creationId xmlns:a16="http://schemas.microsoft.com/office/drawing/2014/main" id="{2AFE7275-A00D-FD52-2642-068348B660FB}"/>
              </a:ext>
            </a:extLst>
          </p:cNvPr>
          <p:cNvSpPr>
            <a:spLocks noGrp="1"/>
          </p:cNvSpPr>
          <p:nvPr>
            <p:ph idx="1"/>
          </p:nvPr>
        </p:nvSpPr>
        <p:spPr/>
        <p:txBody>
          <a:bodyPr/>
          <a:lstStyle/>
          <a:p>
            <a:r>
              <a:rPr lang="en-US" dirty="0"/>
              <a:t>RMG and Textile Industry</a:t>
            </a:r>
          </a:p>
          <a:p>
            <a:r>
              <a:rPr lang="en-US" dirty="0"/>
              <a:t>Agriculture</a:t>
            </a:r>
          </a:p>
          <a:p>
            <a:r>
              <a:rPr lang="en-US" dirty="0"/>
              <a:t>Leather Industry</a:t>
            </a:r>
          </a:p>
          <a:p>
            <a:r>
              <a:rPr lang="en-US" dirty="0"/>
              <a:t>Fisheries</a:t>
            </a:r>
          </a:p>
          <a:p>
            <a:r>
              <a:rPr lang="en-US" dirty="0"/>
              <a:t>Pharmaceuticals</a:t>
            </a:r>
          </a:p>
          <a:p>
            <a:r>
              <a:rPr lang="en-US" dirty="0"/>
              <a:t>Software Service Industry</a:t>
            </a:r>
          </a:p>
        </p:txBody>
      </p:sp>
      <p:sp>
        <p:nvSpPr>
          <p:cNvPr id="4" name="Date Placeholder 3">
            <a:extLst>
              <a:ext uri="{FF2B5EF4-FFF2-40B4-BE49-F238E27FC236}">
                <a16:creationId xmlns:a16="http://schemas.microsoft.com/office/drawing/2014/main" id="{39BCEA60-2DE6-AA41-D90D-6B959F0B79A2}"/>
              </a:ext>
            </a:extLst>
          </p:cNvPr>
          <p:cNvSpPr>
            <a:spLocks noGrp="1"/>
          </p:cNvSpPr>
          <p:nvPr>
            <p:ph type="dt" sz="half" idx="10"/>
          </p:nvPr>
        </p:nvSpPr>
        <p:spPr/>
        <p:txBody>
          <a:bodyPr/>
          <a:lstStyle/>
          <a:p>
            <a:fld id="{58FF2F16-2CC6-47C4-B72C-C2ACC24A232E}" type="datetime1">
              <a:rPr lang="en-US" smtClean="0"/>
              <a:t>5/2/2023</a:t>
            </a:fld>
            <a:endParaRPr lang="en-US" dirty="0"/>
          </a:p>
        </p:txBody>
      </p:sp>
      <p:sp>
        <p:nvSpPr>
          <p:cNvPr id="5" name="Footer Placeholder 4">
            <a:extLst>
              <a:ext uri="{FF2B5EF4-FFF2-40B4-BE49-F238E27FC236}">
                <a16:creationId xmlns:a16="http://schemas.microsoft.com/office/drawing/2014/main" id="{F65BB85A-C319-7A29-719F-4E51E45FFAA8}"/>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3A366231-9B4A-E2A0-C4B5-22FE1F424789}"/>
              </a:ext>
            </a:extLst>
          </p:cNvPr>
          <p:cNvSpPr>
            <a:spLocks noGrp="1"/>
          </p:cNvSpPr>
          <p:nvPr>
            <p:ph type="sldNum" sz="quarter" idx="12"/>
          </p:nvPr>
        </p:nvSpPr>
        <p:spPr/>
        <p:txBody>
          <a:bodyPr/>
          <a:lstStyle/>
          <a:p>
            <a:fld id="{FE6E6D8B-34B2-43B1-858A-2A2C0E1C997D}" type="slidenum">
              <a:rPr lang="en-US" smtClean="0"/>
              <a:t>8</a:t>
            </a:fld>
            <a:endParaRPr lang="en-US"/>
          </a:p>
        </p:txBody>
      </p:sp>
      <p:pic>
        <p:nvPicPr>
          <p:cNvPr id="8" name="Graphic 7" descr="Monthly calendar">
            <a:extLst>
              <a:ext uri="{FF2B5EF4-FFF2-40B4-BE49-F238E27FC236}">
                <a16:creationId xmlns:a16="http://schemas.microsoft.com/office/drawing/2014/main" id="{E733F130-C172-D7BB-FCFB-217E00BE09F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45622" y="1534210"/>
            <a:ext cx="3789580" cy="3789580"/>
          </a:xfrm>
          <a:prstGeom prst="rect">
            <a:avLst/>
          </a:prstGeom>
        </p:spPr>
      </p:pic>
    </p:spTree>
    <p:extLst>
      <p:ext uri="{BB962C8B-B14F-4D97-AF65-F5344CB8AC3E}">
        <p14:creationId xmlns:p14="http://schemas.microsoft.com/office/powerpoint/2010/main" val="1107974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8A6C5-ADA6-C06B-E891-285C8CF81446}"/>
              </a:ext>
            </a:extLst>
          </p:cNvPr>
          <p:cNvSpPr>
            <a:spLocks noGrp="1"/>
          </p:cNvSpPr>
          <p:nvPr>
            <p:ph type="title"/>
          </p:nvPr>
        </p:nvSpPr>
        <p:spPr/>
        <p:txBody>
          <a:bodyPr>
            <a:normAutofit fontScale="90000"/>
          </a:bodyPr>
          <a:lstStyle/>
          <a:p>
            <a:pPr algn="ctr"/>
            <a:br>
              <a:rPr lang="en-US" dirty="0">
                <a:latin typeface="Arial Rounded MT Bold" panose="020F0704030504030204" pitchFamily="34" charset="0"/>
              </a:rPr>
            </a:br>
            <a:r>
              <a:rPr lang="en-US" dirty="0">
                <a:latin typeface="Arial Rounded MT Bold" panose="020F0704030504030204" pitchFamily="34" charset="0"/>
              </a:rPr>
              <a:t>RMG and the Textile Industry</a:t>
            </a:r>
            <a:br>
              <a:rPr lang="en-US" dirty="0"/>
            </a:br>
            <a:endParaRPr lang="en-US" dirty="0"/>
          </a:p>
        </p:txBody>
      </p:sp>
      <p:sp>
        <p:nvSpPr>
          <p:cNvPr id="3" name="Content Placeholder 2">
            <a:extLst>
              <a:ext uri="{FF2B5EF4-FFF2-40B4-BE49-F238E27FC236}">
                <a16:creationId xmlns:a16="http://schemas.microsoft.com/office/drawing/2014/main" id="{7022B38D-0F10-0865-67EC-356C995CE826}"/>
              </a:ext>
            </a:extLst>
          </p:cNvPr>
          <p:cNvSpPr>
            <a:spLocks noGrp="1"/>
          </p:cNvSpPr>
          <p:nvPr>
            <p:ph idx="1"/>
          </p:nvPr>
        </p:nvSpPr>
        <p:spPr/>
        <p:txBody>
          <a:bodyPr>
            <a:normAutofit fontScale="85000" lnSpcReduction="10000"/>
          </a:bodyPr>
          <a:lstStyle/>
          <a:p>
            <a:r>
              <a:rPr lang="en-US" dirty="0"/>
              <a:t>Accounts for more than </a:t>
            </a:r>
            <a:r>
              <a:rPr lang="en-US" b="1" dirty="0"/>
              <a:t>80.6% </a:t>
            </a:r>
            <a:r>
              <a:rPr lang="en-US" dirty="0"/>
              <a:t>of total exports contributing to $19.90 billion.</a:t>
            </a:r>
          </a:p>
          <a:p>
            <a:r>
              <a:rPr lang="en-US" b="1" dirty="0"/>
              <a:t>Bangladesh is the second largest RMG exporter</a:t>
            </a:r>
            <a:r>
              <a:rPr lang="en-US" dirty="0"/>
              <a:t>. According to </a:t>
            </a:r>
            <a:r>
              <a:rPr lang="en-US" b="1" dirty="0"/>
              <a:t>the Export Promotion Bureau (EPB),</a:t>
            </a:r>
            <a:r>
              <a:rPr lang="en-US" dirty="0"/>
              <a:t> Bangladesh’s export of garments increased by 30.30% to $23.99 billion between July 2021 and January 2022.</a:t>
            </a:r>
          </a:p>
          <a:p>
            <a:r>
              <a:rPr lang="en-US" b="1" dirty="0"/>
              <a:t>China is the country that exports the most garments worldwide</a:t>
            </a:r>
            <a:r>
              <a:rPr lang="en-US" dirty="0"/>
              <a:t>. And Bangladesh still continues to maintain its second position in RMG export.</a:t>
            </a:r>
          </a:p>
          <a:p>
            <a:r>
              <a:rPr lang="en-US" dirty="0"/>
              <a:t> The country exports a large variety of clothing items to nations in many different geographical areas</a:t>
            </a:r>
            <a:r>
              <a:rPr lang="en-US" b="1" dirty="0"/>
              <a:t>, including North America, Europe, Asia, and others</a:t>
            </a:r>
            <a:r>
              <a:rPr lang="en-US" dirty="0"/>
              <a:t>. </a:t>
            </a:r>
          </a:p>
          <a:p>
            <a:r>
              <a:rPr lang="en-US" b="1" dirty="0"/>
              <a:t>Woven and knitwear</a:t>
            </a:r>
            <a:r>
              <a:rPr lang="en-US" dirty="0"/>
              <a:t> are the two main categories into which export goods may often be divided. </a:t>
            </a:r>
          </a:p>
          <a:p>
            <a:r>
              <a:rPr lang="en-US" dirty="0"/>
              <a:t>Exports of knitwear increased by 32.89 % to $13.27 billion. And the export of woven clothing increased by 27.23% to $10.71 billion. </a:t>
            </a:r>
          </a:p>
        </p:txBody>
      </p:sp>
      <p:sp>
        <p:nvSpPr>
          <p:cNvPr id="4" name="Date Placeholder 3">
            <a:extLst>
              <a:ext uri="{FF2B5EF4-FFF2-40B4-BE49-F238E27FC236}">
                <a16:creationId xmlns:a16="http://schemas.microsoft.com/office/drawing/2014/main" id="{0A2E3E82-5C0A-EEB7-D1F4-8F92F0F647D6}"/>
              </a:ext>
            </a:extLst>
          </p:cNvPr>
          <p:cNvSpPr>
            <a:spLocks noGrp="1"/>
          </p:cNvSpPr>
          <p:nvPr>
            <p:ph type="dt" sz="half" idx="10"/>
          </p:nvPr>
        </p:nvSpPr>
        <p:spPr/>
        <p:txBody>
          <a:bodyPr/>
          <a:lstStyle/>
          <a:p>
            <a:fld id="{58FF2F16-2CC6-47C4-B72C-C2ACC24A232E}" type="datetime1">
              <a:rPr lang="en-US" smtClean="0"/>
              <a:t>5/2/2023</a:t>
            </a:fld>
            <a:endParaRPr lang="en-US"/>
          </a:p>
        </p:txBody>
      </p:sp>
      <p:sp>
        <p:nvSpPr>
          <p:cNvPr id="5" name="Footer Placeholder 4">
            <a:extLst>
              <a:ext uri="{FF2B5EF4-FFF2-40B4-BE49-F238E27FC236}">
                <a16:creationId xmlns:a16="http://schemas.microsoft.com/office/drawing/2014/main" id="{41989C18-8B13-EB2C-3F36-43F8F5D30D0C}"/>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00EB182E-64AC-EBBA-7700-5333DEE6B4D0}"/>
              </a:ext>
            </a:extLst>
          </p:cNvPr>
          <p:cNvSpPr>
            <a:spLocks noGrp="1"/>
          </p:cNvSpPr>
          <p:nvPr>
            <p:ph type="sldNum" sz="quarter" idx="12"/>
          </p:nvPr>
        </p:nvSpPr>
        <p:spPr/>
        <p:txBody>
          <a:bodyPr/>
          <a:lstStyle/>
          <a:p>
            <a:fld id="{FE6E6D8B-34B2-43B1-858A-2A2C0E1C997D}" type="slidenum">
              <a:rPr lang="en-US" smtClean="0"/>
              <a:t>9</a:t>
            </a:fld>
            <a:endParaRPr lang="en-US" dirty="0"/>
          </a:p>
        </p:txBody>
      </p:sp>
    </p:spTree>
    <p:extLst>
      <p:ext uri="{BB962C8B-B14F-4D97-AF65-F5344CB8AC3E}">
        <p14:creationId xmlns:p14="http://schemas.microsoft.com/office/powerpoint/2010/main" val="32137732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4901E-5E56-4DCF-59F2-6A288C4D291B}"/>
              </a:ext>
            </a:extLst>
          </p:cNvPr>
          <p:cNvSpPr>
            <a:spLocks noGrp="1"/>
          </p:cNvSpPr>
          <p:nvPr>
            <p:ph type="title"/>
          </p:nvPr>
        </p:nvSpPr>
        <p:spPr/>
        <p:txBody>
          <a:bodyPr>
            <a:normAutofit fontScale="90000"/>
          </a:bodyPr>
          <a:lstStyle/>
          <a:p>
            <a:pPr algn="ctr"/>
            <a:br>
              <a:rPr lang="en-US" dirty="0"/>
            </a:br>
            <a:r>
              <a:rPr lang="en-US" dirty="0">
                <a:latin typeface="Arial Rounded MT Bold" panose="020F0704030504030204" pitchFamily="34" charset="0"/>
              </a:rPr>
              <a:t>Agriculture</a:t>
            </a:r>
            <a:br>
              <a:rPr lang="en-US" dirty="0"/>
            </a:br>
            <a:endParaRPr lang="en-US" dirty="0"/>
          </a:p>
        </p:txBody>
      </p:sp>
      <p:sp>
        <p:nvSpPr>
          <p:cNvPr id="3" name="Content Placeholder 2">
            <a:extLst>
              <a:ext uri="{FF2B5EF4-FFF2-40B4-BE49-F238E27FC236}">
                <a16:creationId xmlns:a16="http://schemas.microsoft.com/office/drawing/2014/main" id="{9B407C26-5C5F-66C5-646C-855ED4DD2178}"/>
              </a:ext>
            </a:extLst>
          </p:cNvPr>
          <p:cNvSpPr>
            <a:spLocks noGrp="1"/>
          </p:cNvSpPr>
          <p:nvPr>
            <p:ph idx="1"/>
          </p:nvPr>
        </p:nvSpPr>
        <p:spPr/>
        <p:txBody>
          <a:bodyPr>
            <a:normAutofit fontScale="85000" lnSpcReduction="20000"/>
          </a:bodyPr>
          <a:lstStyle/>
          <a:p>
            <a:r>
              <a:rPr lang="en-US" dirty="0"/>
              <a:t>Agriculture supported and contributed to the people and state of Bangladesh throughout the entirety of the </a:t>
            </a:r>
            <a:r>
              <a:rPr lang="en-US" b="1" dirty="0"/>
              <a:t>COVID-19 pandemic</a:t>
            </a:r>
            <a:r>
              <a:rPr lang="en-US" dirty="0"/>
              <a:t>. </a:t>
            </a:r>
          </a:p>
          <a:p>
            <a:r>
              <a:rPr lang="en-US" dirty="0"/>
              <a:t>Agriculture is the </a:t>
            </a:r>
            <a:r>
              <a:rPr lang="en-US" b="1" dirty="0"/>
              <a:t>primary source of livelihood to 40% of the labor force, it is the largest sector in terms of employment.</a:t>
            </a:r>
          </a:p>
          <a:p>
            <a:r>
              <a:rPr lang="en-US" dirty="0"/>
              <a:t>And Bangladesh’s earnings from </a:t>
            </a:r>
            <a:r>
              <a:rPr lang="en-US" b="1" dirty="0"/>
              <a:t>exporting agricultural products </a:t>
            </a:r>
            <a:r>
              <a:rPr lang="en-US" dirty="0"/>
              <a:t>reached the $1 billion mark for the first time during this period.</a:t>
            </a:r>
          </a:p>
          <a:p>
            <a:r>
              <a:rPr lang="en-US" dirty="0"/>
              <a:t>Crops and horticulture, animal farming, forest, and other related industries all have increased in FY 2020–21 amounting to 1.59%, 3.80%, and 6.12%, respectively. </a:t>
            </a:r>
          </a:p>
          <a:p>
            <a:r>
              <a:rPr lang="en-US" dirty="0"/>
              <a:t>The supply of </a:t>
            </a:r>
            <a:r>
              <a:rPr lang="en-US" b="1" dirty="0"/>
              <a:t>basic raw materials for industrial processing </a:t>
            </a:r>
            <a:r>
              <a:rPr lang="en-US" dirty="0"/>
              <a:t>is also an indirect contribution from Bangladesh’s agriculture industry. (sugar, tea, jute, fruit juice, or processed spices, rely entirely on agriculture for their fundamental raw materials.)</a:t>
            </a:r>
          </a:p>
        </p:txBody>
      </p:sp>
      <p:sp>
        <p:nvSpPr>
          <p:cNvPr id="4" name="Date Placeholder 3">
            <a:extLst>
              <a:ext uri="{FF2B5EF4-FFF2-40B4-BE49-F238E27FC236}">
                <a16:creationId xmlns:a16="http://schemas.microsoft.com/office/drawing/2014/main" id="{E63002C7-8D4F-51B2-6DB2-88677BBB290A}"/>
              </a:ext>
            </a:extLst>
          </p:cNvPr>
          <p:cNvSpPr>
            <a:spLocks noGrp="1"/>
          </p:cNvSpPr>
          <p:nvPr>
            <p:ph type="dt" sz="half" idx="10"/>
          </p:nvPr>
        </p:nvSpPr>
        <p:spPr/>
        <p:txBody>
          <a:bodyPr/>
          <a:lstStyle/>
          <a:p>
            <a:fld id="{58FF2F16-2CC6-47C4-B72C-C2ACC24A232E}" type="datetime1">
              <a:rPr lang="en-US" smtClean="0"/>
              <a:t>5/2/2023</a:t>
            </a:fld>
            <a:endParaRPr lang="en-US"/>
          </a:p>
        </p:txBody>
      </p:sp>
      <p:sp>
        <p:nvSpPr>
          <p:cNvPr id="5" name="Footer Placeholder 4">
            <a:extLst>
              <a:ext uri="{FF2B5EF4-FFF2-40B4-BE49-F238E27FC236}">
                <a16:creationId xmlns:a16="http://schemas.microsoft.com/office/drawing/2014/main" id="{F3F2A301-6679-FC48-F130-D751F9A69A56}"/>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58551261-8C21-53D9-DCFB-EAE52101DFF5}"/>
              </a:ext>
            </a:extLst>
          </p:cNvPr>
          <p:cNvSpPr>
            <a:spLocks noGrp="1"/>
          </p:cNvSpPr>
          <p:nvPr>
            <p:ph type="sldNum" sz="quarter" idx="12"/>
          </p:nvPr>
        </p:nvSpPr>
        <p:spPr/>
        <p:txBody>
          <a:bodyPr/>
          <a:lstStyle/>
          <a:p>
            <a:fld id="{FE6E6D8B-34B2-43B1-858A-2A2C0E1C997D}" type="slidenum">
              <a:rPr lang="en-US" smtClean="0"/>
              <a:t>10</a:t>
            </a:fld>
            <a:endParaRPr lang="en-US"/>
          </a:p>
        </p:txBody>
      </p:sp>
    </p:spTree>
    <p:extLst>
      <p:ext uri="{BB962C8B-B14F-4D97-AF65-F5344CB8AC3E}">
        <p14:creationId xmlns:p14="http://schemas.microsoft.com/office/powerpoint/2010/main" val="2407068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0E0A3-E932-1A6D-0119-BFBD665F806B}"/>
              </a:ext>
            </a:extLst>
          </p:cNvPr>
          <p:cNvSpPr>
            <a:spLocks noGrp="1"/>
          </p:cNvSpPr>
          <p:nvPr>
            <p:ph type="title"/>
          </p:nvPr>
        </p:nvSpPr>
        <p:spPr/>
        <p:txBody>
          <a:bodyPr/>
          <a:lstStyle/>
          <a:p>
            <a:pPr algn="ctr"/>
            <a:r>
              <a:rPr lang="en-US" dirty="0">
                <a:latin typeface="Arial Rounded MT Bold" panose="020F0704030504030204" pitchFamily="34" charset="0"/>
              </a:rPr>
              <a:t>Leather Industry</a:t>
            </a:r>
          </a:p>
        </p:txBody>
      </p:sp>
      <p:sp>
        <p:nvSpPr>
          <p:cNvPr id="3" name="Content Placeholder 2">
            <a:extLst>
              <a:ext uri="{FF2B5EF4-FFF2-40B4-BE49-F238E27FC236}">
                <a16:creationId xmlns:a16="http://schemas.microsoft.com/office/drawing/2014/main" id="{B7749890-D034-CED9-33CD-8748A5522393}"/>
              </a:ext>
            </a:extLst>
          </p:cNvPr>
          <p:cNvSpPr>
            <a:spLocks noGrp="1"/>
          </p:cNvSpPr>
          <p:nvPr>
            <p:ph idx="1"/>
          </p:nvPr>
        </p:nvSpPr>
        <p:spPr/>
        <p:txBody>
          <a:bodyPr>
            <a:normAutofit fontScale="77500" lnSpcReduction="20000"/>
          </a:bodyPr>
          <a:lstStyle/>
          <a:p>
            <a:r>
              <a:rPr lang="en-US" dirty="0"/>
              <a:t>Bangladesh is seeing a steady upward trend in the export of leather and leather goods. </a:t>
            </a:r>
          </a:p>
          <a:p>
            <a:r>
              <a:rPr lang="en-US" dirty="0"/>
              <a:t>The government’s projected aim is to </a:t>
            </a:r>
            <a:r>
              <a:rPr lang="en-US" b="1" dirty="0"/>
              <a:t>increase exports of leather goods by establishing a goal of earning $10-12 billion </a:t>
            </a:r>
            <a:r>
              <a:rPr lang="en-US" dirty="0"/>
              <a:t>between 2021 and 2030.</a:t>
            </a:r>
          </a:p>
          <a:p>
            <a:r>
              <a:rPr lang="en-US" dirty="0"/>
              <a:t>Total export revenue in FY 2021 was $941.67 million, as opposed to $563.96 million in the first half of the current fiscal year. </a:t>
            </a:r>
          </a:p>
          <a:p>
            <a:r>
              <a:rPr lang="en-US" dirty="0"/>
              <a:t>According to the ministry and sectoral entrepreneurs, leather and leather goods </a:t>
            </a:r>
            <a:r>
              <a:rPr lang="en-US" b="1" dirty="0"/>
              <a:t>makeup 4% and 0.5% </a:t>
            </a:r>
            <a:r>
              <a:rPr lang="en-US" dirty="0"/>
              <a:t>of Bangladesh’s total exports, respectively.</a:t>
            </a:r>
          </a:p>
          <a:p>
            <a:r>
              <a:rPr lang="en-US" dirty="0"/>
              <a:t> About 12.5%, 27%, and 60% of the sector’s total exports for fiscal 2020–21 were made up of leather, leather goods, and leather footwear.</a:t>
            </a:r>
          </a:p>
          <a:p>
            <a:r>
              <a:rPr lang="en-US" dirty="0"/>
              <a:t>In the first quarter of the current fiscal year, Bangladesh’s exports of leather and leather goods increased from pre-pandemic levels.</a:t>
            </a:r>
          </a:p>
          <a:p>
            <a:r>
              <a:rPr lang="en-US" dirty="0"/>
              <a:t>According to EPB data, leather exports increased by 33.29% in the first quarter of FY 2022, leather products by 33.34%, and leather footwear by 13.72%.</a:t>
            </a:r>
          </a:p>
        </p:txBody>
      </p:sp>
      <p:sp>
        <p:nvSpPr>
          <p:cNvPr id="4" name="Date Placeholder 3">
            <a:extLst>
              <a:ext uri="{FF2B5EF4-FFF2-40B4-BE49-F238E27FC236}">
                <a16:creationId xmlns:a16="http://schemas.microsoft.com/office/drawing/2014/main" id="{ED518735-296C-70A5-CA06-64A69ABD1524}"/>
              </a:ext>
            </a:extLst>
          </p:cNvPr>
          <p:cNvSpPr>
            <a:spLocks noGrp="1"/>
          </p:cNvSpPr>
          <p:nvPr>
            <p:ph type="dt" sz="half" idx="10"/>
          </p:nvPr>
        </p:nvSpPr>
        <p:spPr/>
        <p:txBody>
          <a:bodyPr/>
          <a:lstStyle/>
          <a:p>
            <a:fld id="{58FF2F16-2CC6-47C4-B72C-C2ACC24A232E}" type="datetime1">
              <a:rPr lang="en-US" smtClean="0"/>
              <a:t>5/2/2023</a:t>
            </a:fld>
            <a:endParaRPr lang="en-US"/>
          </a:p>
        </p:txBody>
      </p:sp>
      <p:sp>
        <p:nvSpPr>
          <p:cNvPr id="5" name="Footer Placeholder 4">
            <a:extLst>
              <a:ext uri="{FF2B5EF4-FFF2-40B4-BE49-F238E27FC236}">
                <a16:creationId xmlns:a16="http://schemas.microsoft.com/office/drawing/2014/main" id="{26290295-A502-B0F5-0870-9ECEBFC10CE1}"/>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474CD393-9BCE-F9BF-131C-DE7E140A1FC8}"/>
              </a:ext>
            </a:extLst>
          </p:cNvPr>
          <p:cNvSpPr>
            <a:spLocks noGrp="1"/>
          </p:cNvSpPr>
          <p:nvPr>
            <p:ph type="sldNum" sz="quarter" idx="12"/>
          </p:nvPr>
        </p:nvSpPr>
        <p:spPr/>
        <p:txBody>
          <a:bodyPr/>
          <a:lstStyle/>
          <a:p>
            <a:fld id="{FE6E6D8B-34B2-43B1-858A-2A2C0E1C997D}" type="slidenum">
              <a:rPr lang="en-US" smtClean="0"/>
              <a:t>11</a:t>
            </a:fld>
            <a:endParaRPr lang="en-US"/>
          </a:p>
        </p:txBody>
      </p:sp>
    </p:spTree>
    <p:extLst>
      <p:ext uri="{BB962C8B-B14F-4D97-AF65-F5344CB8AC3E}">
        <p14:creationId xmlns:p14="http://schemas.microsoft.com/office/powerpoint/2010/main" val="977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7169-EF39-B24F-6D8C-B93E824BA866}"/>
              </a:ext>
            </a:extLst>
          </p:cNvPr>
          <p:cNvSpPr>
            <a:spLocks noGrp="1"/>
          </p:cNvSpPr>
          <p:nvPr>
            <p:ph type="title"/>
          </p:nvPr>
        </p:nvSpPr>
        <p:spPr/>
        <p:txBody>
          <a:bodyPr/>
          <a:lstStyle/>
          <a:p>
            <a:pPr algn="ctr"/>
            <a:r>
              <a:rPr lang="en-US" dirty="0">
                <a:latin typeface="Arial Rounded MT Bold" panose="020F0704030504030204" pitchFamily="34" charset="0"/>
              </a:rPr>
              <a:t>Fisheries</a:t>
            </a:r>
          </a:p>
        </p:txBody>
      </p:sp>
      <p:sp>
        <p:nvSpPr>
          <p:cNvPr id="3" name="Content Placeholder 2">
            <a:extLst>
              <a:ext uri="{FF2B5EF4-FFF2-40B4-BE49-F238E27FC236}">
                <a16:creationId xmlns:a16="http://schemas.microsoft.com/office/drawing/2014/main" id="{1895A63A-42A2-3262-2166-59F13964B85C}"/>
              </a:ext>
            </a:extLst>
          </p:cNvPr>
          <p:cNvSpPr>
            <a:spLocks noGrp="1"/>
          </p:cNvSpPr>
          <p:nvPr>
            <p:ph idx="1"/>
          </p:nvPr>
        </p:nvSpPr>
        <p:spPr/>
        <p:txBody>
          <a:bodyPr>
            <a:normAutofit fontScale="92500" lnSpcReduction="20000"/>
          </a:bodyPr>
          <a:lstStyle/>
          <a:p>
            <a:r>
              <a:rPr lang="en-US" dirty="0"/>
              <a:t>Fish and fisheries are an essential aspect of Bangladesh. In the last 20 years, Bangladesh’s fish production has expanded substantially by over 400%.</a:t>
            </a:r>
          </a:p>
          <a:p>
            <a:r>
              <a:rPr lang="en-US" dirty="0"/>
              <a:t>According to the fisheries department, the fishing industry provides more than one-fourth (26.37%) of the country’s agricultural GDP and 3.52% of the nation’s overall GDP, making it an important sector for the socioeconomic growth of the nation.</a:t>
            </a:r>
          </a:p>
          <a:p>
            <a:r>
              <a:rPr lang="en-US" dirty="0"/>
              <a:t>Moreover, the fishing sector accounts for 1.39% of the total national exports. </a:t>
            </a:r>
          </a:p>
          <a:p>
            <a:r>
              <a:rPr lang="en-US" dirty="0"/>
              <a:t>During the fiscal year 2019–20, the nation produced around 4.503 million </a:t>
            </a:r>
            <a:r>
              <a:rPr lang="en-US" dirty="0" err="1"/>
              <a:t>tonnes</a:t>
            </a:r>
            <a:r>
              <a:rPr lang="en-US" dirty="0"/>
              <a:t> of fish. </a:t>
            </a:r>
          </a:p>
          <a:p>
            <a:r>
              <a:rPr lang="en-US" dirty="0"/>
              <a:t>The country’s export of shrimp has especially seen a significant increase during the past six months, from July to December 2021.</a:t>
            </a:r>
          </a:p>
        </p:txBody>
      </p:sp>
      <p:sp>
        <p:nvSpPr>
          <p:cNvPr id="4" name="Date Placeholder 3">
            <a:extLst>
              <a:ext uri="{FF2B5EF4-FFF2-40B4-BE49-F238E27FC236}">
                <a16:creationId xmlns:a16="http://schemas.microsoft.com/office/drawing/2014/main" id="{8E2FCFAC-5C80-C3FC-E1AB-9083AD802A16}"/>
              </a:ext>
            </a:extLst>
          </p:cNvPr>
          <p:cNvSpPr>
            <a:spLocks noGrp="1"/>
          </p:cNvSpPr>
          <p:nvPr>
            <p:ph type="dt" sz="half" idx="10"/>
          </p:nvPr>
        </p:nvSpPr>
        <p:spPr/>
        <p:txBody>
          <a:bodyPr/>
          <a:lstStyle/>
          <a:p>
            <a:fld id="{58FF2F16-2CC6-47C4-B72C-C2ACC24A232E}" type="datetime1">
              <a:rPr lang="en-US" smtClean="0"/>
              <a:t>5/2/2023</a:t>
            </a:fld>
            <a:endParaRPr lang="en-US"/>
          </a:p>
        </p:txBody>
      </p:sp>
      <p:sp>
        <p:nvSpPr>
          <p:cNvPr id="5" name="Footer Placeholder 4">
            <a:extLst>
              <a:ext uri="{FF2B5EF4-FFF2-40B4-BE49-F238E27FC236}">
                <a16:creationId xmlns:a16="http://schemas.microsoft.com/office/drawing/2014/main" id="{5B2F67C8-354D-A804-5D85-8C85081D8CC3}"/>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AF4DF736-A39F-6D87-DEB1-E30FA338C07C}"/>
              </a:ext>
            </a:extLst>
          </p:cNvPr>
          <p:cNvSpPr>
            <a:spLocks noGrp="1"/>
          </p:cNvSpPr>
          <p:nvPr>
            <p:ph type="sldNum" sz="quarter" idx="12"/>
          </p:nvPr>
        </p:nvSpPr>
        <p:spPr/>
        <p:txBody>
          <a:bodyPr/>
          <a:lstStyle/>
          <a:p>
            <a:fld id="{FE6E6D8B-34B2-43B1-858A-2A2C0E1C997D}" type="slidenum">
              <a:rPr lang="en-US" smtClean="0"/>
              <a:t>12</a:t>
            </a:fld>
            <a:endParaRPr lang="en-US"/>
          </a:p>
        </p:txBody>
      </p:sp>
    </p:spTree>
    <p:extLst>
      <p:ext uri="{BB962C8B-B14F-4D97-AF65-F5344CB8AC3E}">
        <p14:creationId xmlns:p14="http://schemas.microsoft.com/office/powerpoint/2010/main" val="994692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3284F-55E5-B3A2-D9E7-56A3D6F1BF5C}"/>
              </a:ext>
            </a:extLst>
          </p:cNvPr>
          <p:cNvSpPr>
            <a:spLocks noGrp="1"/>
          </p:cNvSpPr>
          <p:nvPr>
            <p:ph type="title"/>
          </p:nvPr>
        </p:nvSpPr>
        <p:spPr/>
        <p:txBody>
          <a:bodyPr/>
          <a:lstStyle/>
          <a:p>
            <a:pPr algn="ctr"/>
            <a:r>
              <a:rPr lang="en-US" dirty="0">
                <a:latin typeface="Arial Rounded MT Bold" panose="020F0704030504030204" pitchFamily="34" charset="0"/>
              </a:rPr>
              <a:t>Pharmaceuticals</a:t>
            </a:r>
          </a:p>
        </p:txBody>
      </p:sp>
      <p:sp>
        <p:nvSpPr>
          <p:cNvPr id="7" name="Content Placeholder 6">
            <a:extLst>
              <a:ext uri="{FF2B5EF4-FFF2-40B4-BE49-F238E27FC236}">
                <a16:creationId xmlns:a16="http://schemas.microsoft.com/office/drawing/2014/main" id="{39C26FD4-6CA0-5631-4DE2-3F69E00334E0}"/>
              </a:ext>
            </a:extLst>
          </p:cNvPr>
          <p:cNvSpPr>
            <a:spLocks noGrp="1"/>
          </p:cNvSpPr>
          <p:nvPr>
            <p:ph sz="half" idx="1"/>
          </p:nvPr>
        </p:nvSpPr>
        <p:spPr>
          <a:xfrm>
            <a:off x="838200" y="1825625"/>
            <a:ext cx="5591476" cy="4351338"/>
          </a:xfrm>
        </p:spPr>
        <p:txBody>
          <a:bodyPr>
            <a:normAutofit fontScale="70000" lnSpcReduction="20000"/>
          </a:bodyPr>
          <a:lstStyle/>
          <a:p>
            <a:r>
              <a:rPr lang="en-US" dirty="0"/>
              <a:t>The most advanced, high-tech industries contributing to Bangladesh’s economy. </a:t>
            </a:r>
          </a:p>
          <a:p>
            <a:r>
              <a:rPr lang="en-US" dirty="0"/>
              <a:t>By 2025, it’s anticipated that Bangladesh’s pharmaceutical business would be worth more than $6 billion.</a:t>
            </a:r>
          </a:p>
          <a:p>
            <a:r>
              <a:rPr lang="en-US" dirty="0"/>
              <a:t>Bangladesh has exported 2,000 different pharmaceutical product categories to more than 150 nations.</a:t>
            </a:r>
          </a:p>
          <a:p>
            <a:r>
              <a:rPr lang="en-US" dirty="0"/>
              <a:t>The pharmaceutical industry, which covers 97% of local demand, has grown at a compound annual growth rate (CAGR) of 12.1% over the previous five years. </a:t>
            </a:r>
          </a:p>
          <a:p>
            <a:r>
              <a:rPr lang="en-US" dirty="0"/>
              <a:t>This shows that pharmaceutical export increased by 27% in the current fiscal year. USA, UK, Europe, and Australia are just a few of the developed markets where Bangladeshi drugs have already made their way.</a:t>
            </a:r>
          </a:p>
          <a:p>
            <a:endParaRPr lang="en-US" dirty="0"/>
          </a:p>
        </p:txBody>
      </p:sp>
      <p:pic>
        <p:nvPicPr>
          <p:cNvPr id="10" name="Content Placeholder 9">
            <a:extLst>
              <a:ext uri="{FF2B5EF4-FFF2-40B4-BE49-F238E27FC236}">
                <a16:creationId xmlns:a16="http://schemas.microsoft.com/office/drawing/2014/main" id="{93D26D8E-031B-9EB2-56C6-8EB7DE30C6E6}"/>
              </a:ext>
            </a:extLst>
          </p:cNvPr>
          <p:cNvPicPr>
            <a:picLocks noGrp="1" noChangeAspect="1"/>
          </p:cNvPicPr>
          <p:nvPr>
            <p:ph sz="half" idx="2"/>
          </p:nvPr>
        </p:nvPicPr>
        <p:blipFill>
          <a:blip r:embed="rId2"/>
          <a:stretch>
            <a:fillRect/>
          </a:stretch>
        </p:blipFill>
        <p:spPr>
          <a:xfrm>
            <a:off x="6429675" y="2104584"/>
            <a:ext cx="5196439" cy="2937590"/>
          </a:xfrm>
        </p:spPr>
      </p:pic>
      <p:sp>
        <p:nvSpPr>
          <p:cNvPr id="4" name="Date Placeholder 3">
            <a:extLst>
              <a:ext uri="{FF2B5EF4-FFF2-40B4-BE49-F238E27FC236}">
                <a16:creationId xmlns:a16="http://schemas.microsoft.com/office/drawing/2014/main" id="{C3736A1F-772B-8C4A-ADD9-17513A1F9DE3}"/>
              </a:ext>
            </a:extLst>
          </p:cNvPr>
          <p:cNvSpPr>
            <a:spLocks noGrp="1"/>
          </p:cNvSpPr>
          <p:nvPr>
            <p:ph type="dt" sz="half" idx="10"/>
          </p:nvPr>
        </p:nvSpPr>
        <p:spPr/>
        <p:txBody>
          <a:bodyPr/>
          <a:lstStyle/>
          <a:p>
            <a:fld id="{58FF2F16-2CC6-47C4-B72C-C2ACC24A232E}" type="datetime1">
              <a:rPr lang="en-US" smtClean="0"/>
              <a:t>5/2/2023</a:t>
            </a:fld>
            <a:endParaRPr lang="en-US"/>
          </a:p>
        </p:txBody>
      </p:sp>
      <p:sp>
        <p:nvSpPr>
          <p:cNvPr id="5" name="Footer Placeholder 4">
            <a:extLst>
              <a:ext uri="{FF2B5EF4-FFF2-40B4-BE49-F238E27FC236}">
                <a16:creationId xmlns:a16="http://schemas.microsoft.com/office/drawing/2014/main" id="{C7874E24-FC5A-8C65-9855-463AA45DC123}"/>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5C8D15EE-7922-5780-E144-D7C20DF77E9D}"/>
              </a:ext>
            </a:extLst>
          </p:cNvPr>
          <p:cNvSpPr>
            <a:spLocks noGrp="1"/>
          </p:cNvSpPr>
          <p:nvPr>
            <p:ph type="sldNum" sz="quarter" idx="12"/>
          </p:nvPr>
        </p:nvSpPr>
        <p:spPr/>
        <p:txBody>
          <a:bodyPr/>
          <a:lstStyle/>
          <a:p>
            <a:fld id="{FE6E6D8B-34B2-43B1-858A-2A2C0E1C997D}" type="slidenum">
              <a:rPr lang="en-US" smtClean="0"/>
              <a:t>13</a:t>
            </a:fld>
            <a:endParaRPr lang="en-US"/>
          </a:p>
        </p:txBody>
      </p:sp>
    </p:spTree>
    <p:extLst>
      <p:ext uri="{BB962C8B-B14F-4D97-AF65-F5344CB8AC3E}">
        <p14:creationId xmlns:p14="http://schemas.microsoft.com/office/powerpoint/2010/main" val="3345230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DBE69-CD09-470D-39D1-AFCB9F66B4A5}"/>
              </a:ext>
            </a:extLst>
          </p:cNvPr>
          <p:cNvSpPr>
            <a:spLocks noGrp="1"/>
          </p:cNvSpPr>
          <p:nvPr>
            <p:ph type="title"/>
          </p:nvPr>
        </p:nvSpPr>
        <p:spPr/>
        <p:txBody>
          <a:bodyPr/>
          <a:lstStyle/>
          <a:p>
            <a:pPr algn="ctr"/>
            <a:r>
              <a:rPr lang="en-US" dirty="0">
                <a:latin typeface="Arial Rounded MT Bold" panose="020F0704030504030204" pitchFamily="34" charset="0"/>
              </a:rPr>
              <a:t>Software Service Industry</a:t>
            </a:r>
          </a:p>
        </p:txBody>
      </p:sp>
      <p:sp>
        <p:nvSpPr>
          <p:cNvPr id="3" name="Content Placeholder 2">
            <a:extLst>
              <a:ext uri="{FF2B5EF4-FFF2-40B4-BE49-F238E27FC236}">
                <a16:creationId xmlns:a16="http://schemas.microsoft.com/office/drawing/2014/main" id="{96C6D6F4-D976-DE63-E784-029E5561026C}"/>
              </a:ext>
            </a:extLst>
          </p:cNvPr>
          <p:cNvSpPr>
            <a:spLocks noGrp="1"/>
          </p:cNvSpPr>
          <p:nvPr>
            <p:ph sz="half" idx="1"/>
          </p:nvPr>
        </p:nvSpPr>
        <p:spPr/>
        <p:txBody>
          <a:bodyPr>
            <a:normAutofit fontScale="85000" lnSpcReduction="20000"/>
          </a:bodyPr>
          <a:lstStyle/>
          <a:p>
            <a:r>
              <a:rPr lang="en-US" dirty="0"/>
              <a:t> South Asia’s </a:t>
            </a:r>
            <a:r>
              <a:rPr lang="en-US" b="1" dirty="0"/>
              <a:t>fastest expanding hubs </a:t>
            </a:r>
            <a:r>
              <a:rPr lang="en-US" dirty="0"/>
              <a:t>for software exports and IT outsourcing.</a:t>
            </a:r>
          </a:p>
          <a:p>
            <a:r>
              <a:rPr lang="en-US" dirty="0"/>
              <a:t>The ICT industry has consistently added to the nation’s GDP, which has led to the economy’s constant growth.</a:t>
            </a:r>
          </a:p>
          <a:p>
            <a:r>
              <a:rPr lang="en-US" dirty="0"/>
              <a:t>The sector generated </a:t>
            </a:r>
            <a:r>
              <a:rPr lang="en-US" b="1" dirty="0"/>
              <a:t>$1.3 billion in </a:t>
            </a:r>
            <a:r>
              <a:rPr lang="en-US" dirty="0"/>
              <a:t>export revenue in FY 2020–21, holding a </a:t>
            </a:r>
            <a:r>
              <a:rPr lang="en-US" b="1" dirty="0"/>
              <a:t>$1.4 billion market </a:t>
            </a:r>
            <a:r>
              <a:rPr lang="en-US" dirty="0"/>
              <a:t>share in local market sales.</a:t>
            </a:r>
          </a:p>
          <a:p>
            <a:r>
              <a:rPr lang="en-US" dirty="0"/>
              <a:t>More than </a:t>
            </a:r>
            <a:r>
              <a:rPr lang="en-US" b="1" dirty="0"/>
              <a:t>one million job opportunities have been created </a:t>
            </a:r>
            <a:r>
              <a:rPr lang="en-US" dirty="0"/>
              <a:t>in Bangladesh by the IT/ITES sector, contributing 0.76% to the country’s overall GDP.</a:t>
            </a:r>
          </a:p>
        </p:txBody>
      </p:sp>
      <p:grpSp>
        <p:nvGrpSpPr>
          <p:cNvPr id="13" name="Group 12">
            <a:extLst>
              <a:ext uri="{FF2B5EF4-FFF2-40B4-BE49-F238E27FC236}">
                <a16:creationId xmlns:a16="http://schemas.microsoft.com/office/drawing/2014/main" id="{6261753D-D83A-0B2D-A8DB-486E7A24D538}"/>
              </a:ext>
            </a:extLst>
          </p:cNvPr>
          <p:cNvGrpSpPr/>
          <p:nvPr/>
        </p:nvGrpSpPr>
        <p:grpSpPr>
          <a:xfrm>
            <a:off x="7367240" y="2437892"/>
            <a:ext cx="2486719" cy="2531444"/>
            <a:chOff x="7764186" y="3002480"/>
            <a:chExt cx="2147637" cy="2147636"/>
          </a:xfrm>
        </p:grpSpPr>
        <p:sp>
          <p:nvSpPr>
            <p:cNvPr id="11" name="Freeform: Shape 10">
              <a:extLst>
                <a:ext uri="{FF2B5EF4-FFF2-40B4-BE49-F238E27FC236}">
                  <a16:creationId xmlns:a16="http://schemas.microsoft.com/office/drawing/2014/main" id="{FEA75C7A-99C6-F4E6-0B32-6A5F24B1DD64}"/>
                </a:ext>
              </a:extLst>
            </p:cNvPr>
            <p:cNvSpPr/>
            <p:nvPr/>
          </p:nvSpPr>
          <p:spPr>
            <a:xfrm>
              <a:off x="7764186" y="3002480"/>
              <a:ext cx="2147636" cy="2147636"/>
            </a:xfrm>
            <a:custGeom>
              <a:avLst/>
              <a:gdLst>
                <a:gd name="connsiteX0" fmla="*/ 189497 w 2147636"/>
                <a:gd name="connsiteY0" fmla="*/ 0 h 2147636"/>
                <a:gd name="connsiteX1" fmla="*/ 0 w 2147636"/>
                <a:gd name="connsiteY1" fmla="*/ 0 h 2147636"/>
                <a:gd name="connsiteX2" fmla="*/ 0 w 2147636"/>
                <a:gd name="connsiteY2" fmla="*/ 2147637 h 2147636"/>
                <a:gd name="connsiteX3" fmla="*/ 2147637 w 2147636"/>
                <a:gd name="connsiteY3" fmla="*/ 2147637 h 2147636"/>
                <a:gd name="connsiteX4" fmla="*/ 2147637 w 2147636"/>
                <a:gd name="connsiteY4" fmla="*/ 1958140 h 2147636"/>
                <a:gd name="connsiteX5" fmla="*/ 189497 w 2147636"/>
                <a:gd name="connsiteY5" fmla="*/ 1958140 h 2147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47636" h="2147636">
                  <a:moveTo>
                    <a:pt x="189497" y="0"/>
                  </a:moveTo>
                  <a:lnTo>
                    <a:pt x="0" y="0"/>
                  </a:lnTo>
                  <a:lnTo>
                    <a:pt x="0" y="2147637"/>
                  </a:lnTo>
                  <a:lnTo>
                    <a:pt x="2147637" y="2147637"/>
                  </a:lnTo>
                  <a:lnTo>
                    <a:pt x="2147637" y="1958140"/>
                  </a:lnTo>
                  <a:lnTo>
                    <a:pt x="189497" y="1958140"/>
                  </a:lnTo>
                  <a:close/>
                </a:path>
              </a:pathLst>
            </a:custGeom>
            <a:solidFill>
              <a:srgbClr val="000000"/>
            </a:solidFill>
            <a:ln w="31552"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724B099-C4EF-F869-6C43-455791B2C465}"/>
                </a:ext>
              </a:extLst>
            </p:cNvPr>
            <p:cNvSpPr/>
            <p:nvPr/>
          </p:nvSpPr>
          <p:spPr>
            <a:xfrm>
              <a:off x="8076857" y="3539389"/>
              <a:ext cx="1834966" cy="1076976"/>
            </a:xfrm>
            <a:custGeom>
              <a:avLst/>
              <a:gdLst>
                <a:gd name="connsiteX0" fmla="*/ 1329640 w 1834966"/>
                <a:gd name="connsiteY0" fmla="*/ 0 h 1076976"/>
                <a:gd name="connsiteX1" fmla="*/ 1515979 w 1834966"/>
                <a:gd name="connsiteY1" fmla="*/ 186339 h 1076976"/>
                <a:gd name="connsiteX2" fmla="*/ 1266474 w 1834966"/>
                <a:gd name="connsiteY2" fmla="*/ 435844 h 1076976"/>
                <a:gd name="connsiteX3" fmla="*/ 1076977 w 1834966"/>
                <a:gd name="connsiteY3" fmla="*/ 246347 h 1076976"/>
                <a:gd name="connsiteX4" fmla="*/ 761148 w 1834966"/>
                <a:gd name="connsiteY4" fmla="*/ 562176 h 1076976"/>
                <a:gd name="connsiteX5" fmla="*/ 571650 w 1834966"/>
                <a:gd name="connsiteY5" fmla="*/ 372678 h 1076976"/>
                <a:gd name="connsiteX6" fmla="*/ 0 w 1834966"/>
                <a:gd name="connsiteY6" fmla="*/ 944329 h 1076976"/>
                <a:gd name="connsiteX7" fmla="*/ 132648 w 1834966"/>
                <a:gd name="connsiteY7" fmla="*/ 1076977 h 1076976"/>
                <a:gd name="connsiteX8" fmla="*/ 571650 w 1834966"/>
                <a:gd name="connsiteY8" fmla="*/ 637975 h 1076976"/>
                <a:gd name="connsiteX9" fmla="*/ 761148 w 1834966"/>
                <a:gd name="connsiteY9" fmla="*/ 827472 h 1076976"/>
                <a:gd name="connsiteX10" fmla="*/ 1076977 w 1834966"/>
                <a:gd name="connsiteY10" fmla="*/ 511643 h 1076976"/>
                <a:gd name="connsiteX11" fmla="*/ 1266474 w 1834966"/>
                <a:gd name="connsiteY11" fmla="*/ 701140 h 1076976"/>
                <a:gd name="connsiteX12" fmla="*/ 1648627 w 1834966"/>
                <a:gd name="connsiteY12" fmla="*/ 318987 h 1076976"/>
                <a:gd name="connsiteX13" fmla="*/ 1834966 w 1834966"/>
                <a:gd name="connsiteY13" fmla="*/ 505326 h 1076976"/>
                <a:gd name="connsiteX14" fmla="*/ 1834966 w 1834966"/>
                <a:gd name="connsiteY14" fmla="*/ 0 h 107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34966" h="1076976">
                  <a:moveTo>
                    <a:pt x="1329640" y="0"/>
                  </a:moveTo>
                  <a:lnTo>
                    <a:pt x="1515979" y="186339"/>
                  </a:lnTo>
                  <a:lnTo>
                    <a:pt x="1266474" y="435844"/>
                  </a:lnTo>
                  <a:lnTo>
                    <a:pt x="1076977" y="246347"/>
                  </a:lnTo>
                  <a:lnTo>
                    <a:pt x="761148" y="562176"/>
                  </a:lnTo>
                  <a:lnTo>
                    <a:pt x="571650" y="372678"/>
                  </a:lnTo>
                  <a:lnTo>
                    <a:pt x="0" y="944329"/>
                  </a:lnTo>
                  <a:lnTo>
                    <a:pt x="132648" y="1076977"/>
                  </a:lnTo>
                  <a:lnTo>
                    <a:pt x="571650" y="637975"/>
                  </a:lnTo>
                  <a:lnTo>
                    <a:pt x="761148" y="827472"/>
                  </a:lnTo>
                  <a:lnTo>
                    <a:pt x="1076977" y="511643"/>
                  </a:lnTo>
                  <a:lnTo>
                    <a:pt x="1266474" y="701140"/>
                  </a:lnTo>
                  <a:lnTo>
                    <a:pt x="1648627" y="318987"/>
                  </a:lnTo>
                  <a:lnTo>
                    <a:pt x="1834966" y="505326"/>
                  </a:lnTo>
                  <a:lnTo>
                    <a:pt x="1834966" y="0"/>
                  </a:lnTo>
                  <a:close/>
                </a:path>
              </a:pathLst>
            </a:custGeom>
            <a:solidFill>
              <a:srgbClr val="00B0F0"/>
            </a:solidFill>
            <a:ln w="31552"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517C3FA4-DAF6-94DD-4025-F4F50C365089}"/>
              </a:ext>
            </a:extLst>
          </p:cNvPr>
          <p:cNvSpPr>
            <a:spLocks noGrp="1"/>
          </p:cNvSpPr>
          <p:nvPr>
            <p:ph type="dt" sz="half" idx="10"/>
          </p:nvPr>
        </p:nvSpPr>
        <p:spPr/>
        <p:txBody>
          <a:bodyPr/>
          <a:lstStyle/>
          <a:p>
            <a:fld id="{B4330940-C2BB-4451-AAC4-4D59E6AFD8F8}" type="datetime1">
              <a:rPr lang="en-US" smtClean="0"/>
              <a:t>5/2/2023</a:t>
            </a:fld>
            <a:endParaRPr lang="en-US"/>
          </a:p>
        </p:txBody>
      </p:sp>
      <p:sp>
        <p:nvSpPr>
          <p:cNvPr id="6" name="Footer Placeholder 5">
            <a:extLst>
              <a:ext uri="{FF2B5EF4-FFF2-40B4-BE49-F238E27FC236}">
                <a16:creationId xmlns:a16="http://schemas.microsoft.com/office/drawing/2014/main" id="{382CEABA-EB33-A0DB-AFFF-CBBDED7A94D9}"/>
              </a:ext>
            </a:extLst>
          </p:cNvPr>
          <p:cNvSpPr>
            <a:spLocks noGrp="1"/>
          </p:cNvSpPr>
          <p:nvPr>
            <p:ph type="ftr" sz="quarter" idx="11"/>
          </p:nvPr>
        </p:nvSpPr>
        <p:spPr/>
        <p:txBody>
          <a:bodyPr/>
          <a:lstStyle/>
          <a:p>
            <a:r>
              <a:rPr lang="en-US"/>
              <a:t>Chowdhury Mujaddid Ahmed</a:t>
            </a:r>
          </a:p>
        </p:txBody>
      </p:sp>
      <p:sp>
        <p:nvSpPr>
          <p:cNvPr id="7" name="Slide Number Placeholder 6">
            <a:extLst>
              <a:ext uri="{FF2B5EF4-FFF2-40B4-BE49-F238E27FC236}">
                <a16:creationId xmlns:a16="http://schemas.microsoft.com/office/drawing/2014/main" id="{341891AC-1C06-85B9-13F2-04700CD8CC24}"/>
              </a:ext>
            </a:extLst>
          </p:cNvPr>
          <p:cNvSpPr>
            <a:spLocks noGrp="1"/>
          </p:cNvSpPr>
          <p:nvPr>
            <p:ph type="sldNum" sz="quarter" idx="12"/>
          </p:nvPr>
        </p:nvSpPr>
        <p:spPr/>
        <p:txBody>
          <a:bodyPr/>
          <a:lstStyle/>
          <a:p>
            <a:fld id="{FE6E6D8B-34B2-43B1-858A-2A2C0E1C997D}" type="slidenum">
              <a:rPr lang="en-US" smtClean="0"/>
              <a:t>14</a:t>
            </a:fld>
            <a:endParaRPr lang="en-US"/>
          </a:p>
        </p:txBody>
      </p:sp>
    </p:spTree>
    <p:extLst>
      <p:ext uri="{BB962C8B-B14F-4D97-AF65-F5344CB8AC3E}">
        <p14:creationId xmlns:p14="http://schemas.microsoft.com/office/powerpoint/2010/main" val="2473818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876A7-880A-FA60-B159-35C44D7A818D}"/>
              </a:ext>
            </a:extLst>
          </p:cNvPr>
          <p:cNvSpPr>
            <a:spLocks noGrp="1"/>
          </p:cNvSpPr>
          <p:nvPr>
            <p:ph type="title"/>
          </p:nvPr>
        </p:nvSpPr>
        <p:spPr/>
        <p:txBody>
          <a:bodyPr/>
          <a:lstStyle/>
          <a:p>
            <a:pPr algn="ctr"/>
            <a:r>
              <a:rPr lang="en-US" dirty="0">
                <a:latin typeface="Arial Rounded MT Bold" panose="020F0704030504030204" pitchFamily="34" charset="0"/>
              </a:rPr>
              <a:t>Banking Industry </a:t>
            </a:r>
          </a:p>
        </p:txBody>
      </p:sp>
      <p:sp>
        <p:nvSpPr>
          <p:cNvPr id="8" name="Content Placeholder 7">
            <a:extLst>
              <a:ext uri="{FF2B5EF4-FFF2-40B4-BE49-F238E27FC236}">
                <a16:creationId xmlns:a16="http://schemas.microsoft.com/office/drawing/2014/main" id="{71CC1B5D-E2A7-5498-80A6-AF70FEEBA774}"/>
              </a:ext>
            </a:extLst>
          </p:cNvPr>
          <p:cNvSpPr>
            <a:spLocks noGrp="1"/>
          </p:cNvSpPr>
          <p:nvPr>
            <p:ph idx="1"/>
          </p:nvPr>
        </p:nvSpPr>
        <p:spPr/>
        <p:txBody>
          <a:bodyPr>
            <a:normAutofit fontScale="92500"/>
          </a:bodyPr>
          <a:lstStyle/>
          <a:p>
            <a:pPr marL="0" indent="0">
              <a:buNone/>
            </a:pPr>
            <a:r>
              <a:rPr lang="en-US" dirty="0"/>
              <a:t>Banks After the independence, the banking industry in Bangladesh started its journey with 6 Nationalized commercialized banks, 3 State owned Specialized banks, and 9 Foreign Banks. In the 1980s banking industry achieved significant expansion with the entrance of private banks. Now,</a:t>
            </a:r>
          </a:p>
          <a:p>
            <a:pPr marL="0" indent="0">
              <a:buNone/>
            </a:pPr>
            <a:r>
              <a:rPr lang="en-US" dirty="0"/>
              <a:t>banks in Bangladesh are primarily of two types:</a:t>
            </a:r>
          </a:p>
          <a:p>
            <a:r>
              <a:rPr lang="en-US" b="1" dirty="0"/>
              <a:t>Scheduled Banks: </a:t>
            </a:r>
            <a:r>
              <a:rPr lang="en-US" dirty="0"/>
              <a:t>The banks that remain in the list of banks maintained under the Bangladesh Bank Order, 1972.</a:t>
            </a:r>
          </a:p>
          <a:p>
            <a:r>
              <a:rPr lang="en-US" b="1" dirty="0"/>
              <a:t>Non-Scheduled Banks: </a:t>
            </a:r>
            <a:r>
              <a:rPr lang="en-US" dirty="0"/>
              <a:t>The banks which are established for special and definite objective and operate under any act but are not Scheduled Banks. These banks cannot perform all functions of scheduled banks.</a:t>
            </a:r>
          </a:p>
        </p:txBody>
      </p:sp>
      <p:sp>
        <p:nvSpPr>
          <p:cNvPr id="5" name="Date Placeholder 4">
            <a:extLst>
              <a:ext uri="{FF2B5EF4-FFF2-40B4-BE49-F238E27FC236}">
                <a16:creationId xmlns:a16="http://schemas.microsoft.com/office/drawing/2014/main" id="{8DB5A435-23CF-83B1-D629-BE7EF9D82496}"/>
              </a:ext>
            </a:extLst>
          </p:cNvPr>
          <p:cNvSpPr>
            <a:spLocks noGrp="1"/>
          </p:cNvSpPr>
          <p:nvPr>
            <p:ph type="dt" sz="half" idx="10"/>
          </p:nvPr>
        </p:nvSpPr>
        <p:spPr/>
        <p:txBody>
          <a:bodyPr/>
          <a:lstStyle/>
          <a:p>
            <a:fld id="{B4330940-C2BB-4451-AAC4-4D59E6AFD8F8}" type="datetime1">
              <a:rPr lang="en-US" smtClean="0"/>
              <a:t>5/2/2023</a:t>
            </a:fld>
            <a:endParaRPr lang="en-US"/>
          </a:p>
        </p:txBody>
      </p:sp>
      <p:sp>
        <p:nvSpPr>
          <p:cNvPr id="6" name="Footer Placeholder 5">
            <a:extLst>
              <a:ext uri="{FF2B5EF4-FFF2-40B4-BE49-F238E27FC236}">
                <a16:creationId xmlns:a16="http://schemas.microsoft.com/office/drawing/2014/main" id="{69DC6F06-CB7C-D381-51AD-7BC4D9EF9FEC}"/>
              </a:ext>
            </a:extLst>
          </p:cNvPr>
          <p:cNvSpPr>
            <a:spLocks noGrp="1"/>
          </p:cNvSpPr>
          <p:nvPr>
            <p:ph type="ftr" sz="quarter" idx="11"/>
          </p:nvPr>
        </p:nvSpPr>
        <p:spPr/>
        <p:txBody>
          <a:bodyPr/>
          <a:lstStyle/>
          <a:p>
            <a:r>
              <a:rPr lang="en-US"/>
              <a:t>Chowdhury Mujaddid Ahmed</a:t>
            </a:r>
          </a:p>
        </p:txBody>
      </p:sp>
      <p:sp>
        <p:nvSpPr>
          <p:cNvPr id="7" name="Slide Number Placeholder 6">
            <a:extLst>
              <a:ext uri="{FF2B5EF4-FFF2-40B4-BE49-F238E27FC236}">
                <a16:creationId xmlns:a16="http://schemas.microsoft.com/office/drawing/2014/main" id="{8147BCF6-F5EF-8B13-5527-5AC7E3E189A5}"/>
              </a:ext>
            </a:extLst>
          </p:cNvPr>
          <p:cNvSpPr>
            <a:spLocks noGrp="1"/>
          </p:cNvSpPr>
          <p:nvPr>
            <p:ph type="sldNum" sz="quarter" idx="12"/>
          </p:nvPr>
        </p:nvSpPr>
        <p:spPr/>
        <p:txBody>
          <a:bodyPr/>
          <a:lstStyle/>
          <a:p>
            <a:fld id="{FE6E6D8B-34B2-43B1-858A-2A2C0E1C997D}" type="slidenum">
              <a:rPr lang="en-US" smtClean="0"/>
              <a:t>15</a:t>
            </a:fld>
            <a:endParaRPr lang="en-US"/>
          </a:p>
        </p:txBody>
      </p:sp>
    </p:spTree>
    <p:extLst>
      <p:ext uri="{BB962C8B-B14F-4D97-AF65-F5344CB8AC3E}">
        <p14:creationId xmlns:p14="http://schemas.microsoft.com/office/powerpoint/2010/main" val="3780370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4B5F3-156A-C847-776E-60DABE1539FF}"/>
              </a:ext>
            </a:extLst>
          </p:cNvPr>
          <p:cNvSpPr>
            <a:spLocks noGrp="1"/>
          </p:cNvSpPr>
          <p:nvPr>
            <p:ph type="title"/>
          </p:nvPr>
        </p:nvSpPr>
        <p:spPr/>
        <p:txBody>
          <a:bodyPr/>
          <a:lstStyle/>
          <a:p>
            <a:pPr algn="ctr"/>
            <a:r>
              <a:rPr lang="en-US" dirty="0">
                <a:latin typeface="Arial Rounded MT Bold" panose="020F0704030504030204" pitchFamily="34" charset="0"/>
              </a:rPr>
              <a:t>Financial Institutions </a:t>
            </a:r>
          </a:p>
        </p:txBody>
      </p:sp>
      <p:sp>
        <p:nvSpPr>
          <p:cNvPr id="3" name="Content Placeholder 2">
            <a:extLst>
              <a:ext uri="{FF2B5EF4-FFF2-40B4-BE49-F238E27FC236}">
                <a16:creationId xmlns:a16="http://schemas.microsoft.com/office/drawing/2014/main" id="{D29F7027-081D-1ABE-EE38-C9A6A13A98C3}"/>
              </a:ext>
            </a:extLst>
          </p:cNvPr>
          <p:cNvSpPr>
            <a:spLocks noGrp="1"/>
          </p:cNvSpPr>
          <p:nvPr>
            <p:ph idx="1"/>
          </p:nvPr>
        </p:nvSpPr>
        <p:spPr/>
        <p:txBody>
          <a:bodyPr>
            <a:normAutofit fontScale="70000" lnSpcReduction="20000"/>
          </a:bodyPr>
          <a:lstStyle/>
          <a:p>
            <a:pPr marL="0" indent="0">
              <a:buNone/>
            </a:pPr>
            <a:r>
              <a:rPr lang="en-US" b="1" dirty="0"/>
              <a:t>Non Bank Financial Institutions (FIs) </a:t>
            </a:r>
            <a:r>
              <a:rPr lang="en-US" dirty="0"/>
              <a:t>are those types of financial institutions which are regulated under Financial Institution Act, 1993 and controlled by Bangladesh Bank. </a:t>
            </a:r>
            <a:r>
              <a:rPr lang="en-US" b="1" dirty="0"/>
              <a:t>Now, 35 FIs are operating </a:t>
            </a:r>
            <a:r>
              <a:rPr lang="en-US" dirty="0"/>
              <a:t>in Bangladesh while the maiden one was established in 1981. </a:t>
            </a:r>
            <a:r>
              <a:rPr lang="en-US" b="1" dirty="0"/>
              <a:t>Out of the total, 2 is fully government owned</a:t>
            </a:r>
            <a:r>
              <a:rPr lang="en-US" dirty="0"/>
              <a:t>, 1 is the subsidiary of a SOCB, 19 were initiated by private domestic initiative and 13 were initiated by joint venture initiative. Major sources of funds of FIs are Term Deposit (at least three months tenure), Credit Facility from Banks and other FIs, Call Money as well as Bond and Securitization.</a:t>
            </a:r>
          </a:p>
          <a:p>
            <a:pPr marL="0" indent="0">
              <a:buNone/>
            </a:pPr>
            <a:r>
              <a:rPr lang="en-US" dirty="0"/>
              <a:t>The major difference between banks and FIs are as follows:</a:t>
            </a:r>
          </a:p>
          <a:p>
            <a:pPr marL="0" indent="0">
              <a:buNone/>
            </a:pPr>
            <a:endParaRPr lang="en-US" dirty="0"/>
          </a:p>
          <a:p>
            <a:r>
              <a:rPr lang="en-US" dirty="0"/>
              <a:t>FIs cannot issue cheques, pay-orders or demand drafts.</a:t>
            </a:r>
          </a:p>
          <a:p>
            <a:r>
              <a:rPr lang="en-US" dirty="0"/>
              <a:t>FIs cannot receive demand deposits,</a:t>
            </a:r>
          </a:p>
          <a:p>
            <a:r>
              <a:rPr lang="en-US" dirty="0"/>
              <a:t>FIs cannot be involved in foreign exchange financing,</a:t>
            </a:r>
          </a:p>
          <a:p>
            <a:r>
              <a:rPr lang="en-US" dirty="0"/>
              <a:t>FIs can conduct their business operations with diversified financing modes like syndicated financing, bridge financing, lease financing, securitization instruments, private placement of equity etc.</a:t>
            </a:r>
          </a:p>
        </p:txBody>
      </p:sp>
      <p:sp>
        <p:nvSpPr>
          <p:cNvPr id="4" name="Date Placeholder 3">
            <a:extLst>
              <a:ext uri="{FF2B5EF4-FFF2-40B4-BE49-F238E27FC236}">
                <a16:creationId xmlns:a16="http://schemas.microsoft.com/office/drawing/2014/main" id="{0BF2628A-A245-4EE5-9A86-848D7AC0C0D2}"/>
              </a:ext>
            </a:extLst>
          </p:cNvPr>
          <p:cNvSpPr>
            <a:spLocks noGrp="1"/>
          </p:cNvSpPr>
          <p:nvPr>
            <p:ph type="dt" sz="half" idx="10"/>
          </p:nvPr>
        </p:nvSpPr>
        <p:spPr/>
        <p:txBody>
          <a:bodyPr/>
          <a:lstStyle/>
          <a:p>
            <a:fld id="{58FF2F16-2CC6-47C4-B72C-C2ACC24A232E}" type="datetime1">
              <a:rPr lang="en-US" smtClean="0"/>
              <a:t>5/2/2023</a:t>
            </a:fld>
            <a:endParaRPr lang="en-US"/>
          </a:p>
        </p:txBody>
      </p:sp>
      <p:sp>
        <p:nvSpPr>
          <p:cNvPr id="5" name="Footer Placeholder 4">
            <a:extLst>
              <a:ext uri="{FF2B5EF4-FFF2-40B4-BE49-F238E27FC236}">
                <a16:creationId xmlns:a16="http://schemas.microsoft.com/office/drawing/2014/main" id="{E19CC5A8-8031-A2F3-67B0-B4825CE46F84}"/>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1CE21A91-B9C3-5638-446A-837C6EE138F7}"/>
              </a:ext>
            </a:extLst>
          </p:cNvPr>
          <p:cNvSpPr>
            <a:spLocks noGrp="1"/>
          </p:cNvSpPr>
          <p:nvPr>
            <p:ph type="sldNum" sz="quarter" idx="12"/>
          </p:nvPr>
        </p:nvSpPr>
        <p:spPr/>
        <p:txBody>
          <a:bodyPr/>
          <a:lstStyle/>
          <a:p>
            <a:fld id="{FE6E6D8B-34B2-43B1-858A-2A2C0E1C997D}" type="slidenum">
              <a:rPr lang="en-US" smtClean="0"/>
              <a:t>16</a:t>
            </a:fld>
            <a:endParaRPr lang="en-US"/>
          </a:p>
        </p:txBody>
      </p:sp>
    </p:spTree>
    <p:extLst>
      <p:ext uri="{BB962C8B-B14F-4D97-AF65-F5344CB8AC3E}">
        <p14:creationId xmlns:p14="http://schemas.microsoft.com/office/powerpoint/2010/main" val="732970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A6D85-6628-B04C-7822-B676C7798EEA}"/>
              </a:ext>
            </a:extLst>
          </p:cNvPr>
          <p:cNvSpPr>
            <a:spLocks noGrp="1"/>
          </p:cNvSpPr>
          <p:nvPr>
            <p:ph type="title"/>
          </p:nvPr>
        </p:nvSpPr>
        <p:spPr/>
        <p:txBody>
          <a:bodyPr/>
          <a:lstStyle/>
          <a:p>
            <a:pPr algn="ctr"/>
            <a:r>
              <a:rPr lang="en-US" b="1" dirty="0"/>
              <a:t>Reference </a:t>
            </a:r>
          </a:p>
        </p:txBody>
      </p:sp>
      <p:sp>
        <p:nvSpPr>
          <p:cNvPr id="3" name="Content Placeholder 2">
            <a:extLst>
              <a:ext uri="{FF2B5EF4-FFF2-40B4-BE49-F238E27FC236}">
                <a16:creationId xmlns:a16="http://schemas.microsoft.com/office/drawing/2014/main" id="{F1A3E26A-C152-D9AC-6F28-EBC996795FBA}"/>
              </a:ext>
            </a:extLst>
          </p:cNvPr>
          <p:cNvSpPr>
            <a:spLocks noGrp="1"/>
          </p:cNvSpPr>
          <p:nvPr>
            <p:ph idx="1"/>
          </p:nvPr>
        </p:nvSpPr>
        <p:spPr/>
        <p:txBody>
          <a:bodyPr/>
          <a:lstStyle/>
          <a:p>
            <a:r>
              <a:rPr lang="en-US" dirty="0">
                <a:hlinkClick r:id="rId2"/>
              </a:rPr>
              <a:t>Bangladesh Bank</a:t>
            </a:r>
            <a:endParaRPr lang="en-US" dirty="0"/>
          </a:p>
          <a:p>
            <a:r>
              <a:rPr lang="en-US" dirty="0">
                <a:hlinkClick r:id="rId3"/>
              </a:rPr>
              <a:t>Statista.com</a:t>
            </a:r>
            <a:endParaRPr lang="en-US" dirty="0"/>
          </a:p>
          <a:p>
            <a:r>
              <a:rPr lang="en-US" dirty="0">
                <a:hlinkClick r:id="rId4"/>
              </a:rPr>
              <a:t>Investopedia</a:t>
            </a:r>
            <a:endParaRPr lang="en-US" dirty="0"/>
          </a:p>
          <a:p>
            <a:r>
              <a:rPr lang="en-US" dirty="0">
                <a:hlinkClick r:id="rId5"/>
              </a:rPr>
              <a:t>Business Inspection</a:t>
            </a:r>
            <a:endParaRPr lang="en-US" dirty="0"/>
          </a:p>
        </p:txBody>
      </p:sp>
      <p:sp>
        <p:nvSpPr>
          <p:cNvPr id="4" name="Date Placeholder 3">
            <a:extLst>
              <a:ext uri="{FF2B5EF4-FFF2-40B4-BE49-F238E27FC236}">
                <a16:creationId xmlns:a16="http://schemas.microsoft.com/office/drawing/2014/main" id="{0A5EE00F-0B3A-003C-7F4C-D07F86F8866F}"/>
              </a:ext>
            </a:extLst>
          </p:cNvPr>
          <p:cNvSpPr>
            <a:spLocks noGrp="1"/>
          </p:cNvSpPr>
          <p:nvPr>
            <p:ph type="dt" sz="half" idx="10"/>
          </p:nvPr>
        </p:nvSpPr>
        <p:spPr/>
        <p:txBody>
          <a:bodyPr/>
          <a:lstStyle/>
          <a:p>
            <a:fld id="{58FF2F16-2CC6-47C4-B72C-C2ACC24A232E}" type="datetime1">
              <a:rPr lang="en-US" smtClean="0"/>
              <a:t>5/2/2023</a:t>
            </a:fld>
            <a:endParaRPr lang="en-US"/>
          </a:p>
        </p:txBody>
      </p:sp>
      <p:sp>
        <p:nvSpPr>
          <p:cNvPr id="5" name="Footer Placeholder 4">
            <a:extLst>
              <a:ext uri="{FF2B5EF4-FFF2-40B4-BE49-F238E27FC236}">
                <a16:creationId xmlns:a16="http://schemas.microsoft.com/office/drawing/2014/main" id="{E111C46F-4033-D0B7-8875-30FB5FFD3433}"/>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FC103CA8-ECBD-E837-6D2C-BC01AA1F775F}"/>
              </a:ext>
            </a:extLst>
          </p:cNvPr>
          <p:cNvSpPr>
            <a:spLocks noGrp="1"/>
          </p:cNvSpPr>
          <p:nvPr>
            <p:ph type="sldNum" sz="quarter" idx="12"/>
          </p:nvPr>
        </p:nvSpPr>
        <p:spPr/>
        <p:txBody>
          <a:bodyPr/>
          <a:lstStyle/>
          <a:p>
            <a:fld id="{FE6E6D8B-34B2-43B1-858A-2A2C0E1C997D}" type="slidenum">
              <a:rPr lang="en-US" smtClean="0"/>
              <a:t>17</a:t>
            </a:fld>
            <a:endParaRPr lang="en-US"/>
          </a:p>
        </p:txBody>
      </p:sp>
    </p:spTree>
    <p:extLst>
      <p:ext uri="{BB962C8B-B14F-4D97-AF65-F5344CB8AC3E}">
        <p14:creationId xmlns:p14="http://schemas.microsoft.com/office/powerpoint/2010/main" val="3279485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370B2-CD9F-9F1B-0072-35F2B4E4E641}"/>
              </a:ext>
            </a:extLst>
          </p:cNvPr>
          <p:cNvSpPr>
            <a:spLocks noGrp="1"/>
          </p:cNvSpPr>
          <p:nvPr>
            <p:ph type="title"/>
          </p:nvPr>
        </p:nvSpPr>
        <p:spPr/>
        <p:txBody>
          <a:bodyPr/>
          <a:lstStyle/>
          <a:p>
            <a:pPr algn="ctr"/>
            <a:r>
              <a:rPr lang="en-US" dirty="0">
                <a:latin typeface="Arial Rounded MT Bold" panose="020F0704030504030204" pitchFamily="34" charset="0"/>
              </a:rPr>
              <a:t>Thank you</a:t>
            </a:r>
          </a:p>
        </p:txBody>
      </p:sp>
      <p:sp>
        <p:nvSpPr>
          <p:cNvPr id="3" name="Content Placeholder 2">
            <a:extLst>
              <a:ext uri="{FF2B5EF4-FFF2-40B4-BE49-F238E27FC236}">
                <a16:creationId xmlns:a16="http://schemas.microsoft.com/office/drawing/2014/main" id="{CF04C929-7545-9989-23A8-19C858158E00}"/>
              </a:ext>
            </a:extLst>
          </p:cNvPr>
          <p:cNvSpPr>
            <a:spLocks noGrp="1"/>
          </p:cNvSpPr>
          <p:nvPr>
            <p:ph idx="1"/>
          </p:nvPr>
        </p:nvSpPr>
        <p:spPr/>
        <p:txBody>
          <a:bodyPr>
            <a:normAutofit/>
          </a:bodyPr>
          <a:lstStyle/>
          <a:p>
            <a:pPr marL="0" indent="0" algn="ctr">
              <a:buNone/>
            </a:pPr>
            <a:endParaRPr lang="en-US" sz="6000" dirty="0">
              <a:latin typeface="Arial Rounded MT Bold" panose="020F0704030504030204" pitchFamily="34" charset="0"/>
            </a:endParaRPr>
          </a:p>
          <a:p>
            <a:pPr marL="0" indent="0" algn="ctr">
              <a:buNone/>
            </a:pPr>
            <a:r>
              <a:rPr lang="en-US" sz="6000" dirty="0">
                <a:latin typeface="Arial Rounded MT Bold" panose="020F0704030504030204" pitchFamily="34" charset="0"/>
              </a:rPr>
              <a:t>End </a:t>
            </a:r>
          </a:p>
          <a:p>
            <a:pPr marL="0" indent="0" algn="ctr">
              <a:buNone/>
            </a:pPr>
            <a:r>
              <a:rPr lang="en-US" sz="6000" dirty="0">
                <a:latin typeface="Arial Rounded MT Bold" panose="020F0704030504030204" pitchFamily="34" charset="0"/>
              </a:rPr>
              <a:t>of </a:t>
            </a:r>
          </a:p>
          <a:p>
            <a:pPr marL="0" indent="0" algn="ctr">
              <a:buNone/>
            </a:pPr>
            <a:r>
              <a:rPr lang="en-US" sz="6000" dirty="0">
                <a:latin typeface="Arial Rounded MT Bold" panose="020F0704030504030204" pitchFamily="34" charset="0"/>
              </a:rPr>
              <a:t>Lecture 8</a:t>
            </a:r>
          </a:p>
        </p:txBody>
      </p:sp>
      <p:sp>
        <p:nvSpPr>
          <p:cNvPr id="4" name="Date Placeholder 3">
            <a:extLst>
              <a:ext uri="{FF2B5EF4-FFF2-40B4-BE49-F238E27FC236}">
                <a16:creationId xmlns:a16="http://schemas.microsoft.com/office/drawing/2014/main" id="{E9F9DE21-C4B9-A95F-99C1-416A6293885D}"/>
              </a:ext>
            </a:extLst>
          </p:cNvPr>
          <p:cNvSpPr>
            <a:spLocks noGrp="1"/>
          </p:cNvSpPr>
          <p:nvPr>
            <p:ph type="dt" sz="half" idx="10"/>
          </p:nvPr>
        </p:nvSpPr>
        <p:spPr/>
        <p:txBody>
          <a:bodyPr/>
          <a:lstStyle/>
          <a:p>
            <a:fld id="{58FF2F16-2CC6-47C4-B72C-C2ACC24A232E}" type="datetime1">
              <a:rPr lang="en-US" smtClean="0"/>
              <a:t>5/2/2023</a:t>
            </a:fld>
            <a:endParaRPr lang="en-US"/>
          </a:p>
        </p:txBody>
      </p:sp>
      <p:sp>
        <p:nvSpPr>
          <p:cNvPr id="5" name="Footer Placeholder 4">
            <a:extLst>
              <a:ext uri="{FF2B5EF4-FFF2-40B4-BE49-F238E27FC236}">
                <a16:creationId xmlns:a16="http://schemas.microsoft.com/office/drawing/2014/main" id="{52B7ACA0-8CE5-340A-6486-886D21230BCE}"/>
              </a:ext>
            </a:extLst>
          </p:cNvPr>
          <p:cNvSpPr>
            <a:spLocks noGrp="1"/>
          </p:cNvSpPr>
          <p:nvPr>
            <p:ph type="ftr" sz="quarter" idx="11"/>
          </p:nvPr>
        </p:nvSpPr>
        <p:spPr/>
        <p:txBody>
          <a:bodyPr/>
          <a:lstStyle/>
          <a:p>
            <a:r>
              <a:rPr lang="en-US"/>
              <a:t>Chowdhury Mujaddid Ahmed</a:t>
            </a:r>
          </a:p>
        </p:txBody>
      </p:sp>
      <p:sp>
        <p:nvSpPr>
          <p:cNvPr id="6" name="Slide Number Placeholder 5">
            <a:extLst>
              <a:ext uri="{FF2B5EF4-FFF2-40B4-BE49-F238E27FC236}">
                <a16:creationId xmlns:a16="http://schemas.microsoft.com/office/drawing/2014/main" id="{9FEB8CD1-825B-89B0-4671-BDF8D1BD730A}"/>
              </a:ext>
            </a:extLst>
          </p:cNvPr>
          <p:cNvSpPr>
            <a:spLocks noGrp="1"/>
          </p:cNvSpPr>
          <p:nvPr>
            <p:ph type="sldNum" sz="quarter" idx="12"/>
          </p:nvPr>
        </p:nvSpPr>
        <p:spPr/>
        <p:txBody>
          <a:bodyPr/>
          <a:lstStyle/>
          <a:p>
            <a:fld id="{FE6E6D8B-34B2-43B1-858A-2A2C0E1C997D}" type="slidenum">
              <a:rPr lang="en-US" smtClean="0"/>
              <a:t>18</a:t>
            </a:fld>
            <a:endParaRPr lang="en-US"/>
          </a:p>
        </p:txBody>
      </p:sp>
    </p:spTree>
    <p:extLst>
      <p:ext uri="{BB962C8B-B14F-4D97-AF65-F5344CB8AC3E}">
        <p14:creationId xmlns:p14="http://schemas.microsoft.com/office/powerpoint/2010/main" val="2968864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1408</Words>
  <Application>Microsoft Office PowerPoint</Application>
  <PresentationFormat>Widescreen</PresentationFormat>
  <Paragraphs>135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Arial Rounded MT Bold</vt:lpstr>
      <vt:lpstr>Calibri</vt:lpstr>
      <vt:lpstr>Calibri Light</vt:lpstr>
      <vt:lpstr>Office Theme</vt:lpstr>
      <vt:lpstr>Sectors and Industries of Bangladesh</vt:lpstr>
      <vt:lpstr>GDP vs GNP</vt:lpstr>
      <vt:lpstr>PowerPoint Presentation</vt:lpstr>
      <vt:lpstr>What is a sector? </vt:lpstr>
      <vt:lpstr>What is an industry?</vt:lpstr>
      <vt:lpstr>Economic Sectors</vt:lpstr>
      <vt:lpstr>Economic sectors of Bangladesh </vt:lpstr>
      <vt:lpstr>Major Industries of Bangladesh </vt:lpstr>
      <vt:lpstr> RMG and the Textile Industry </vt:lpstr>
      <vt:lpstr> Agriculture </vt:lpstr>
      <vt:lpstr>Leather Industry</vt:lpstr>
      <vt:lpstr>Fisheries</vt:lpstr>
      <vt:lpstr>Pharmaceuticals</vt:lpstr>
      <vt:lpstr>Software Service Industry</vt:lpstr>
      <vt:lpstr>Banking Industry </vt:lpstr>
      <vt:lpstr>Financial Institutions </vt:lpstr>
      <vt:lpstr>Reference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Industries of Bangladesh</dc:title>
  <dc:creator>Chowdhury Mujaddid Ahmed</dc:creator>
  <cp:lastModifiedBy>Chowdhury Mujaddid Ahmed</cp:lastModifiedBy>
  <cp:revision>13</cp:revision>
  <dcterms:created xsi:type="dcterms:W3CDTF">2023-05-01T17:46:01Z</dcterms:created>
  <dcterms:modified xsi:type="dcterms:W3CDTF">2023-05-01T19:14:28Z</dcterms:modified>
</cp:coreProperties>
</file>