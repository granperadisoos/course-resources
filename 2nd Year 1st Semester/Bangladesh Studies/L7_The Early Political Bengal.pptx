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0833C5-3358-481E-8CFA-93FF0383D8F6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</dgm:pt>
    <dgm:pt modelId="{28FEBC47-48CF-494F-91B5-95379184782A}">
      <dgm:prSet/>
      <dgm:spPr/>
      <dgm:t>
        <a:bodyPr/>
        <a:lstStyle/>
        <a:p>
          <a:r>
            <a:rPr lang="en-US" dirty="0"/>
            <a:t>Dharmapala (reigned c. 770–810)</a:t>
          </a:r>
        </a:p>
      </dgm:t>
    </dgm:pt>
    <dgm:pt modelId="{19DAE638-EFD6-4178-8DEF-3414DA83FC1F}" type="parTrans" cxnId="{196F3363-3883-47B5-B771-52DB8FBEF63A}">
      <dgm:prSet/>
      <dgm:spPr/>
      <dgm:t>
        <a:bodyPr/>
        <a:lstStyle/>
        <a:p>
          <a:endParaRPr lang="en-US"/>
        </a:p>
      </dgm:t>
    </dgm:pt>
    <dgm:pt modelId="{BF8D0CC7-A9F0-4C83-A9D9-DFA0B5D67AC6}" type="sibTrans" cxnId="{196F3363-3883-47B5-B771-52DB8FBEF63A}">
      <dgm:prSet/>
      <dgm:spPr/>
      <dgm:t>
        <a:bodyPr/>
        <a:lstStyle/>
        <a:p>
          <a:endParaRPr lang="en-US"/>
        </a:p>
      </dgm:t>
    </dgm:pt>
    <dgm:pt modelId="{73C40803-7F81-421C-BBB2-AFF812D34CA1}">
      <dgm:prSet/>
      <dgm:spPr/>
      <dgm:t>
        <a:bodyPr/>
        <a:lstStyle/>
        <a:p>
          <a:r>
            <a:rPr lang="en-US" dirty="0"/>
            <a:t>Gopala</a:t>
          </a:r>
        </a:p>
      </dgm:t>
    </dgm:pt>
    <dgm:pt modelId="{973718CC-8ED1-452B-899B-9C63E217DBD7}" type="parTrans" cxnId="{E4DE2F2B-C9FD-48ED-B93F-26635B08A960}">
      <dgm:prSet/>
      <dgm:spPr/>
      <dgm:t>
        <a:bodyPr/>
        <a:lstStyle/>
        <a:p>
          <a:endParaRPr lang="en-US"/>
        </a:p>
      </dgm:t>
    </dgm:pt>
    <dgm:pt modelId="{20A3FB5F-C269-4372-9CC6-DDC87D107CBF}" type="sibTrans" cxnId="{E4DE2F2B-C9FD-48ED-B93F-26635B08A960}">
      <dgm:prSet/>
      <dgm:spPr/>
      <dgm:t>
        <a:bodyPr/>
        <a:lstStyle/>
        <a:p>
          <a:endParaRPr lang="en-US"/>
        </a:p>
      </dgm:t>
    </dgm:pt>
    <dgm:pt modelId="{94C56440-918D-4B57-B8FA-44CE8F2F590C}">
      <dgm:prSet/>
      <dgm:spPr/>
      <dgm:t>
        <a:bodyPr/>
        <a:lstStyle/>
        <a:p>
          <a:r>
            <a:rPr lang="en-US" dirty="0" err="1"/>
            <a:t>Devapala</a:t>
          </a:r>
          <a:r>
            <a:rPr lang="en-US" dirty="0"/>
            <a:t> (reigned c. 810–850)</a:t>
          </a:r>
        </a:p>
      </dgm:t>
    </dgm:pt>
    <dgm:pt modelId="{74FDC85A-F277-4757-9103-68E6C60EA569}" type="parTrans" cxnId="{B078B409-0863-4124-959B-57AFB1BD234B}">
      <dgm:prSet/>
      <dgm:spPr/>
      <dgm:t>
        <a:bodyPr/>
        <a:lstStyle/>
        <a:p>
          <a:endParaRPr lang="en-US"/>
        </a:p>
      </dgm:t>
    </dgm:pt>
    <dgm:pt modelId="{9AED4D01-C75F-4139-B5B6-237E2F8A18CB}" type="sibTrans" cxnId="{B078B409-0863-4124-959B-57AFB1BD234B}">
      <dgm:prSet/>
      <dgm:spPr/>
      <dgm:t>
        <a:bodyPr/>
        <a:lstStyle/>
        <a:p>
          <a:endParaRPr lang="en-US"/>
        </a:p>
      </dgm:t>
    </dgm:pt>
    <dgm:pt modelId="{05935DFE-A416-41F4-B55B-82290A5274A3}">
      <dgm:prSet/>
      <dgm:spPr/>
      <dgm:t>
        <a:bodyPr/>
        <a:lstStyle/>
        <a:p>
          <a:r>
            <a:rPr lang="en-US"/>
            <a:t>Ramapala (reigned c. 1077–1120)</a:t>
          </a:r>
        </a:p>
      </dgm:t>
    </dgm:pt>
    <dgm:pt modelId="{37FB63DB-129F-4CA4-8654-BA9A987203D9}" type="parTrans" cxnId="{BA0E2C05-AAC0-4789-9ACE-4AE437FC2F38}">
      <dgm:prSet/>
      <dgm:spPr/>
      <dgm:t>
        <a:bodyPr/>
        <a:lstStyle/>
        <a:p>
          <a:endParaRPr lang="en-US"/>
        </a:p>
      </dgm:t>
    </dgm:pt>
    <dgm:pt modelId="{89D80A96-FB9F-4F23-BDF7-94802C05A38C}" type="sibTrans" cxnId="{BA0E2C05-AAC0-4789-9ACE-4AE437FC2F38}">
      <dgm:prSet/>
      <dgm:spPr/>
      <dgm:t>
        <a:bodyPr/>
        <a:lstStyle/>
        <a:p>
          <a:endParaRPr lang="en-US"/>
        </a:p>
      </dgm:t>
    </dgm:pt>
    <dgm:pt modelId="{5E904A4F-F489-41FD-B646-E30373A7A42D}" type="pres">
      <dgm:prSet presAssocID="{B90833C5-3358-481E-8CFA-93FF0383D8F6}" presName="Name0" presStyleCnt="0">
        <dgm:presLayoutVars>
          <dgm:dir/>
          <dgm:resizeHandles val="exact"/>
        </dgm:presLayoutVars>
      </dgm:prSet>
      <dgm:spPr/>
    </dgm:pt>
    <dgm:pt modelId="{3C04F510-7145-4BF9-8821-BC6D14CD6D16}" type="pres">
      <dgm:prSet presAssocID="{73C40803-7F81-421C-BBB2-AFF812D34CA1}" presName="parTxOnly" presStyleLbl="node1" presStyleIdx="0" presStyleCnt="4" custScaleX="85936">
        <dgm:presLayoutVars>
          <dgm:bulletEnabled val="1"/>
        </dgm:presLayoutVars>
      </dgm:prSet>
      <dgm:spPr/>
    </dgm:pt>
    <dgm:pt modelId="{000AA363-3E8E-4B5C-AE9A-401EB1DF9F6F}" type="pres">
      <dgm:prSet presAssocID="{20A3FB5F-C269-4372-9CC6-DDC87D107CBF}" presName="parSpace" presStyleCnt="0"/>
      <dgm:spPr/>
    </dgm:pt>
    <dgm:pt modelId="{AB173DD8-2BEC-40DD-98C8-3A98784447A0}" type="pres">
      <dgm:prSet presAssocID="{28FEBC47-48CF-494F-91B5-95379184782A}" presName="parTxOnly" presStyleLbl="node1" presStyleIdx="1" presStyleCnt="4">
        <dgm:presLayoutVars>
          <dgm:bulletEnabled val="1"/>
        </dgm:presLayoutVars>
      </dgm:prSet>
      <dgm:spPr/>
    </dgm:pt>
    <dgm:pt modelId="{457CC046-FE81-4046-9FD1-7A653C25E662}" type="pres">
      <dgm:prSet presAssocID="{BF8D0CC7-A9F0-4C83-A9D9-DFA0B5D67AC6}" presName="parSpace" presStyleCnt="0"/>
      <dgm:spPr/>
    </dgm:pt>
    <dgm:pt modelId="{8C97915A-4304-47AA-AA4E-1166452521C8}" type="pres">
      <dgm:prSet presAssocID="{94C56440-918D-4B57-B8FA-44CE8F2F590C}" presName="parTxOnly" presStyleLbl="node1" presStyleIdx="2" presStyleCnt="4">
        <dgm:presLayoutVars>
          <dgm:bulletEnabled val="1"/>
        </dgm:presLayoutVars>
      </dgm:prSet>
      <dgm:spPr/>
    </dgm:pt>
    <dgm:pt modelId="{DC1C13BB-8E04-47EA-80E2-686466F6B43C}" type="pres">
      <dgm:prSet presAssocID="{9AED4D01-C75F-4139-B5B6-237E2F8A18CB}" presName="parSpace" presStyleCnt="0"/>
      <dgm:spPr/>
    </dgm:pt>
    <dgm:pt modelId="{D119DC76-18C1-44A0-9AF0-99684EE776DC}" type="pres">
      <dgm:prSet presAssocID="{05935DFE-A416-41F4-B55B-82290A5274A3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A0E2C05-AAC0-4789-9ACE-4AE437FC2F38}" srcId="{B90833C5-3358-481E-8CFA-93FF0383D8F6}" destId="{05935DFE-A416-41F4-B55B-82290A5274A3}" srcOrd="3" destOrd="0" parTransId="{37FB63DB-129F-4CA4-8654-BA9A987203D9}" sibTransId="{89D80A96-FB9F-4F23-BDF7-94802C05A38C}"/>
    <dgm:cxn modelId="{B078B409-0863-4124-959B-57AFB1BD234B}" srcId="{B90833C5-3358-481E-8CFA-93FF0383D8F6}" destId="{94C56440-918D-4B57-B8FA-44CE8F2F590C}" srcOrd="2" destOrd="0" parTransId="{74FDC85A-F277-4757-9103-68E6C60EA569}" sibTransId="{9AED4D01-C75F-4139-B5B6-237E2F8A18CB}"/>
    <dgm:cxn modelId="{E4DE2F2B-C9FD-48ED-B93F-26635B08A960}" srcId="{B90833C5-3358-481E-8CFA-93FF0383D8F6}" destId="{73C40803-7F81-421C-BBB2-AFF812D34CA1}" srcOrd="0" destOrd="0" parTransId="{973718CC-8ED1-452B-899B-9C63E217DBD7}" sibTransId="{20A3FB5F-C269-4372-9CC6-DDC87D107CBF}"/>
    <dgm:cxn modelId="{B1F7F82C-0008-4F94-9DD2-4C0C2058CCC3}" type="presOf" srcId="{94C56440-918D-4B57-B8FA-44CE8F2F590C}" destId="{8C97915A-4304-47AA-AA4E-1166452521C8}" srcOrd="0" destOrd="0" presId="urn:microsoft.com/office/officeart/2005/8/layout/hChevron3"/>
    <dgm:cxn modelId="{196F3363-3883-47B5-B771-52DB8FBEF63A}" srcId="{B90833C5-3358-481E-8CFA-93FF0383D8F6}" destId="{28FEBC47-48CF-494F-91B5-95379184782A}" srcOrd="1" destOrd="0" parTransId="{19DAE638-EFD6-4178-8DEF-3414DA83FC1F}" sibTransId="{BF8D0CC7-A9F0-4C83-A9D9-DFA0B5D67AC6}"/>
    <dgm:cxn modelId="{A7282452-9B2D-47BE-B739-6BA1B5E41396}" type="presOf" srcId="{B90833C5-3358-481E-8CFA-93FF0383D8F6}" destId="{5E904A4F-F489-41FD-B646-E30373A7A42D}" srcOrd="0" destOrd="0" presId="urn:microsoft.com/office/officeart/2005/8/layout/hChevron3"/>
    <dgm:cxn modelId="{0CE26398-3243-4D90-9914-C27E9080D5D6}" type="presOf" srcId="{05935DFE-A416-41F4-B55B-82290A5274A3}" destId="{D119DC76-18C1-44A0-9AF0-99684EE776DC}" srcOrd="0" destOrd="0" presId="urn:microsoft.com/office/officeart/2005/8/layout/hChevron3"/>
    <dgm:cxn modelId="{2566979B-D727-4E14-85BE-3EEA44C6E698}" type="presOf" srcId="{28FEBC47-48CF-494F-91B5-95379184782A}" destId="{AB173DD8-2BEC-40DD-98C8-3A98784447A0}" srcOrd="0" destOrd="0" presId="urn:microsoft.com/office/officeart/2005/8/layout/hChevron3"/>
    <dgm:cxn modelId="{5580B1B4-CD50-4973-90BA-3E5B6C198EE8}" type="presOf" srcId="{73C40803-7F81-421C-BBB2-AFF812D34CA1}" destId="{3C04F510-7145-4BF9-8821-BC6D14CD6D16}" srcOrd="0" destOrd="0" presId="urn:microsoft.com/office/officeart/2005/8/layout/hChevron3"/>
    <dgm:cxn modelId="{265F81CB-8F7B-4A33-8153-CBE8C5A3BC5B}" type="presParOf" srcId="{5E904A4F-F489-41FD-B646-E30373A7A42D}" destId="{3C04F510-7145-4BF9-8821-BC6D14CD6D16}" srcOrd="0" destOrd="0" presId="urn:microsoft.com/office/officeart/2005/8/layout/hChevron3"/>
    <dgm:cxn modelId="{80CD419D-8351-4CFA-9915-EE89182EDB4D}" type="presParOf" srcId="{5E904A4F-F489-41FD-B646-E30373A7A42D}" destId="{000AA363-3E8E-4B5C-AE9A-401EB1DF9F6F}" srcOrd="1" destOrd="0" presId="urn:microsoft.com/office/officeart/2005/8/layout/hChevron3"/>
    <dgm:cxn modelId="{6E3A845A-0E49-488A-94DA-C494A2CA5F39}" type="presParOf" srcId="{5E904A4F-F489-41FD-B646-E30373A7A42D}" destId="{AB173DD8-2BEC-40DD-98C8-3A98784447A0}" srcOrd="2" destOrd="0" presId="urn:microsoft.com/office/officeart/2005/8/layout/hChevron3"/>
    <dgm:cxn modelId="{DCD311CA-E652-4ADC-8191-24CC512A5AE9}" type="presParOf" srcId="{5E904A4F-F489-41FD-B646-E30373A7A42D}" destId="{457CC046-FE81-4046-9FD1-7A653C25E662}" srcOrd="3" destOrd="0" presId="urn:microsoft.com/office/officeart/2005/8/layout/hChevron3"/>
    <dgm:cxn modelId="{39677902-D9A6-49D1-8065-F59BF7EBEF3F}" type="presParOf" srcId="{5E904A4F-F489-41FD-B646-E30373A7A42D}" destId="{8C97915A-4304-47AA-AA4E-1166452521C8}" srcOrd="4" destOrd="0" presId="urn:microsoft.com/office/officeart/2005/8/layout/hChevron3"/>
    <dgm:cxn modelId="{119FE360-0F48-46B7-BB42-3049FF2DCCCA}" type="presParOf" srcId="{5E904A4F-F489-41FD-B646-E30373A7A42D}" destId="{DC1C13BB-8E04-47EA-80E2-686466F6B43C}" srcOrd="5" destOrd="0" presId="urn:microsoft.com/office/officeart/2005/8/layout/hChevron3"/>
    <dgm:cxn modelId="{BD23E56E-20E1-4192-A178-C4529611C49E}" type="presParOf" srcId="{5E904A4F-F489-41FD-B646-E30373A7A42D}" destId="{D119DC76-18C1-44A0-9AF0-99684EE776DC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A13BA8-4005-4B7E-8222-C3EA0A2D299A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B7C395D-87C5-4B02-95AB-A008773F76AA}">
      <dgm:prSet phldrT="[Text]"/>
      <dgm:spPr/>
      <dgm:t>
        <a:bodyPr/>
        <a:lstStyle/>
        <a:p>
          <a:r>
            <a:rPr lang="en-US" dirty="0" err="1"/>
            <a:t>Hemantasena</a:t>
          </a:r>
          <a:endParaRPr lang="en-US" dirty="0"/>
        </a:p>
      </dgm:t>
    </dgm:pt>
    <dgm:pt modelId="{8A534DFE-521C-483B-B088-413AA28A042F}" type="parTrans" cxnId="{75F0FA7A-261C-4F1D-BF56-017DE8BD5652}">
      <dgm:prSet/>
      <dgm:spPr/>
      <dgm:t>
        <a:bodyPr/>
        <a:lstStyle/>
        <a:p>
          <a:endParaRPr lang="en-US"/>
        </a:p>
      </dgm:t>
    </dgm:pt>
    <dgm:pt modelId="{213BEDFE-696B-4327-8BA7-1C62442D8184}" type="sibTrans" cxnId="{75F0FA7A-261C-4F1D-BF56-017DE8BD5652}">
      <dgm:prSet/>
      <dgm:spPr/>
      <dgm:t>
        <a:bodyPr/>
        <a:lstStyle/>
        <a:p>
          <a:endParaRPr lang="en-US"/>
        </a:p>
      </dgm:t>
    </dgm:pt>
    <dgm:pt modelId="{1A012D92-5136-4922-BEB4-E6EC3C0BDC7F}">
      <dgm:prSet phldrT="[Text]"/>
      <dgm:spPr/>
      <dgm:t>
        <a:bodyPr/>
        <a:lstStyle/>
        <a:p>
          <a:r>
            <a:rPr lang="en-US" dirty="0" err="1"/>
            <a:t>Vijayasena</a:t>
          </a:r>
          <a:r>
            <a:rPr lang="en-US" dirty="0"/>
            <a:t> (reigned c. 1095–1158)</a:t>
          </a:r>
        </a:p>
      </dgm:t>
    </dgm:pt>
    <dgm:pt modelId="{2C7F7B5C-FFD6-45CC-BA20-7ED7EC3B2C53}" type="parTrans" cxnId="{50F71F35-E35A-4EAB-BCFF-70C6138BBB31}">
      <dgm:prSet/>
      <dgm:spPr/>
      <dgm:t>
        <a:bodyPr/>
        <a:lstStyle/>
        <a:p>
          <a:endParaRPr lang="en-US"/>
        </a:p>
      </dgm:t>
    </dgm:pt>
    <dgm:pt modelId="{046048B1-39FB-48CA-AC0D-8C534EFF3F2D}" type="sibTrans" cxnId="{50F71F35-E35A-4EAB-BCFF-70C6138BBB31}">
      <dgm:prSet/>
      <dgm:spPr/>
      <dgm:t>
        <a:bodyPr/>
        <a:lstStyle/>
        <a:p>
          <a:endParaRPr lang="en-US"/>
        </a:p>
      </dgm:t>
    </dgm:pt>
    <dgm:pt modelId="{0DDEFDD3-B42B-4C4A-91FD-5D4900321B61}">
      <dgm:prSet phldrT="[Text]"/>
      <dgm:spPr/>
      <dgm:t>
        <a:bodyPr/>
        <a:lstStyle/>
        <a:p>
          <a:r>
            <a:rPr lang="en-US" dirty="0" err="1"/>
            <a:t>Vallalasena</a:t>
          </a:r>
          <a:endParaRPr lang="en-US" dirty="0"/>
        </a:p>
      </dgm:t>
    </dgm:pt>
    <dgm:pt modelId="{35ECB929-E8C1-4E2A-A0BA-5B1517246C64}" type="parTrans" cxnId="{D8EB7786-6883-4592-A327-08DEAFD8E4D0}">
      <dgm:prSet/>
      <dgm:spPr/>
      <dgm:t>
        <a:bodyPr/>
        <a:lstStyle/>
        <a:p>
          <a:endParaRPr lang="en-US"/>
        </a:p>
      </dgm:t>
    </dgm:pt>
    <dgm:pt modelId="{07B140C8-735F-4B3F-B395-3BE2078027BF}" type="sibTrans" cxnId="{D8EB7786-6883-4592-A327-08DEAFD8E4D0}">
      <dgm:prSet/>
      <dgm:spPr/>
      <dgm:t>
        <a:bodyPr/>
        <a:lstStyle/>
        <a:p>
          <a:endParaRPr lang="en-US"/>
        </a:p>
      </dgm:t>
    </dgm:pt>
    <dgm:pt modelId="{549E77DD-C8C0-4E6E-AAE5-0D811B841833}">
      <dgm:prSet phldrT="[Text]"/>
      <dgm:spPr/>
      <dgm:t>
        <a:bodyPr/>
        <a:lstStyle/>
        <a:p>
          <a:r>
            <a:rPr lang="en-US" dirty="0" err="1"/>
            <a:t>Lakshmanasena</a:t>
          </a:r>
          <a:r>
            <a:rPr lang="en-US" dirty="0"/>
            <a:t> (reigned c. 1178– c. 1205)</a:t>
          </a:r>
        </a:p>
      </dgm:t>
    </dgm:pt>
    <dgm:pt modelId="{6DA73DC6-6D80-4BF1-98B7-A225C24989A8}" type="parTrans" cxnId="{A37275BC-AE4F-42D8-923E-700AAE6C26AC}">
      <dgm:prSet/>
      <dgm:spPr/>
      <dgm:t>
        <a:bodyPr/>
        <a:lstStyle/>
        <a:p>
          <a:endParaRPr lang="en-US"/>
        </a:p>
      </dgm:t>
    </dgm:pt>
    <dgm:pt modelId="{E58AFBFF-5940-4067-9B6B-79E1D1896520}" type="sibTrans" cxnId="{A37275BC-AE4F-42D8-923E-700AAE6C26AC}">
      <dgm:prSet/>
      <dgm:spPr/>
      <dgm:t>
        <a:bodyPr/>
        <a:lstStyle/>
        <a:p>
          <a:endParaRPr lang="en-US"/>
        </a:p>
      </dgm:t>
    </dgm:pt>
    <dgm:pt modelId="{6F8CA827-CABB-4B26-AD98-969F67C08D7B}" type="pres">
      <dgm:prSet presAssocID="{99A13BA8-4005-4B7E-8222-C3EA0A2D299A}" presName="Name0" presStyleCnt="0">
        <dgm:presLayoutVars>
          <dgm:dir/>
          <dgm:resizeHandles val="exact"/>
        </dgm:presLayoutVars>
      </dgm:prSet>
      <dgm:spPr/>
    </dgm:pt>
    <dgm:pt modelId="{2A266863-A9A1-4A24-A5C3-F4BCC01699DC}" type="pres">
      <dgm:prSet presAssocID="{3B7C395D-87C5-4B02-95AB-A008773F76AA}" presName="parTxOnly" presStyleLbl="node1" presStyleIdx="0" presStyleCnt="4">
        <dgm:presLayoutVars>
          <dgm:bulletEnabled val="1"/>
        </dgm:presLayoutVars>
      </dgm:prSet>
      <dgm:spPr/>
    </dgm:pt>
    <dgm:pt modelId="{41C3D516-B327-4351-9FB7-0E6997038FF6}" type="pres">
      <dgm:prSet presAssocID="{213BEDFE-696B-4327-8BA7-1C62442D8184}" presName="parSpace" presStyleCnt="0"/>
      <dgm:spPr/>
    </dgm:pt>
    <dgm:pt modelId="{0D16F8AA-BD39-4B0F-B717-C4BCF0721FEA}" type="pres">
      <dgm:prSet presAssocID="{1A012D92-5136-4922-BEB4-E6EC3C0BDC7F}" presName="parTxOnly" presStyleLbl="node1" presStyleIdx="1" presStyleCnt="4">
        <dgm:presLayoutVars>
          <dgm:bulletEnabled val="1"/>
        </dgm:presLayoutVars>
      </dgm:prSet>
      <dgm:spPr/>
    </dgm:pt>
    <dgm:pt modelId="{B42ED1A9-EE59-42DC-8FF2-769D389655A9}" type="pres">
      <dgm:prSet presAssocID="{046048B1-39FB-48CA-AC0D-8C534EFF3F2D}" presName="parSpace" presStyleCnt="0"/>
      <dgm:spPr/>
    </dgm:pt>
    <dgm:pt modelId="{5223A6F1-BBE5-4970-B69A-45557D4518A9}" type="pres">
      <dgm:prSet presAssocID="{0DDEFDD3-B42B-4C4A-91FD-5D4900321B61}" presName="parTxOnly" presStyleLbl="node1" presStyleIdx="2" presStyleCnt="4">
        <dgm:presLayoutVars>
          <dgm:bulletEnabled val="1"/>
        </dgm:presLayoutVars>
      </dgm:prSet>
      <dgm:spPr/>
    </dgm:pt>
    <dgm:pt modelId="{41C9183F-84C1-4BA7-B4BE-87BEF8FBC092}" type="pres">
      <dgm:prSet presAssocID="{07B140C8-735F-4B3F-B395-3BE2078027BF}" presName="parSpace" presStyleCnt="0"/>
      <dgm:spPr/>
    </dgm:pt>
    <dgm:pt modelId="{EFD64F5C-F30B-4872-B9AD-FA3B116D3296}" type="pres">
      <dgm:prSet presAssocID="{549E77DD-C8C0-4E6E-AAE5-0D811B841833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50F71F35-E35A-4EAB-BCFF-70C6138BBB31}" srcId="{99A13BA8-4005-4B7E-8222-C3EA0A2D299A}" destId="{1A012D92-5136-4922-BEB4-E6EC3C0BDC7F}" srcOrd="1" destOrd="0" parTransId="{2C7F7B5C-FFD6-45CC-BA20-7ED7EC3B2C53}" sibTransId="{046048B1-39FB-48CA-AC0D-8C534EFF3F2D}"/>
    <dgm:cxn modelId="{39FB825F-CC12-46FA-A29C-15C3D4BCA6E3}" type="presOf" srcId="{99A13BA8-4005-4B7E-8222-C3EA0A2D299A}" destId="{6F8CA827-CABB-4B26-AD98-969F67C08D7B}" srcOrd="0" destOrd="0" presId="urn:microsoft.com/office/officeart/2005/8/layout/hChevron3"/>
    <dgm:cxn modelId="{88F57E69-BCC8-4162-8A7F-02F5D60BC81C}" type="presOf" srcId="{0DDEFDD3-B42B-4C4A-91FD-5D4900321B61}" destId="{5223A6F1-BBE5-4970-B69A-45557D4518A9}" srcOrd="0" destOrd="0" presId="urn:microsoft.com/office/officeart/2005/8/layout/hChevron3"/>
    <dgm:cxn modelId="{75F0FA7A-261C-4F1D-BF56-017DE8BD5652}" srcId="{99A13BA8-4005-4B7E-8222-C3EA0A2D299A}" destId="{3B7C395D-87C5-4B02-95AB-A008773F76AA}" srcOrd="0" destOrd="0" parTransId="{8A534DFE-521C-483B-B088-413AA28A042F}" sibTransId="{213BEDFE-696B-4327-8BA7-1C62442D8184}"/>
    <dgm:cxn modelId="{D8EB7786-6883-4592-A327-08DEAFD8E4D0}" srcId="{99A13BA8-4005-4B7E-8222-C3EA0A2D299A}" destId="{0DDEFDD3-B42B-4C4A-91FD-5D4900321B61}" srcOrd="2" destOrd="0" parTransId="{35ECB929-E8C1-4E2A-A0BA-5B1517246C64}" sibTransId="{07B140C8-735F-4B3F-B395-3BE2078027BF}"/>
    <dgm:cxn modelId="{8487E6AE-A3C7-48FB-8716-1D33765851A4}" type="presOf" srcId="{1A012D92-5136-4922-BEB4-E6EC3C0BDC7F}" destId="{0D16F8AA-BD39-4B0F-B717-C4BCF0721FEA}" srcOrd="0" destOrd="0" presId="urn:microsoft.com/office/officeart/2005/8/layout/hChevron3"/>
    <dgm:cxn modelId="{A37275BC-AE4F-42D8-923E-700AAE6C26AC}" srcId="{99A13BA8-4005-4B7E-8222-C3EA0A2D299A}" destId="{549E77DD-C8C0-4E6E-AAE5-0D811B841833}" srcOrd="3" destOrd="0" parTransId="{6DA73DC6-6D80-4BF1-98B7-A225C24989A8}" sibTransId="{E58AFBFF-5940-4067-9B6B-79E1D1896520}"/>
    <dgm:cxn modelId="{630DAAD9-B58B-4670-9B6A-9DDB0189E85F}" type="presOf" srcId="{3B7C395D-87C5-4B02-95AB-A008773F76AA}" destId="{2A266863-A9A1-4A24-A5C3-F4BCC01699DC}" srcOrd="0" destOrd="0" presId="urn:microsoft.com/office/officeart/2005/8/layout/hChevron3"/>
    <dgm:cxn modelId="{669AFCE6-FE2A-4AB9-9A7C-9A4E725FB84F}" type="presOf" srcId="{549E77DD-C8C0-4E6E-AAE5-0D811B841833}" destId="{EFD64F5C-F30B-4872-B9AD-FA3B116D3296}" srcOrd="0" destOrd="0" presId="urn:microsoft.com/office/officeart/2005/8/layout/hChevron3"/>
    <dgm:cxn modelId="{9BA63F53-1C78-4D21-9CBF-C4A005EB6CB6}" type="presParOf" srcId="{6F8CA827-CABB-4B26-AD98-969F67C08D7B}" destId="{2A266863-A9A1-4A24-A5C3-F4BCC01699DC}" srcOrd="0" destOrd="0" presId="urn:microsoft.com/office/officeart/2005/8/layout/hChevron3"/>
    <dgm:cxn modelId="{F4D2E243-B764-4C12-B3CD-C5B85316CD6B}" type="presParOf" srcId="{6F8CA827-CABB-4B26-AD98-969F67C08D7B}" destId="{41C3D516-B327-4351-9FB7-0E6997038FF6}" srcOrd="1" destOrd="0" presId="urn:microsoft.com/office/officeart/2005/8/layout/hChevron3"/>
    <dgm:cxn modelId="{70839661-E289-41D9-B8CD-C5315D9724F1}" type="presParOf" srcId="{6F8CA827-CABB-4B26-AD98-969F67C08D7B}" destId="{0D16F8AA-BD39-4B0F-B717-C4BCF0721FEA}" srcOrd="2" destOrd="0" presId="urn:microsoft.com/office/officeart/2005/8/layout/hChevron3"/>
    <dgm:cxn modelId="{AE49B740-0472-4307-9FB3-93875FA559B0}" type="presParOf" srcId="{6F8CA827-CABB-4B26-AD98-969F67C08D7B}" destId="{B42ED1A9-EE59-42DC-8FF2-769D389655A9}" srcOrd="3" destOrd="0" presId="urn:microsoft.com/office/officeart/2005/8/layout/hChevron3"/>
    <dgm:cxn modelId="{DC537541-724D-4BC0-9023-823FB4515228}" type="presParOf" srcId="{6F8CA827-CABB-4B26-AD98-969F67C08D7B}" destId="{5223A6F1-BBE5-4970-B69A-45557D4518A9}" srcOrd="4" destOrd="0" presId="urn:microsoft.com/office/officeart/2005/8/layout/hChevron3"/>
    <dgm:cxn modelId="{B80BFDC5-85B6-45BA-93E2-C11F10994E43}" type="presParOf" srcId="{6F8CA827-CABB-4B26-AD98-969F67C08D7B}" destId="{41C9183F-84C1-4BA7-B4BE-87BEF8FBC092}" srcOrd="5" destOrd="0" presId="urn:microsoft.com/office/officeart/2005/8/layout/hChevron3"/>
    <dgm:cxn modelId="{C8ABAED0-9A7E-4FA7-8CF8-712E0A64E75A}" type="presParOf" srcId="{6F8CA827-CABB-4B26-AD98-969F67C08D7B}" destId="{EFD64F5C-F30B-4872-B9AD-FA3B116D3296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4F510-7145-4BF9-8821-BC6D14CD6D16}">
      <dsp:nvSpPr>
        <dsp:cNvPr id="0" name=""/>
        <dsp:cNvSpPr/>
      </dsp:nvSpPr>
      <dsp:spPr>
        <a:xfrm>
          <a:off x="2692" y="1251773"/>
          <a:ext cx="2589979" cy="1205538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Gopala</a:t>
          </a:r>
        </a:p>
      </dsp:txBody>
      <dsp:txXfrm>
        <a:off x="2692" y="1251773"/>
        <a:ext cx="2288595" cy="1205538"/>
      </dsp:txXfrm>
    </dsp:sp>
    <dsp:sp modelId="{AB173DD8-2BEC-40DD-98C8-3A98784447A0}">
      <dsp:nvSpPr>
        <dsp:cNvPr id="0" name=""/>
        <dsp:cNvSpPr/>
      </dsp:nvSpPr>
      <dsp:spPr>
        <a:xfrm>
          <a:off x="1989902" y="1251773"/>
          <a:ext cx="3013847" cy="120553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66675" rIns="33338" bIns="666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Dharmapala (reigned c. 770–810)</a:t>
          </a:r>
        </a:p>
      </dsp:txBody>
      <dsp:txXfrm>
        <a:off x="2592671" y="1251773"/>
        <a:ext cx="1808309" cy="1205538"/>
      </dsp:txXfrm>
    </dsp:sp>
    <dsp:sp modelId="{8C97915A-4304-47AA-AA4E-1166452521C8}">
      <dsp:nvSpPr>
        <dsp:cNvPr id="0" name=""/>
        <dsp:cNvSpPr/>
      </dsp:nvSpPr>
      <dsp:spPr>
        <a:xfrm>
          <a:off x="4400980" y="1251773"/>
          <a:ext cx="3013847" cy="120553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66675" rIns="33338" bIns="666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Devapala</a:t>
          </a:r>
          <a:r>
            <a:rPr lang="en-US" sz="2500" kern="1200" dirty="0"/>
            <a:t> (reigned c. 810–850)</a:t>
          </a:r>
        </a:p>
      </dsp:txBody>
      <dsp:txXfrm>
        <a:off x="5003749" y="1251773"/>
        <a:ext cx="1808309" cy="1205538"/>
      </dsp:txXfrm>
    </dsp:sp>
    <dsp:sp modelId="{D119DC76-18C1-44A0-9AF0-99684EE776DC}">
      <dsp:nvSpPr>
        <dsp:cNvPr id="0" name=""/>
        <dsp:cNvSpPr/>
      </dsp:nvSpPr>
      <dsp:spPr>
        <a:xfrm>
          <a:off x="6812058" y="1251773"/>
          <a:ext cx="3013847" cy="120553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66675" rIns="33338" bIns="666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Ramapala (reigned c. 1077–1120)</a:t>
          </a:r>
        </a:p>
      </dsp:txBody>
      <dsp:txXfrm>
        <a:off x="7414827" y="1251773"/>
        <a:ext cx="1808309" cy="12055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66863-A9A1-4A24-A5C3-F4BCC01699DC}">
      <dsp:nvSpPr>
        <dsp:cNvPr id="0" name=""/>
        <dsp:cNvSpPr/>
      </dsp:nvSpPr>
      <dsp:spPr>
        <a:xfrm>
          <a:off x="3080" y="1557466"/>
          <a:ext cx="3091011" cy="123640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Hemantasena</a:t>
          </a:r>
          <a:endParaRPr lang="en-US" sz="2100" kern="1200" dirty="0"/>
        </a:p>
      </dsp:txBody>
      <dsp:txXfrm>
        <a:off x="3080" y="1557466"/>
        <a:ext cx="2781910" cy="1236404"/>
      </dsp:txXfrm>
    </dsp:sp>
    <dsp:sp modelId="{0D16F8AA-BD39-4B0F-B717-C4BCF0721FEA}">
      <dsp:nvSpPr>
        <dsp:cNvPr id="0" name=""/>
        <dsp:cNvSpPr/>
      </dsp:nvSpPr>
      <dsp:spPr>
        <a:xfrm>
          <a:off x="2475889" y="1557466"/>
          <a:ext cx="3091011" cy="12364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Vijayasena</a:t>
          </a:r>
          <a:r>
            <a:rPr lang="en-US" sz="2100" kern="1200" dirty="0"/>
            <a:t> (reigned c. 1095–1158)</a:t>
          </a:r>
        </a:p>
      </dsp:txBody>
      <dsp:txXfrm>
        <a:off x="3094091" y="1557466"/>
        <a:ext cx="1854607" cy="1236404"/>
      </dsp:txXfrm>
    </dsp:sp>
    <dsp:sp modelId="{5223A6F1-BBE5-4970-B69A-45557D4518A9}">
      <dsp:nvSpPr>
        <dsp:cNvPr id="0" name=""/>
        <dsp:cNvSpPr/>
      </dsp:nvSpPr>
      <dsp:spPr>
        <a:xfrm>
          <a:off x="4948698" y="1557466"/>
          <a:ext cx="3091011" cy="12364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Vallalasena</a:t>
          </a:r>
          <a:endParaRPr lang="en-US" sz="2100" kern="1200" dirty="0"/>
        </a:p>
      </dsp:txBody>
      <dsp:txXfrm>
        <a:off x="5566900" y="1557466"/>
        <a:ext cx="1854607" cy="1236404"/>
      </dsp:txXfrm>
    </dsp:sp>
    <dsp:sp modelId="{EFD64F5C-F30B-4872-B9AD-FA3B116D3296}">
      <dsp:nvSpPr>
        <dsp:cNvPr id="0" name=""/>
        <dsp:cNvSpPr/>
      </dsp:nvSpPr>
      <dsp:spPr>
        <a:xfrm>
          <a:off x="7421507" y="1557466"/>
          <a:ext cx="3091011" cy="12364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Lakshmanasena</a:t>
          </a:r>
          <a:r>
            <a:rPr lang="en-US" sz="2100" kern="1200" dirty="0"/>
            <a:t> (reigned c. 1178– c. 1205)</a:t>
          </a:r>
        </a:p>
      </dsp:txBody>
      <dsp:txXfrm>
        <a:off x="8039709" y="1557466"/>
        <a:ext cx="1854607" cy="1236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B3AC-BF42-5004-3B1D-311382494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4D170-BE3A-A310-5237-236A4CB6A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A0A83-0957-08D9-3BFF-0BE49F02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BFEF-0BD6-0D76-D1D4-A4603DD0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52F86-47F8-07A8-F765-3A4F69ED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7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FD2A-E2CD-308A-53B4-80212F7B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CE490-28EA-6274-A2E3-70E0763B1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E399-CF94-0B31-B219-B6358348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1EF51-3AAE-93F5-0CA2-F15B7880D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F237D-126F-6E9D-9ED1-9CEEC50C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5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0561-247C-ED04-2298-AE1A8455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57613-50F8-9FF2-0190-CDA54EC1F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99A0-6851-799C-ABF8-DF336255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B24D0-3672-BC8A-C672-574D3E0D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F187B-C20E-8A31-215F-1DBBB5BE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4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E66F-9F0E-E2F1-89CB-91016682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94D0-FE05-332D-5569-868878CA7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AAB59-53BA-2388-4C4B-D6C892C7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5BD99-DD61-6AAD-B5C6-8040DF37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87E1D-59F7-6400-AEB0-D52A1794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CB407-0071-CC21-E9B1-8865883A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8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6406-5116-5124-BD42-288286DA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9C694-B5BB-013B-914D-633525B34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1B3D9-8B74-8641-76A8-F565AB402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58AE0-631F-70CA-FA71-154A27A59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B2732-20B8-572D-5FFD-F63B935C8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F9BDF-51FB-18CC-635B-9E91BEBB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A90A5-E311-263D-1A27-37EE0C676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0D5A9-A955-3158-D3FF-3FDC54D1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8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D023-347A-DE99-08DC-ACC6F209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BE09-A011-C0E3-9F97-605BD9AD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DCC08-33D9-A5DD-72F6-8E1F023F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F653D-D15C-7AFA-A0E6-7AE894F5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09CE-5DA1-68BC-1E94-22A66067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A83C2-8BC5-71DB-6803-E4A50DA9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B2BC4-030A-2496-C678-BCE401A2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6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6FAD-58C7-1E3B-D04F-F99DD13A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AFF5-7D68-E341-DBBC-6047572C6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EB992-D9BE-226D-432A-86A9BD5AA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55465-9E9C-FAE5-C433-31B98DDE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99329-F8F8-2B7A-9022-738F4CE9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B53A3-D63E-3134-DCED-4581D06D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7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7400-FDED-68DC-116D-3488B99B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0F215-B79F-7570-0BE9-E1CC1A10B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24EAC-5192-98F1-FC64-0A732DFF9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0E4FD-1B17-9D4B-E596-10D611926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5F6F9-3E2F-A391-A10B-F37596B0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096E1-AA3E-E969-2B27-AF9AC405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8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B8CD-7581-922A-9438-B1D158C9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508DB-93FE-DF93-A181-965ECE33A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487BC-C0A9-FFD1-916E-E11C402C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C624-E4DD-0849-F81E-B68F6BB3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F446-342D-A884-71F0-F3D016E3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5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09E2A-6A92-6355-C1BB-628532FE2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38A9F-130C-3771-C507-BC2C68B70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183A-EDD5-7857-1ACA-FED91863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381BC-768F-83A2-1560-68709291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92B2-CEB6-3B66-1449-0DDA4FF5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1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51764-7E37-91EE-EDE1-31827FFF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82C9-65D3-C4AF-E4A8-FC0702858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8D14-36F5-DAE8-593C-7145DE6D0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6D998-8B27-4F4E-9111-4C664FD3FA25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3A6CB-7CB1-B162-EA89-F41A50A33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9736-B6C1-15BB-CEC2-FCDF0ED58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3776F-8275-46B3-A892-72ADF5C70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5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cyclopedia.com/places/asia/indian-political-geography/bengal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7D54-27B2-EB18-3A68-8EFD0257F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 Rounded MT Bold" panose="020F0704030504030204" pitchFamily="34" charset="0"/>
              </a:rPr>
              <a:t>The Early Political Bengal: Etymology of Bengal, </a:t>
            </a:r>
            <a:r>
              <a:rPr lang="en-US" sz="4000" b="1" dirty="0" err="1">
                <a:latin typeface="Arial Rounded MT Bold" panose="020F0704030504030204" pitchFamily="34" charset="0"/>
              </a:rPr>
              <a:t>Gangaridai</a:t>
            </a:r>
            <a:r>
              <a:rPr lang="en-US" sz="4000" b="1" dirty="0">
                <a:latin typeface="Arial Rounded MT Bold" panose="020F0704030504030204" pitchFamily="34" charset="0"/>
              </a:rPr>
              <a:t> empire, The Pala dynasty, and </a:t>
            </a:r>
            <a:r>
              <a:rPr lang="en-US" sz="4000" b="1" dirty="0" err="1">
                <a:latin typeface="Arial Rounded MT Bold" panose="020F0704030504030204" pitchFamily="34" charset="0"/>
              </a:rPr>
              <a:t>Sena</a:t>
            </a:r>
            <a:r>
              <a:rPr lang="en-US" sz="4000" b="1" dirty="0">
                <a:latin typeface="Arial Rounded MT Bold" panose="020F0704030504030204" pitchFamily="34" charset="0"/>
              </a:rPr>
              <a:t> dynasty.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C5D2-BF82-7B30-9794-B1EA54B6F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0796"/>
            <a:ext cx="9144000" cy="1655762"/>
          </a:xfrm>
        </p:spPr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Chowdhury Mujaddid Ahmed </a:t>
            </a:r>
          </a:p>
        </p:txBody>
      </p:sp>
    </p:spTree>
    <p:extLst>
      <p:ext uri="{BB962C8B-B14F-4D97-AF65-F5344CB8AC3E}">
        <p14:creationId xmlns:p14="http://schemas.microsoft.com/office/powerpoint/2010/main" val="129883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20DD-66AC-2F09-2503-433013A6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Arial Rounded MT Bold" panose="020F0704030504030204" pitchFamily="34" charset="0"/>
              </a:rPr>
              <a:t>Etymology of Bengal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14C5A-DC12-1338-0941-F26DABECEA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BENGAL The name "Bengal" (or Bangla) comes from Vanga or Banga, the name of the ancient deltaic kingdom.</a:t>
            </a:r>
          </a:p>
          <a:p>
            <a:r>
              <a:rPr lang="en-US" dirty="0"/>
              <a:t>Bengal is mentioned in the </a:t>
            </a:r>
            <a:r>
              <a:rPr lang="en-US" dirty="0" err="1"/>
              <a:t>Purāṇas</a:t>
            </a:r>
            <a:r>
              <a:rPr lang="en-US" dirty="0"/>
              <a:t> and other ancient Sanskrit literature and was known to the Romans, mentioned in The Periplus of the </a:t>
            </a:r>
            <a:r>
              <a:rPr lang="en-US" dirty="0" err="1"/>
              <a:t>Erythean</a:t>
            </a:r>
            <a:r>
              <a:rPr lang="en-US" dirty="0"/>
              <a:t> Sea (first-century </a:t>
            </a:r>
            <a:r>
              <a:rPr lang="en-US" dirty="0" err="1"/>
              <a:t>a.d.</a:t>
            </a:r>
            <a:r>
              <a:rPr lang="en-US" dirty="0"/>
              <a:t>) and in Ptolemy's Geography the following century.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59FAA-E52A-6AE0-C1C4-4208C1EBB0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According to the Buddhist text </a:t>
            </a:r>
            <a:r>
              <a:rPr lang="en-US" dirty="0" err="1"/>
              <a:t>Anguttara</a:t>
            </a:r>
            <a:r>
              <a:rPr lang="en-US" dirty="0"/>
              <a:t> </a:t>
            </a:r>
            <a:r>
              <a:rPr lang="en-US" dirty="0" err="1"/>
              <a:t>Nikaya</a:t>
            </a:r>
            <a:r>
              <a:rPr lang="en-US" dirty="0"/>
              <a:t>, Magadha was one of sixteen major states (</a:t>
            </a:r>
            <a:r>
              <a:rPr lang="en-US" dirty="0" err="1"/>
              <a:t>mahajanapadas</a:t>
            </a:r>
            <a:r>
              <a:rPr lang="en-US" dirty="0"/>
              <a:t>, "great tribal regions") in North India between about 770 and 450 </a:t>
            </a:r>
            <a:r>
              <a:rPr lang="en-US" dirty="0" err="1"/>
              <a:t>b.c.</a:t>
            </a:r>
            <a:r>
              <a:rPr lang="en-US" dirty="0"/>
              <a:t>; </a:t>
            </a:r>
          </a:p>
          <a:p>
            <a:r>
              <a:rPr lang="en-US" dirty="0" err="1"/>
              <a:t>Anga</a:t>
            </a:r>
            <a:r>
              <a:rPr lang="en-US" dirty="0"/>
              <a:t>, in the northwest of Bengal, was the easternmost of these.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-Source: </a:t>
            </a:r>
            <a:r>
              <a:rPr lang="en-US" dirty="0">
                <a:hlinkClick r:id="rId2"/>
              </a:rPr>
              <a:t>Encyclopidia.com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4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3A11-FE61-883C-350E-17FADD1A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err="1">
                <a:latin typeface="Arial Rounded MT Bold" panose="020F0704030504030204" pitchFamily="34" charset="0"/>
              </a:rPr>
              <a:t>Gangaridai</a:t>
            </a:r>
            <a:r>
              <a:rPr lang="en-US" sz="4400" b="1" dirty="0">
                <a:latin typeface="Arial Rounded MT Bold" panose="020F0704030504030204" pitchFamily="34" charset="0"/>
              </a:rPr>
              <a:t> empire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C2D7A-0434-15A8-EB56-C2B1668E5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602128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Believed to have been established around 300 BCE, the state of </a:t>
            </a:r>
            <a:r>
              <a:rPr lang="en-US" dirty="0" err="1"/>
              <a:t>Gangaridai</a:t>
            </a:r>
            <a:r>
              <a:rPr lang="en-US" dirty="0"/>
              <a:t> and its capital city of </a:t>
            </a:r>
            <a:r>
              <a:rPr lang="en-US" dirty="0" err="1"/>
              <a:t>Gange</a:t>
            </a:r>
            <a:r>
              <a:rPr lang="en-US" dirty="0"/>
              <a:t>, was located in the historical and geographical region referred to as Bengal – an area including present-day Bangladesh and India’s West Bengal State.</a:t>
            </a:r>
          </a:p>
          <a:p>
            <a:r>
              <a:rPr lang="en-US" dirty="0"/>
              <a:t>The ruins of the city of </a:t>
            </a:r>
            <a:r>
              <a:rPr lang="en-US" dirty="0" err="1"/>
              <a:t>Gange</a:t>
            </a:r>
            <a:r>
              <a:rPr lang="en-US" dirty="0"/>
              <a:t> have not yet been discovered.</a:t>
            </a:r>
          </a:p>
          <a:p>
            <a:r>
              <a:rPr lang="en-US" dirty="0"/>
              <a:t>The earliest reference to </a:t>
            </a:r>
            <a:r>
              <a:rPr lang="en-US" dirty="0" err="1"/>
              <a:t>Gangaridai</a:t>
            </a:r>
            <a:r>
              <a:rPr lang="en-US" dirty="0"/>
              <a:t> is found in the written works of the Greek ethnographer </a:t>
            </a:r>
            <a:r>
              <a:rPr lang="en-US" dirty="0" err="1"/>
              <a:t>Megasthenes</a:t>
            </a:r>
            <a:r>
              <a:rPr lang="en-US" dirty="0"/>
              <a:t> (350-290 BCE).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5D3E9E-E3F5-F4AC-65E0-6C78678348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581" y="2483361"/>
            <a:ext cx="4287564" cy="2708311"/>
          </a:xfrm>
        </p:spPr>
      </p:pic>
    </p:spTree>
    <p:extLst>
      <p:ext uri="{BB962C8B-B14F-4D97-AF65-F5344CB8AC3E}">
        <p14:creationId xmlns:p14="http://schemas.microsoft.com/office/powerpoint/2010/main" val="9434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2EBF-4443-55AB-877D-0BF61493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Nanda dynasty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8272-EAE1-DB25-6FA8-DD268BCC1F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Dhana Nanda, the last ruler of the Nanda dynasty, was king of the </a:t>
            </a:r>
            <a:r>
              <a:rPr lang="en-US" dirty="0" err="1"/>
              <a:t>Gangaridai</a:t>
            </a:r>
            <a:r>
              <a:rPr lang="en-US" dirty="0"/>
              <a:t> region at the time of the invasion by Alexander the Great.</a:t>
            </a:r>
          </a:p>
          <a:p>
            <a:r>
              <a:rPr lang="en-US" dirty="0"/>
              <a:t>The Nanda dynasty was an amalgamation of the </a:t>
            </a:r>
            <a:r>
              <a:rPr lang="en-US" dirty="0" err="1"/>
              <a:t>Prasii</a:t>
            </a:r>
            <a:r>
              <a:rPr lang="en-US" dirty="0"/>
              <a:t> and </a:t>
            </a:r>
            <a:r>
              <a:rPr lang="en-US" dirty="0" err="1"/>
              <a:t>Gangaridai</a:t>
            </a:r>
            <a:r>
              <a:rPr lang="en-US" dirty="0"/>
              <a:t> Empires. Dhana Nanda was later dethroned by Chandragupta Maurya.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8F4AA-C697-25DF-F5A8-B1684C3C6C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61" y="2241191"/>
            <a:ext cx="5181600" cy="2375617"/>
          </a:xfrm>
        </p:spPr>
      </p:pic>
    </p:spTree>
    <p:extLst>
      <p:ext uri="{BB962C8B-B14F-4D97-AF65-F5344CB8AC3E}">
        <p14:creationId xmlns:p14="http://schemas.microsoft.com/office/powerpoint/2010/main" val="187019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E5DE-C330-D8C7-5C65-A903B246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Maurya dynasty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D6E92-1078-ECDE-FD50-32F6F038C3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Mauryan Empire, which formed around 321 B.C.E. and ended in 185 B.C.E., was the first pan-Indian empire, </a:t>
            </a:r>
          </a:p>
          <a:p>
            <a:r>
              <a:rPr lang="en-US" dirty="0"/>
              <a:t>an empire that covered most of the Indian region.</a:t>
            </a:r>
          </a:p>
          <a:p>
            <a:r>
              <a:rPr lang="en-US" dirty="0"/>
              <a:t> It spanned across central and northern India as well as over parts of modern-day Iran.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53CC217-0ADB-8DF2-7CD3-5A438667AC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703" y="2444761"/>
            <a:ext cx="3298708" cy="3113066"/>
          </a:xfrm>
        </p:spPr>
      </p:pic>
    </p:spTree>
    <p:extLst>
      <p:ext uri="{BB962C8B-B14F-4D97-AF65-F5344CB8AC3E}">
        <p14:creationId xmlns:p14="http://schemas.microsoft.com/office/powerpoint/2010/main" val="38170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3BBA-6980-B579-CAA0-90DEF31B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Maurya dynasty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33C4-34A2-55BB-49B8-2D614675B6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Chandragupta’s chief minister </a:t>
            </a:r>
            <a:r>
              <a:rPr lang="en-US" b="1" dirty="0" err="1"/>
              <a:t>Kautilya</a:t>
            </a:r>
            <a:r>
              <a:rPr lang="en-US" dirty="0"/>
              <a:t>, sometimes called </a:t>
            </a:r>
            <a:r>
              <a:rPr lang="en-US" b="1" dirty="0"/>
              <a:t>Chanakya</a:t>
            </a:r>
            <a:r>
              <a:rPr lang="en-US" dirty="0"/>
              <a:t>, advised Chandragupta and contributed to the empire’s legacy. </a:t>
            </a:r>
          </a:p>
          <a:p>
            <a:r>
              <a:rPr lang="en-US" dirty="0"/>
              <a:t> political strategist, </a:t>
            </a:r>
            <a:r>
              <a:rPr lang="en-US" b="1" dirty="0" err="1"/>
              <a:t>Kautilya</a:t>
            </a:r>
            <a:r>
              <a:rPr lang="en-US" dirty="0"/>
              <a:t> is also known for writing the </a:t>
            </a:r>
            <a:r>
              <a:rPr lang="en-US" b="1" dirty="0" err="1"/>
              <a:t>Arthashastra</a:t>
            </a:r>
            <a:r>
              <a:rPr lang="en-US" dirty="0"/>
              <a:t>, a treatise about leadership and government. </a:t>
            </a:r>
          </a:p>
          <a:p>
            <a:r>
              <a:rPr lang="en-US" dirty="0"/>
              <a:t>The </a:t>
            </a:r>
            <a:r>
              <a:rPr lang="en-US" dirty="0" err="1"/>
              <a:t>Arthashastra</a:t>
            </a:r>
            <a:r>
              <a:rPr lang="en-US" dirty="0"/>
              <a:t> describes how a state should organize its economy and maintain power.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9BC68F-7BE5-136B-61CC-7F2BA7864C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84010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B126-023E-6C8A-3E0E-FF30B29B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Pala dynasty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E12A-9D11-A0EC-CE70-2AA72DEB98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Pala dynasty, the ruling dynasty in Bihar and Bengal, India, from the 8th to the 12th century. </a:t>
            </a:r>
          </a:p>
          <a:p>
            <a:r>
              <a:rPr lang="en-US" dirty="0"/>
              <a:t>Its founder, Gopala, was a local chieftain who rose to power in the mid-8th century during a period of anarchy.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DBF8BC-E503-0BDC-EE23-BBB366729E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004" y="1690688"/>
            <a:ext cx="3302000" cy="4191000"/>
          </a:xfrm>
        </p:spPr>
      </p:pic>
    </p:spTree>
    <p:extLst>
      <p:ext uri="{BB962C8B-B14F-4D97-AF65-F5344CB8AC3E}">
        <p14:creationId xmlns:p14="http://schemas.microsoft.com/office/powerpoint/2010/main" val="180487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12A3-D86E-87F5-C02B-A5FF31C6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Pala dynasty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67BFB-BE71-18A2-8106-0B795AB6A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545147"/>
              </p:ext>
            </p:extLst>
          </p:nvPr>
        </p:nvGraphicFramePr>
        <p:xfrm>
          <a:off x="1384834" y="1912070"/>
          <a:ext cx="9828598" cy="3709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134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8572-DBE7-ACDB-37BD-44BD8F7F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Sen dynasty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91A9D-529F-5BDD-E18D-5AAD5E1740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Sena</a:t>
            </a:r>
            <a:r>
              <a:rPr lang="en-US" dirty="0"/>
              <a:t> dynasty, an Indian dynasty ruling in Bengal in the 11th and 12th centuries CE.</a:t>
            </a:r>
          </a:p>
          <a:p>
            <a:r>
              <a:rPr lang="en-US" dirty="0"/>
              <a:t>Their ancestors came from the south and established themselves as chieftains in southwestern Bengal early in the 11th century.</a:t>
            </a:r>
          </a:p>
          <a:p>
            <a:r>
              <a:rPr lang="en-US" dirty="0" err="1"/>
              <a:t>Hemantasena</a:t>
            </a:r>
            <a:r>
              <a:rPr lang="en-US" dirty="0"/>
              <a:t>, the founder of the dynasty, was originally a tributary of the Pala dynasty.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D95473-4A82-F818-4AF1-77F2373386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150" y="1899444"/>
            <a:ext cx="4457700" cy="4203700"/>
          </a:xfrm>
        </p:spPr>
      </p:pic>
    </p:spTree>
    <p:extLst>
      <p:ext uri="{BB962C8B-B14F-4D97-AF65-F5344CB8AC3E}">
        <p14:creationId xmlns:p14="http://schemas.microsoft.com/office/powerpoint/2010/main" val="4626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9AD8-AA1B-EB83-B072-FA44D13B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Sen dynasty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DF3DA0-4991-641D-6CCD-D3F983BEB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12466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76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5C2D-2E71-1460-CA4D-E6B9B91F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>
                <a:latin typeface="Arial Rounded MT Bold" panose="020F0704030504030204" pitchFamily="34" charset="0"/>
              </a:rPr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0B76-5DED-2E44-D8AC-1A81EC33D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latin typeface="Arial Rounded MT Bold" panose="020F0704030504030204" pitchFamily="34" charset="0"/>
              </a:rPr>
              <a:t>End </a:t>
            </a:r>
          </a:p>
          <a:p>
            <a:pPr marL="0" indent="0" algn="ctr">
              <a:buNone/>
            </a:pPr>
            <a:r>
              <a:rPr lang="en-US" sz="7200" dirty="0">
                <a:latin typeface="Arial Rounded MT Bold" panose="020F0704030504030204" pitchFamily="34" charset="0"/>
              </a:rPr>
              <a:t>of </a:t>
            </a:r>
          </a:p>
          <a:p>
            <a:pPr marL="0" indent="0" algn="ctr">
              <a:buNone/>
            </a:pPr>
            <a:r>
              <a:rPr lang="en-US" sz="7200" dirty="0">
                <a:latin typeface="Arial Rounded MT Bold" panose="020F0704030504030204" pitchFamily="34" charset="0"/>
              </a:rPr>
              <a:t>Lecture 7 </a:t>
            </a:r>
          </a:p>
        </p:txBody>
      </p:sp>
    </p:spTree>
    <p:extLst>
      <p:ext uri="{BB962C8B-B14F-4D97-AF65-F5344CB8AC3E}">
        <p14:creationId xmlns:p14="http://schemas.microsoft.com/office/powerpoint/2010/main" val="54994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554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Office Theme</vt:lpstr>
      <vt:lpstr>The Early Political Bengal: Etymology of Bengal, Gangaridai empire, The Pala dynasty, and Sena dynasty. </vt:lpstr>
      <vt:lpstr>Etymology of Bengal</vt:lpstr>
      <vt:lpstr>Gangaridai empire</vt:lpstr>
      <vt:lpstr>Nanda dynasty</vt:lpstr>
      <vt:lpstr>Maurya dynasty</vt:lpstr>
      <vt:lpstr>Maurya dynasty (Continued)</vt:lpstr>
      <vt:lpstr>The Pala dynasty</vt:lpstr>
      <vt:lpstr>The Pala dynasty</vt:lpstr>
      <vt:lpstr>The Sen dynasty</vt:lpstr>
      <vt:lpstr>The Sen dynasty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Early Political Bengal: Etymology of Bengal, Gangaridai empire, The Pala dynasty, and Sena dynasty. </dc:title>
  <dc:creator>Chowdhury Mujaddid Ahmed</dc:creator>
  <cp:lastModifiedBy>Chowdhury Mujaddid Ahmed</cp:lastModifiedBy>
  <cp:revision>5</cp:revision>
  <dcterms:created xsi:type="dcterms:W3CDTF">2023-03-06T07:51:42Z</dcterms:created>
  <dcterms:modified xsi:type="dcterms:W3CDTF">2023-04-02T05:21:08Z</dcterms:modified>
</cp:coreProperties>
</file>