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7" d="100"/>
          <a:sy n="77" d="100"/>
        </p:scale>
        <p:origin x="268"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84F197-80E2-4C6A-B6CF-EBFF1F988872}" type="datetimeFigureOut">
              <a:rPr lang="en-US" smtClean="0"/>
              <a:t>3/15/2023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9F78C0-633D-454C-AFBB-4C914F7C8A4A}" type="slidenum">
              <a:rPr lang="en-US" smtClean="0"/>
              <a:t>‹#›</a:t>
            </a:fld>
            <a:endParaRPr lang="en-US"/>
          </a:p>
        </p:txBody>
      </p:sp>
    </p:spTree>
    <p:extLst>
      <p:ext uri="{BB962C8B-B14F-4D97-AF65-F5344CB8AC3E}">
        <p14:creationId xmlns:p14="http://schemas.microsoft.com/office/powerpoint/2010/main" val="2575579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BFD52-BF21-EFD8-305A-CAAE9A131C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2D1E2D-6056-E7FA-66B7-38BE3DD508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855C85-A775-96BE-274E-9C4758887B78}"/>
              </a:ext>
            </a:extLst>
          </p:cNvPr>
          <p:cNvSpPr>
            <a:spLocks noGrp="1"/>
          </p:cNvSpPr>
          <p:nvPr>
            <p:ph type="dt" sz="half" idx="10"/>
          </p:nvPr>
        </p:nvSpPr>
        <p:spPr/>
        <p:txBody>
          <a:bodyPr/>
          <a:lstStyle/>
          <a:p>
            <a:fld id="{A004FD32-4016-45F2-B7C1-FEA036F6551A}" type="datetime1">
              <a:rPr lang="en-US" smtClean="0"/>
              <a:t>3/15/2023</a:t>
            </a:fld>
            <a:endParaRPr lang="en-US"/>
          </a:p>
        </p:txBody>
      </p:sp>
      <p:sp>
        <p:nvSpPr>
          <p:cNvPr id="5" name="Footer Placeholder 4">
            <a:extLst>
              <a:ext uri="{FF2B5EF4-FFF2-40B4-BE49-F238E27FC236}">
                <a16:creationId xmlns:a16="http://schemas.microsoft.com/office/drawing/2014/main" id="{7B0CE25A-F070-82C9-4151-0A4D791AA790}"/>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C55825D9-6910-1FCC-839C-A59505920132}"/>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2607746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C828-0D48-EEA4-FF78-8AA67D05C0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65BAA-DED6-D5CB-6D00-F8120151D9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08625-53A9-5897-39E1-85478D7419EF}"/>
              </a:ext>
            </a:extLst>
          </p:cNvPr>
          <p:cNvSpPr>
            <a:spLocks noGrp="1"/>
          </p:cNvSpPr>
          <p:nvPr>
            <p:ph type="dt" sz="half" idx="10"/>
          </p:nvPr>
        </p:nvSpPr>
        <p:spPr/>
        <p:txBody>
          <a:bodyPr/>
          <a:lstStyle/>
          <a:p>
            <a:fld id="{92EFABC6-5FE7-491A-91F0-E09396D7AC74}" type="datetime1">
              <a:rPr lang="en-US" smtClean="0"/>
              <a:t>3/15/2023</a:t>
            </a:fld>
            <a:endParaRPr lang="en-US"/>
          </a:p>
        </p:txBody>
      </p:sp>
      <p:sp>
        <p:nvSpPr>
          <p:cNvPr id="5" name="Footer Placeholder 4">
            <a:extLst>
              <a:ext uri="{FF2B5EF4-FFF2-40B4-BE49-F238E27FC236}">
                <a16:creationId xmlns:a16="http://schemas.microsoft.com/office/drawing/2014/main" id="{66110E12-3211-FA41-E0C9-73B291E7DFA0}"/>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071820B8-8A86-030D-73AA-AC682469BCD3}"/>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713571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358B4-2F31-9734-1F1B-E7FA0D1275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F28858-F4BF-0456-8F0A-93F263D73C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7CA942-A9B3-C19A-5CC4-A734E16E8F02}"/>
              </a:ext>
            </a:extLst>
          </p:cNvPr>
          <p:cNvSpPr>
            <a:spLocks noGrp="1"/>
          </p:cNvSpPr>
          <p:nvPr>
            <p:ph type="dt" sz="half" idx="10"/>
          </p:nvPr>
        </p:nvSpPr>
        <p:spPr/>
        <p:txBody>
          <a:bodyPr/>
          <a:lstStyle/>
          <a:p>
            <a:fld id="{A36266ED-85C6-4146-9093-6FAB5D6BD874}" type="datetime1">
              <a:rPr lang="en-US" smtClean="0"/>
              <a:t>3/15/2023</a:t>
            </a:fld>
            <a:endParaRPr lang="en-US"/>
          </a:p>
        </p:txBody>
      </p:sp>
      <p:sp>
        <p:nvSpPr>
          <p:cNvPr id="5" name="Footer Placeholder 4">
            <a:extLst>
              <a:ext uri="{FF2B5EF4-FFF2-40B4-BE49-F238E27FC236}">
                <a16:creationId xmlns:a16="http://schemas.microsoft.com/office/drawing/2014/main" id="{1E231432-C7D5-2CBC-A33D-29C8A5E6F9EB}"/>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ACD1E12B-870B-F3B0-671D-EA4FF9661E09}"/>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764036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4999D-DC43-3EAE-9DB7-821277F6D8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E047E7-5DAD-A75D-BD38-5E5E5A1B72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E61E16-D546-CB71-1E32-B341DAE39F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643492-150C-0205-3371-FE6E046E32AF}"/>
              </a:ext>
            </a:extLst>
          </p:cNvPr>
          <p:cNvSpPr>
            <a:spLocks noGrp="1"/>
          </p:cNvSpPr>
          <p:nvPr>
            <p:ph type="dt" sz="half" idx="10"/>
          </p:nvPr>
        </p:nvSpPr>
        <p:spPr/>
        <p:txBody>
          <a:bodyPr/>
          <a:lstStyle/>
          <a:p>
            <a:fld id="{1E2D9EED-F7BA-41FC-98C2-8429EDB7B230}" type="datetime1">
              <a:rPr lang="en-US" smtClean="0"/>
              <a:t>3/15/2023</a:t>
            </a:fld>
            <a:endParaRPr lang="en-US"/>
          </a:p>
        </p:txBody>
      </p:sp>
      <p:sp>
        <p:nvSpPr>
          <p:cNvPr id="6" name="Footer Placeholder 5">
            <a:extLst>
              <a:ext uri="{FF2B5EF4-FFF2-40B4-BE49-F238E27FC236}">
                <a16:creationId xmlns:a16="http://schemas.microsoft.com/office/drawing/2014/main" id="{8F61CC15-F6AB-0969-12FC-ACC551099206}"/>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D908B9FA-EDF7-F238-E8E4-375F68CC5AC2}"/>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3775947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148C-35FC-1A20-E145-3BE351DFFA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CC68D5-C530-0833-F7E7-043B03E129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CAA27F-978B-90E0-2CC1-F03F457DB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100F2A-3751-DF05-06C5-A6D666C9B0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FC6F78-8C30-3895-EC90-74A3DAF3EA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5404FC-A268-9A57-F40C-D85F919ECDA0}"/>
              </a:ext>
            </a:extLst>
          </p:cNvPr>
          <p:cNvSpPr>
            <a:spLocks noGrp="1"/>
          </p:cNvSpPr>
          <p:nvPr>
            <p:ph type="dt" sz="half" idx="10"/>
          </p:nvPr>
        </p:nvSpPr>
        <p:spPr/>
        <p:txBody>
          <a:bodyPr/>
          <a:lstStyle/>
          <a:p>
            <a:fld id="{7234B325-3584-4E8A-A588-2478C53D5EF9}" type="datetime1">
              <a:rPr lang="en-US" smtClean="0"/>
              <a:t>3/15/2023</a:t>
            </a:fld>
            <a:endParaRPr lang="en-US"/>
          </a:p>
        </p:txBody>
      </p:sp>
      <p:sp>
        <p:nvSpPr>
          <p:cNvPr id="8" name="Footer Placeholder 7">
            <a:extLst>
              <a:ext uri="{FF2B5EF4-FFF2-40B4-BE49-F238E27FC236}">
                <a16:creationId xmlns:a16="http://schemas.microsoft.com/office/drawing/2014/main" id="{7116D0D2-51DD-01B0-277D-50A7C512656B}"/>
              </a:ext>
            </a:extLst>
          </p:cNvPr>
          <p:cNvSpPr>
            <a:spLocks noGrp="1"/>
          </p:cNvSpPr>
          <p:nvPr>
            <p:ph type="ftr" sz="quarter" idx="11"/>
          </p:nvPr>
        </p:nvSpPr>
        <p:spPr/>
        <p:txBody>
          <a:bodyPr/>
          <a:lstStyle/>
          <a:p>
            <a:r>
              <a:rPr lang="en-US"/>
              <a:t>Chowdhury Mujaddid Ahmed </a:t>
            </a:r>
          </a:p>
        </p:txBody>
      </p:sp>
      <p:sp>
        <p:nvSpPr>
          <p:cNvPr id="9" name="Slide Number Placeholder 8">
            <a:extLst>
              <a:ext uri="{FF2B5EF4-FFF2-40B4-BE49-F238E27FC236}">
                <a16:creationId xmlns:a16="http://schemas.microsoft.com/office/drawing/2014/main" id="{DEFDBFF7-5969-4D13-8DFE-A72CCB1D0AC4}"/>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958074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95C27-A846-9209-7CA8-1C2CAA5206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200E8C-2275-292E-DE5B-AE2C94999A9D}"/>
              </a:ext>
            </a:extLst>
          </p:cNvPr>
          <p:cNvSpPr>
            <a:spLocks noGrp="1"/>
          </p:cNvSpPr>
          <p:nvPr>
            <p:ph type="dt" sz="half" idx="10"/>
          </p:nvPr>
        </p:nvSpPr>
        <p:spPr/>
        <p:txBody>
          <a:bodyPr/>
          <a:lstStyle/>
          <a:p>
            <a:fld id="{047E783E-3103-423F-AD72-9B760B223FCA}" type="datetime1">
              <a:rPr lang="en-US" smtClean="0"/>
              <a:t>3/15/2023</a:t>
            </a:fld>
            <a:endParaRPr lang="en-US"/>
          </a:p>
        </p:txBody>
      </p:sp>
      <p:sp>
        <p:nvSpPr>
          <p:cNvPr id="4" name="Footer Placeholder 3">
            <a:extLst>
              <a:ext uri="{FF2B5EF4-FFF2-40B4-BE49-F238E27FC236}">
                <a16:creationId xmlns:a16="http://schemas.microsoft.com/office/drawing/2014/main" id="{0278EA30-DFE3-13DA-3DD7-D8FC5D1ACD91}"/>
              </a:ext>
            </a:extLst>
          </p:cNvPr>
          <p:cNvSpPr>
            <a:spLocks noGrp="1"/>
          </p:cNvSpPr>
          <p:nvPr>
            <p:ph type="ftr" sz="quarter" idx="11"/>
          </p:nvPr>
        </p:nvSpPr>
        <p:spPr/>
        <p:txBody>
          <a:bodyPr/>
          <a:lstStyle/>
          <a:p>
            <a:r>
              <a:rPr lang="en-US"/>
              <a:t>Chowdhury Mujaddid Ahmed </a:t>
            </a:r>
          </a:p>
        </p:txBody>
      </p:sp>
      <p:sp>
        <p:nvSpPr>
          <p:cNvPr id="5" name="Slide Number Placeholder 4">
            <a:extLst>
              <a:ext uri="{FF2B5EF4-FFF2-40B4-BE49-F238E27FC236}">
                <a16:creationId xmlns:a16="http://schemas.microsoft.com/office/drawing/2014/main" id="{6E745B94-74B3-27CA-52D9-8441A2A5D8C0}"/>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2623605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1BC1D3-2B1C-AB39-7814-9F2C461056DD}"/>
              </a:ext>
            </a:extLst>
          </p:cNvPr>
          <p:cNvSpPr>
            <a:spLocks noGrp="1"/>
          </p:cNvSpPr>
          <p:nvPr>
            <p:ph type="dt" sz="half" idx="10"/>
          </p:nvPr>
        </p:nvSpPr>
        <p:spPr/>
        <p:txBody>
          <a:bodyPr/>
          <a:lstStyle/>
          <a:p>
            <a:fld id="{8F4CE42F-5BFD-47BD-8520-7837ADED6A3D}" type="datetime1">
              <a:rPr lang="en-US" smtClean="0"/>
              <a:t>3/15/2023</a:t>
            </a:fld>
            <a:endParaRPr lang="en-US"/>
          </a:p>
        </p:txBody>
      </p:sp>
      <p:sp>
        <p:nvSpPr>
          <p:cNvPr id="3" name="Footer Placeholder 2">
            <a:extLst>
              <a:ext uri="{FF2B5EF4-FFF2-40B4-BE49-F238E27FC236}">
                <a16:creationId xmlns:a16="http://schemas.microsoft.com/office/drawing/2014/main" id="{4E62ABA1-65DB-7B3A-6F25-8DD75D683702}"/>
              </a:ext>
            </a:extLst>
          </p:cNvPr>
          <p:cNvSpPr>
            <a:spLocks noGrp="1"/>
          </p:cNvSpPr>
          <p:nvPr>
            <p:ph type="ftr" sz="quarter" idx="11"/>
          </p:nvPr>
        </p:nvSpPr>
        <p:spPr/>
        <p:txBody>
          <a:bodyPr/>
          <a:lstStyle/>
          <a:p>
            <a:r>
              <a:rPr lang="en-US"/>
              <a:t>Chowdhury Mujaddid Ahmed </a:t>
            </a:r>
          </a:p>
        </p:txBody>
      </p:sp>
      <p:sp>
        <p:nvSpPr>
          <p:cNvPr id="4" name="Slide Number Placeholder 3">
            <a:extLst>
              <a:ext uri="{FF2B5EF4-FFF2-40B4-BE49-F238E27FC236}">
                <a16:creationId xmlns:a16="http://schemas.microsoft.com/office/drawing/2014/main" id="{31FD9138-DED6-6256-3647-F8290DDF569F}"/>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3160493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8FAAC-4EB9-D563-42CC-ED82ABA9C2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73AAF-420D-E61B-5B43-BA7522B710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4CCBBF-F0C0-AEEF-C7BF-7978DADC9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852DFD-E493-2D72-0716-6141F01B2062}"/>
              </a:ext>
            </a:extLst>
          </p:cNvPr>
          <p:cNvSpPr>
            <a:spLocks noGrp="1"/>
          </p:cNvSpPr>
          <p:nvPr>
            <p:ph type="dt" sz="half" idx="10"/>
          </p:nvPr>
        </p:nvSpPr>
        <p:spPr/>
        <p:txBody>
          <a:bodyPr/>
          <a:lstStyle/>
          <a:p>
            <a:fld id="{EB5E4B00-E292-4675-867F-E96C01B6CBF0}" type="datetime1">
              <a:rPr lang="en-US" smtClean="0"/>
              <a:t>3/15/2023</a:t>
            </a:fld>
            <a:endParaRPr lang="en-US"/>
          </a:p>
        </p:txBody>
      </p:sp>
      <p:sp>
        <p:nvSpPr>
          <p:cNvPr id="6" name="Footer Placeholder 5">
            <a:extLst>
              <a:ext uri="{FF2B5EF4-FFF2-40B4-BE49-F238E27FC236}">
                <a16:creationId xmlns:a16="http://schemas.microsoft.com/office/drawing/2014/main" id="{4DB83198-91FD-034D-5CEB-BB1DB61454B1}"/>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E8E7F726-D8D7-6A41-B3A6-CEDDB80C1378}"/>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2050306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D8C84-D80C-0E2A-05C1-2D3629CC02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A94CC-9524-999F-A1CC-5B71551D6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7B8BC6-8C09-8711-22F5-21B901332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98523E-8F72-E83C-8124-EFB74B2B5E20}"/>
              </a:ext>
            </a:extLst>
          </p:cNvPr>
          <p:cNvSpPr>
            <a:spLocks noGrp="1"/>
          </p:cNvSpPr>
          <p:nvPr>
            <p:ph type="dt" sz="half" idx="10"/>
          </p:nvPr>
        </p:nvSpPr>
        <p:spPr/>
        <p:txBody>
          <a:bodyPr/>
          <a:lstStyle/>
          <a:p>
            <a:fld id="{F893EB46-51F2-4422-896F-6117299EE6D5}" type="datetime1">
              <a:rPr lang="en-US" smtClean="0"/>
              <a:t>3/15/2023</a:t>
            </a:fld>
            <a:endParaRPr lang="en-US"/>
          </a:p>
        </p:txBody>
      </p:sp>
      <p:sp>
        <p:nvSpPr>
          <p:cNvPr id="6" name="Footer Placeholder 5">
            <a:extLst>
              <a:ext uri="{FF2B5EF4-FFF2-40B4-BE49-F238E27FC236}">
                <a16:creationId xmlns:a16="http://schemas.microsoft.com/office/drawing/2014/main" id="{2A484DAE-95DB-93DD-8833-E40084D7D330}"/>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2330C01E-9A89-5901-F3C1-906625FAF775}"/>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3490921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3CEB1-B1C0-2581-40F1-BE6ED10680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FFE69F-1BA1-DF0E-6CDF-F1070E708C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F925E1-B37A-FEEE-3951-A1A466CBCC1B}"/>
              </a:ext>
            </a:extLst>
          </p:cNvPr>
          <p:cNvSpPr>
            <a:spLocks noGrp="1"/>
          </p:cNvSpPr>
          <p:nvPr>
            <p:ph type="dt" sz="half" idx="10"/>
          </p:nvPr>
        </p:nvSpPr>
        <p:spPr/>
        <p:txBody>
          <a:bodyPr/>
          <a:lstStyle/>
          <a:p>
            <a:fld id="{8A15585B-C495-4048-926A-E51A58543CD4}" type="datetime1">
              <a:rPr lang="en-US" smtClean="0"/>
              <a:t>3/15/2023</a:t>
            </a:fld>
            <a:endParaRPr lang="en-US"/>
          </a:p>
        </p:txBody>
      </p:sp>
      <p:sp>
        <p:nvSpPr>
          <p:cNvPr id="5" name="Footer Placeholder 4">
            <a:extLst>
              <a:ext uri="{FF2B5EF4-FFF2-40B4-BE49-F238E27FC236}">
                <a16:creationId xmlns:a16="http://schemas.microsoft.com/office/drawing/2014/main" id="{94FA1302-3132-90B3-893C-69277EAAE01A}"/>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82CCFBB1-5FC0-45ED-2DBA-D33B17D235C6}"/>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700312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ACFDC7-1A20-603E-F44D-A01FF735C5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464C87-CEB3-CAE5-71E3-F9D26C0FBD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813342-C801-6014-7BBD-A7880AF8B1C2}"/>
              </a:ext>
            </a:extLst>
          </p:cNvPr>
          <p:cNvSpPr>
            <a:spLocks noGrp="1"/>
          </p:cNvSpPr>
          <p:nvPr>
            <p:ph type="dt" sz="half" idx="10"/>
          </p:nvPr>
        </p:nvSpPr>
        <p:spPr/>
        <p:txBody>
          <a:bodyPr/>
          <a:lstStyle/>
          <a:p>
            <a:fld id="{128A41A5-D817-4072-ADAB-F0ABABF6E646}" type="datetime1">
              <a:rPr lang="en-US" smtClean="0"/>
              <a:t>3/15/2023</a:t>
            </a:fld>
            <a:endParaRPr lang="en-US"/>
          </a:p>
        </p:txBody>
      </p:sp>
      <p:sp>
        <p:nvSpPr>
          <p:cNvPr id="5" name="Footer Placeholder 4">
            <a:extLst>
              <a:ext uri="{FF2B5EF4-FFF2-40B4-BE49-F238E27FC236}">
                <a16:creationId xmlns:a16="http://schemas.microsoft.com/office/drawing/2014/main" id="{420C1766-5E0B-F33F-7E8E-A9E8EF4A057C}"/>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EA94B2B1-2326-FA3C-3571-880433C47157}"/>
              </a:ext>
            </a:extLst>
          </p:cNvPr>
          <p:cNvSpPr>
            <a:spLocks noGrp="1"/>
          </p:cNvSpPr>
          <p:nvPr>
            <p:ph type="sldNum" sz="quarter" idx="12"/>
          </p:nvPr>
        </p:nvSpPr>
        <p:spPr/>
        <p:txBody>
          <a:bodyPr/>
          <a:lstStyle/>
          <a:p>
            <a:fld id="{E7951114-4229-437D-8DBE-1731FC19275D}" type="slidenum">
              <a:rPr lang="en-US" smtClean="0"/>
              <a:t>‹#›</a:t>
            </a:fld>
            <a:endParaRPr lang="en-US"/>
          </a:p>
        </p:txBody>
      </p:sp>
    </p:spTree>
    <p:extLst>
      <p:ext uri="{BB962C8B-B14F-4D97-AF65-F5344CB8AC3E}">
        <p14:creationId xmlns:p14="http://schemas.microsoft.com/office/powerpoint/2010/main" val="422061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707734-4EEA-923C-9F74-901F9652C8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3B6153-3BBE-FD44-6FA2-00B3F8F0A1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D65EAD-42CF-A584-18AE-A51A77A3D7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B4E7D3-A99F-4AB3-A726-F060CEA87CB2}" type="datetime1">
              <a:rPr lang="en-US" smtClean="0"/>
              <a:t>3/15/2023</a:t>
            </a:fld>
            <a:endParaRPr lang="en-US"/>
          </a:p>
        </p:txBody>
      </p:sp>
      <p:sp>
        <p:nvSpPr>
          <p:cNvPr id="5" name="Footer Placeholder 4">
            <a:extLst>
              <a:ext uri="{FF2B5EF4-FFF2-40B4-BE49-F238E27FC236}">
                <a16:creationId xmlns:a16="http://schemas.microsoft.com/office/drawing/2014/main" id="{CF3ADFA1-2E06-FD9B-A087-D53F7BE64E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Chowdhury Mujaddid Ahmed </a:t>
            </a:r>
          </a:p>
        </p:txBody>
      </p:sp>
      <p:sp>
        <p:nvSpPr>
          <p:cNvPr id="6" name="Slide Number Placeholder 5">
            <a:extLst>
              <a:ext uri="{FF2B5EF4-FFF2-40B4-BE49-F238E27FC236}">
                <a16:creationId xmlns:a16="http://schemas.microsoft.com/office/drawing/2014/main" id="{5440306A-FCB4-6A78-B428-AAE7DF8219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951114-4229-437D-8DBE-1731FC19275D}" type="slidenum">
              <a:rPr lang="en-US" smtClean="0"/>
              <a:t>‹#›</a:t>
            </a:fld>
            <a:endParaRPr lang="en-US"/>
          </a:p>
        </p:txBody>
      </p:sp>
    </p:spTree>
    <p:extLst>
      <p:ext uri="{BB962C8B-B14F-4D97-AF65-F5344CB8AC3E}">
        <p14:creationId xmlns:p14="http://schemas.microsoft.com/office/powerpoint/2010/main" val="3491537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noaa.gov/education/resource-collections/climate/changing-seasons#:~:text=Seasonal%20changes%20in%20precipitation%20and,for%20humans%20and%20other%20organisms."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38B49-15B3-A735-D6BB-B9B982176C40}"/>
              </a:ext>
            </a:extLst>
          </p:cNvPr>
          <p:cNvSpPr>
            <a:spLocks noGrp="1"/>
          </p:cNvSpPr>
          <p:nvPr>
            <p:ph type="ctrTitle"/>
          </p:nvPr>
        </p:nvSpPr>
        <p:spPr>
          <a:xfrm>
            <a:off x="1523999" y="1122363"/>
            <a:ext cx="9593179" cy="2387600"/>
          </a:xfrm>
        </p:spPr>
        <p:txBody>
          <a:bodyPr>
            <a:normAutofit fontScale="90000"/>
          </a:bodyPr>
          <a:lstStyle/>
          <a:p>
            <a:r>
              <a:rPr lang="en-US" dirty="0">
                <a:latin typeface="Arial Rounded MT Bold" panose="020F0704030504030204" pitchFamily="34" charset="0"/>
              </a:rPr>
              <a:t> Understanding of Seasonal change and impact (Monsoon-Flood-Drought)</a:t>
            </a:r>
          </a:p>
        </p:txBody>
      </p:sp>
      <p:sp>
        <p:nvSpPr>
          <p:cNvPr id="3" name="Subtitle 2">
            <a:extLst>
              <a:ext uri="{FF2B5EF4-FFF2-40B4-BE49-F238E27FC236}">
                <a16:creationId xmlns:a16="http://schemas.microsoft.com/office/drawing/2014/main" id="{1D9AEF22-5CF7-C709-C926-E4FE81F7859F}"/>
              </a:ext>
            </a:extLst>
          </p:cNvPr>
          <p:cNvSpPr>
            <a:spLocks noGrp="1"/>
          </p:cNvSpPr>
          <p:nvPr>
            <p:ph type="subTitle" idx="1"/>
          </p:nvPr>
        </p:nvSpPr>
        <p:spPr>
          <a:xfrm>
            <a:off x="1748588" y="3698291"/>
            <a:ext cx="9144000" cy="1655762"/>
          </a:xfrm>
        </p:spPr>
        <p:txBody>
          <a:bodyPr/>
          <a:lstStyle/>
          <a:p>
            <a:r>
              <a:rPr lang="en-US" dirty="0"/>
              <a:t>By </a:t>
            </a:r>
          </a:p>
          <a:p>
            <a:r>
              <a:rPr lang="en-US" dirty="0"/>
              <a:t>Chowdhury Mujaddid Ahmed </a:t>
            </a:r>
          </a:p>
        </p:txBody>
      </p:sp>
      <p:sp>
        <p:nvSpPr>
          <p:cNvPr id="4" name="Date Placeholder 3">
            <a:extLst>
              <a:ext uri="{FF2B5EF4-FFF2-40B4-BE49-F238E27FC236}">
                <a16:creationId xmlns:a16="http://schemas.microsoft.com/office/drawing/2014/main" id="{CD2E0AC0-9A54-75B8-ECF0-00D20EED2577}"/>
              </a:ext>
            </a:extLst>
          </p:cNvPr>
          <p:cNvSpPr>
            <a:spLocks noGrp="1"/>
          </p:cNvSpPr>
          <p:nvPr>
            <p:ph type="dt" sz="half" idx="10"/>
          </p:nvPr>
        </p:nvSpPr>
        <p:spPr/>
        <p:txBody>
          <a:bodyPr/>
          <a:lstStyle/>
          <a:p>
            <a:fld id="{A223BBEB-73CD-476E-B5DB-E8E910331AF3}" type="datetime1">
              <a:rPr lang="en-US" smtClean="0"/>
              <a:t>3/15/2023</a:t>
            </a:fld>
            <a:endParaRPr lang="en-US"/>
          </a:p>
        </p:txBody>
      </p:sp>
      <p:sp>
        <p:nvSpPr>
          <p:cNvPr id="5" name="Footer Placeholder 4">
            <a:extLst>
              <a:ext uri="{FF2B5EF4-FFF2-40B4-BE49-F238E27FC236}">
                <a16:creationId xmlns:a16="http://schemas.microsoft.com/office/drawing/2014/main" id="{AF58341A-9399-25BE-F578-0C3C35D4E831}"/>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8FB6B1B2-0323-CA8E-49C3-DF6B02D6CE79}"/>
              </a:ext>
            </a:extLst>
          </p:cNvPr>
          <p:cNvSpPr>
            <a:spLocks noGrp="1"/>
          </p:cNvSpPr>
          <p:nvPr>
            <p:ph type="sldNum" sz="quarter" idx="12"/>
          </p:nvPr>
        </p:nvSpPr>
        <p:spPr/>
        <p:txBody>
          <a:bodyPr/>
          <a:lstStyle/>
          <a:p>
            <a:fld id="{E7951114-4229-437D-8DBE-1731FC19275D}" type="slidenum">
              <a:rPr lang="en-US" smtClean="0"/>
              <a:t>1</a:t>
            </a:fld>
            <a:endParaRPr lang="en-US"/>
          </a:p>
        </p:txBody>
      </p:sp>
    </p:spTree>
    <p:extLst>
      <p:ext uri="{BB962C8B-B14F-4D97-AF65-F5344CB8AC3E}">
        <p14:creationId xmlns:p14="http://schemas.microsoft.com/office/powerpoint/2010/main" val="4167240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3343-DE2F-9E4A-BB0B-9508F17F4890}"/>
              </a:ext>
            </a:extLst>
          </p:cNvPr>
          <p:cNvSpPr>
            <a:spLocks noGrp="1"/>
          </p:cNvSpPr>
          <p:nvPr>
            <p:ph type="title"/>
          </p:nvPr>
        </p:nvSpPr>
        <p:spPr/>
        <p:txBody>
          <a:bodyPr/>
          <a:lstStyle/>
          <a:p>
            <a:pPr algn="ctr"/>
            <a:r>
              <a:rPr lang="en-US" dirty="0">
                <a:latin typeface="Arial Rounded MT Bold" panose="020F0704030504030204" pitchFamily="34" charset="0"/>
              </a:rPr>
              <a:t>What is seasonal change? </a:t>
            </a:r>
          </a:p>
        </p:txBody>
      </p:sp>
      <p:sp>
        <p:nvSpPr>
          <p:cNvPr id="4" name="Content Placeholder 3">
            <a:extLst>
              <a:ext uri="{FF2B5EF4-FFF2-40B4-BE49-F238E27FC236}">
                <a16:creationId xmlns:a16="http://schemas.microsoft.com/office/drawing/2014/main" id="{F8F99BDF-341F-4205-6BD6-7DF5B28FFA0F}"/>
              </a:ext>
            </a:extLst>
          </p:cNvPr>
          <p:cNvSpPr>
            <a:spLocks noGrp="1"/>
          </p:cNvSpPr>
          <p:nvPr>
            <p:ph sz="half" idx="1"/>
          </p:nvPr>
        </p:nvSpPr>
        <p:spPr>
          <a:xfrm>
            <a:off x="989316" y="2104163"/>
            <a:ext cx="5784885" cy="2554002"/>
          </a:xfrm>
        </p:spPr>
        <p:txBody>
          <a:bodyPr>
            <a:normAutofit fontScale="92500"/>
          </a:bodyPr>
          <a:lstStyle/>
          <a:p>
            <a:pPr marL="0" indent="0" algn="just">
              <a:buNone/>
            </a:pPr>
            <a:r>
              <a:rPr lang="en-US" dirty="0"/>
              <a:t>Seasonal changes in precipitation and temperature affect soil moisture, evaporation rates, river flows, lake levels, and snow cover. Leaves fall and plants wither as cold and dry seasons approach.</a:t>
            </a:r>
          </a:p>
          <a:p>
            <a:pPr marL="0" indent="0" algn="just">
              <a:buNone/>
            </a:pPr>
            <a:r>
              <a:rPr lang="en-US" dirty="0"/>
              <a:t>			-Source: </a:t>
            </a:r>
            <a:r>
              <a:rPr lang="en-US" dirty="0">
                <a:hlinkClick r:id="rId2"/>
              </a:rPr>
              <a:t>NOAA</a:t>
            </a:r>
            <a:endParaRPr lang="en-US" dirty="0"/>
          </a:p>
          <a:p>
            <a:pPr marL="0" indent="0" algn="just">
              <a:buNone/>
            </a:pPr>
            <a:endParaRPr lang="en-US" dirty="0"/>
          </a:p>
        </p:txBody>
      </p:sp>
      <p:grpSp>
        <p:nvGrpSpPr>
          <p:cNvPr id="17" name="Group 16">
            <a:extLst>
              <a:ext uri="{FF2B5EF4-FFF2-40B4-BE49-F238E27FC236}">
                <a16:creationId xmlns:a16="http://schemas.microsoft.com/office/drawing/2014/main" id="{A1A02A4C-E8CA-4DF4-6AA3-701F5A23D12D}"/>
              </a:ext>
            </a:extLst>
          </p:cNvPr>
          <p:cNvGrpSpPr/>
          <p:nvPr/>
        </p:nvGrpSpPr>
        <p:grpSpPr>
          <a:xfrm>
            <a:off x="7070445" y="2199835"/>
            <a:ext cx="2664903" cy="2458330"/>
            <a:chOff x="6941236" y="2312493"/>
            <a:chExt cx="2664903" cy="2458330"/>
          </a:xfrm>
        </p:grpSpPr>
        <p:sp>
          <p:nvSpPr>
            <p:cNvPr id="9" name="Freeform: Shape 8">
              <a:extLst>
                <a:ext uri="{FF2B5EF4-FFF2-40B4-BE49-F238E27FC236}">
                  <a16:creationId xmlns:a16="http://schemas.microsoft.com/office/drawing/2014/main" id="{439F1F62-0E75-2E7E-44B2-7DEFD967EECB}"/>
                </a:ext>
              </a:extLst>
            </p:cNvPr>
            <p:cNvSpPr/>
            <p:nvPr/>
          </p:nvSpPr>
          <p:spPr>
            <a:xfrm>
              <a:off x="6941236" y="3078423"/>
              <a:ext cx="1899806" cy="1692400"/>
            </a:xfrm>
            <a:custGeom>
              <a:avLst/>
              <a:gdLst>
                <a:gd name="connsiteX0" fmla="*/ 855144 w 1899806"/>
                <a:gd name="connsiteY0" fmla="*/ 1161873 h 1692400"/>
                <a:gd name="connsiteX1" fmla="*/ 0 w 1899806"/>
                <a:gd name="connsiteY1" fmla="*/ 1692400 h 1692400"/>
                <a:gd name="connsiteX2" fmla="*/ 0 w 1899806"/>
                <a:gd name="connsiteY2" fmla="*/ 1526611 h 1692400"/>
                <a:gd name="connsiteX3" fmla="*/ 736770 w 1899806"/>
                <a:gd name="connsiteY3" fmla="*/ 1048473 h 1692400"/>
                <a:gd name="connsiteX4" fmla="*/ 736770 w 1899806"/>
                <a:gd name="connsiteY4" fmla="*/ 1048473 h 1692400"/>
                <a:gd name="connsiteX5" fmla="*/ 738428 w 1899806"/>
                <a:gd name="connsiteY5" fmla="*/ 1048473 h 1692400"/>
                <a:gd name="connsiteX6" fmla="*/ 1757371 w 1899806"/>
                <a:gd name="connsiteY6" fmla="*/ 25219 h 1692400"/>
                <a:gd name="connsiteX7" fmla="*/ 1874588 w 1899806"/>
                <a:gd name="connsiteY7" fmla="*/ 23355 h 1692400"/>
                <a:gd name="connsiteX8" fmla="*/ 1876451 w 1899806"/>
                <a:gd name="connsiteY8" fmla="*/ 140569 h 1692400"/>
                <a:gd name="connsiteX9" fmla="*/ 1874419 w 1899806"/>
                <a:gd name="connsiteY9" fmla="*/ 142598 h 1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9806" h="1692400">
                  <a:moveTo>
                    <a:pt x="855144" y="1161873"/>
                  </a:moveTo>
                  <a:cubicBezTo>
                    <a:pt x="357774" y="1684774"/>
                    <a:pt x="14589" y="1692400"/>
                    <a:pt x="0" y="1692400"/>
                  </a:cubicBezTo>
                  <a:lnTo>
                    <a:pt x="0" y="1526611"/>
                  </a:lnTo>
                  <a:cubicBezTo>
                    <a:pt x="2984" y="1526611"/>
                    <a:pt x="298422" y="1513016"/>
                    <a:pt x="736770" y="1048473"/>
                  </a:cubicBezTo>
                  <a:lnTo>
                    <a:pt x="736770" y="1048473"/>
                  </a:lnTo>
                  <a:lnTo>
                    <a:pt x="738428" y="1048473"/>
                  </a:lnTo>
                  <a:lnTo>
                    <a:pt x="1757371" y="25219"/>
                  </a:lnTo>
                  <a:cubicBezTo>
                    <a:pt x="1789226" y="-7664"/>
                    <a:pt x="1841705" y="-8499"/>
                    <a:pt x="1874588" y="23355"/>
                  </a:cubicBezTo>
                  <a:cubicBezTo>
                    <a:pt x="1907471" y="55207"/>
                    <a:pt x="1908306" y="107686"/>
                    <a:pt x="1876451" y="140569"/>
                  </a:cubicBezTo>
                  <a:cubicBezTo>
                    <a:pt x="1875785" y="141259"/>
                    <a:pt x="1875109" y="141935"/>
                    <a:pt x="1874419" y="142598"/>
                  </a:cubicBezTo>
                  <a:close/>
                </a:path>
              </a:pathLst>
            </a:custGeom>
            <a:solidFill>
              <a:schemeClr val="accent6"/>
            </a:solidFill>
            <a:ln w="33139"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40A07BA-24E2-3016-B0DB-FC5D881281A5}"/>
                </a:ext>
              </a:extLst>
            </p:cNvPr>
            <p:cNvSpPr/>
            <p:nvPr/>
          </p:nvSpPr>
          <p:spPr>
            <a:xfrm>
              <a:off x="8870328" y="2411565"/>
              <a:ext cx="637404" cy="637414"/>
            </a:xfrm>
            <a:custGeom>
              <a:avLst/>
              <a:gdLst>
                <a:gd name="connsiteX0" fmla="*/ 484806 w 637404"/>
                <a:gd name="connsiteY0" fmla="*/ 504734 h 637414"/>
                <a:gd name="connsiteX1" fmla="*/ 637002 w 637404"/>
                <a:gd name="connsiteY1" fmla="*/ 402 h 637414"/>
                <a:gd name="connsiteX2" fmla="*/ 133001 w 637404"/>
                <a:gd name="connsiteY2" fmla="*/ 152929 h 637414"/>
                <a:gd name="connsiteX3" fmla="*/ 4016 w 637404"/>
                <a:gd name="connsiteY3" fmla="*/ 633387 h 637414"/>
                <a:gd name="connsiteX4" fmla="*/ 484806 w 637404"/>
                <a:gd name="connsiteY4" fmla="*/ 504734 h 637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404" h="637414">
                  <a:moveTo>
                    <a:pt x="484806" y="504734"/>
                  </a:moveTo>
                  <a:cubicBezTo>
                    <a:pt x="652917" y="336292"/>
                    <a:pt x="637002" y="402"/>
                    <a:pt x="637002" y="402"/>
                  </a:cubicBezTo>
                  <a:cubicBezTo>
                    <a:pt x="637002" y="402"/>
                    <a:pt x="301443" y="-15514"/>
                    <a:pt x="133001" y="152929"/>
                  </a:cubicBezTo>
                  <a:cubicBezTo>
                    <a:pt x="-35442" y="321371"/>
                    <a:pt x="4016" y="633387"/>
                    <a:pt x="4016" y="633387"/>
                  </a:cubicBezTo>
                  <a:cubicBezTo>
                    <a:pt x="4016" y="633387"/>
                    <a:pt x="315701" y="672845"/>
                    <a:pt x="484806" y="504734"/>
                  </a:cubicBezTo>
                  <a:close/>
                </a:path>
              </a:pathLst>
            </a:custGeom>
            <a:solidFill>
              <a:schemeClr val="accent6">
                <a:lumMod val="75000"/>
              </a:schemeClr>
            </a:solidFill>
            <a:ln w="33139"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0976B07-0FE2-EBA1-0C26-FCBBEFED3976}"/>
                </a:ext>
              </a:extLst>
            </p:cNvPr>
            <p:cNvSpPr/>
            <p:nvPr/>
          </p:nvSpPr>
          <p:spPr>
            <a:xfrm>
              <a:off x="8242353" y="3674888"/>
              <a:ext cx="894932" cy="497499"/>
            </a:xfrm>
            <a:custGeom>
              <a:avLst/>
              <a:gdLst>
                <a:gd name="connsiteX0" fmla="*/ 468853 w 894932"/>
                <a:gd name="connsiteY0" fmla="*/ 65 h 497499"/>
                <a:gd name="connsiteX1" fmla="*/ 0 w 894932"/>
                <a:gd name="connsiteY1" fmla="*/ 239466 h 497499"/>
                <a:gd name="connsiteX2" fmla="*/ 459238 w 894932"/>
                <a:gd name="connsiteY2" fmla="*/ 497435 h 497499"/>
                <a:gd name="connsiteX3" fmla="*/ 894933 w 894932"/>
                <a:gd name="connsiteY3" fmla="*/ 257371 h 497499"/>
                <a:gd name="connsiteX4" fmla="*/ 468853 w 894932"/>
                <a:gd name="connsiteY4" fmla="*/ 65 h 497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932" h="497499">
                  <a:moveTo>
                    <a:pt x="468853" y="65"/>
                  </a:moveTo>
                  <a:cubicBezTo>
                    <a:pt x="230779" y="-4577"/>
                    <a:pt x="0" y="239466"/>
                    <a:pt x="0" y="239466"/>
                  </a:cubicBezTo>
                  <a:cubicBezTo>
                    <a:pt x="0" y="239466"/>
                    <a:pt x="221163" y="492793"/>
                    <a:pt x="459238" y="497435"/>
                  </a:cubicBezTo>
                  <a:cubicBezTo>
                    <a:pt x="697312" y="502077"/>
                    <a:pt x="894933" y="257371"/>
                    <a:pt x="894933" y="257371"/>
                  </a:cubicBezTo>
                  <a:cubicBezTo>
                    <a:pt x="894933" y="257371"/>
                    <a:pt x="706927" y="4707"/>
                    <a:pt x="468853" y="65"/>
                  </a:cubicBezTo>
                  <a:close/>
                </a:path>
              </a:pathLst>
            </a:custGeom>
            <a:solidFill>
              <a:schemeClr val="accent6"/>
            </a:solidFill>
            <a:ln w="33139"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7879BFD-5AF5-EE27-B51E-8DC2CC6BB90B}"/>
                </a:ext>
              </a:extLst>
            </p:cNvPr>
            <p:cNvSpPr/>
            <p:nvPr/>
          </p:nvSpPr>
          <p:spPr>
            <a:xfrm>
              <a:off x="7773168" y="4143741"/>
              <a:ext cx="895264" cy="497499"/>
            </a:xfrm>
            <a:custGeom>
              <a:avLst/>
              <a:gdLst>
                <a:gd name="connsiteX0" fmla="*/ 469185 w 895264"/>
                <a:gd name="connsiteY0" fmla="*/ 65 h 497499"/>
                <a:gd name="connsiteX1" fmla="*/ 0 w 895264"/>
                <a:gd name="connsiteY1" fmla="*/ 239797 h 497499"/>
                <a:gd name="connsiteX2" fmla="*/ 459238 w 895264"/>
                <a:gd name="connsiteY2" fmla="*/ 497435 h 497499"/>
                <a:gd name="connsiteX3" fmla="*/ 895265 w 895264"/>
                <a:gd name="connsiteY3" fmla="*/ 257371 h 497499"/>
                <a:gd name="connsiteX4" fmla="*/ 469185 w 895264"/>
                <a:gd name="connsiteY4" fmla="*/ 65 h 497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5264" h="497499">
                  <a:moveTo>
                    <a:pt x="469185" y="65"/>
                  </a:moveTo>
                  <a:cubicBezTo>
                    <a:pt x="231111" y="-4577"/>
                    <a:pt x="0" y="239797"/>
                    <a:pt x="0" y="239797"/>
                  </a:cubicBezTo>
                  <a:cubicBezTo>
                    <a:pt x="0" y="239797"/>
                    <a:pt x="221495" y="492792"/>
                    <a:pt x="459238" y="497435"/>
                  </a:cubicBezTo>
                  <a:cubicBezTo>
                    <a:pt x="696980" y="502077"/>
                    <a:pt x="895265" y="257371"/>
                    <a:pt x="895265" y="257371"/>
                  </a:cubicBezTo>
                  <a:cubicBezTo>
                    <a:pt x="895265" y="257371"/>
                    <a:pt x="707259" y="4707"/>
                    <a:pt x="469185" y="65"/>
                  </a:cubicBezTo>
                  <a:close/>
                </a:path>
              </a:pathLst>
            </a:custGeom>
            <a:solidFill>
              <a:schemeClr val="accent4">
                <a:lumMod val="75000"/>
              </a:schemeClr>
            </a:solidFill>
            <a:ln w="33139"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D27879-A49D-FC1B-4FB4-2901D7845782}"/>
                </a:ext>
              </a:extLst>
            </p:cNvPr>
            <p:cNvSpPr/>
            <p:nvPr/>
          </p:nvSpPr>
          <p:spPr>
            <a:xfrm>
              <a:off x="8711207" y="3206034"/>
              <a:ext cx="894932" cy="497509"/>
            </a:xfrm>
            <a:custGeom>
              <a:avLst/>
              <a:gdLst>
                <a:gd name="connsiteX0" fmla="*/ 468853 w 894932"/>
                <a:gd name="connsiteY0" fmla="*/ 65 h 497509"/>
                <a:gd name="connsiteX1" fmla="*/ 0 w 894932"/>
                <a:gd name="connsiteY1" fmla="*/ 239466 h 497509"/>
                <a:gd name="connsiteX2" fmla="*/ 459238 w 894932"/>
                <a:gd name="connsiteY2" fmla="*/ 497435 h 497509"/>
                <a:gd name="connsiteX3" fmla="*/ 894933 w 894932"/>
                <a:gd name="connsiteY3" fmla="*/ 256708 h 497509"/>
                <a:gd name="connsiteX4" fmla="*/ 468853 w 894932"/>
                <a:gd name="connsiteY4" fmla="*/ 65 h 497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932" h="497509">
                  <a:moveTo>
                    <a:pt x="468853" y="65"/>
                  </a:moveTo>
                  <a:cubicBezTo>
                    <a:pt x="231111" y="-4577"/>
                    <a:pt x="0" y="239466"/>
                    <a:pt x="0" y="239466"/>
                  </a:cubicBezTo>
                  <a:cubicBezTo>
                    <a:pt x="0" y="239466"/>
                    <a:pt x="221163" y="492461"/>
                    <a:pt x="459238" y="497435"/>
                  </a:cubicBezTo>
                  <a:cubicBezTo>
                    <a:pt x="697312" y="502408"/>
                    <a:pt x="894933" y="256708"/>
                    <a:pt x="894933" y="256708"/>
                  </a:cubicBezTo>
                  <a:cubicBezTo>
                    <a:pt x="894933" y="256708"/>
                    <a:pt x="706927" y="4708"/>
                    <a:pt x="468853" y="65"/>
                  </a:cubicBezTo>
                  <a:close/>
                </a:path>
              </a:pathLst>
            </a:custGeom>
            <a:solidFill>
              <a:schemeClr val="accent6"/>
            </a:solidFill>
            <a:ln w="33139"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C44D9427-E09E-E32D-192F-81F41F6C23A8}"/>
                </a:ext>
              </a:extLst>
            </p:cNvPr>
            <p:cNvSpPr/>
            <p:nvPr/>
          </p:nvSpPr>
          <p:spPr>
            <a:xfrm>
              <a:off x="7746567" y="2781346"/>
              <a:ext cx="497187" cy="895264"/>
            </a:xfrm>
            <a:custGeom>
              <a:avLst/>
              <a:gdLst>
                <a:gd name="connsiteX0" fmla="*/ 257712 w 497187"/>
                <a:gd name="connsiteY0" fmla="*/ 895265 h 895264"/>
                <a:gd name="connsiteX1" fmla="*/ 497112 w 497187"/>
                <a:gd name="connsiteY1" fmla="*/ 426080 h 895264"/>
                <a:gd name="connsiteX2" fmla="*/ 240138 w 497187"/>
                <a:gd name="connsiteY2" fmla="*/ 0 h 895264"/>
                <a:gd name="connsiteX3" fmla="*/ 75 w 497187"/>
                <a:gd name="connsiteY3" fmla="*/ 436027 h 895264"/>
                <a:gd name="connsiteX4" fmla="*/ 257712 w 497187"/>
                <a:gd name="connsiteY4" fmla="*/ 895265 h 89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187" h="895264">
                  <a:moveTo>
                    <a:pt x="257712" y="895265"/>
                  </a:moveTo>
                  <a:cubicBezTo>
                    <a:pt x="257712" y="895265"/>
                    <a:pt x="502086" y="663159"/>
                    <a:pt x="497112" y="426080"/>
                  </a:cubicBezTo>
                  <a:cubicBezTo>
                    <a:pt x="492139" y="189000"/>
                    <a:pt x="240138" y="0"/>
                    <a:pt x="240138" y="0"/>
                  </a:cubicBezTo>
                  <a:cubicBezTo>
                    <a:pt x="240138" y="0"/>
                    <a:pt x="-4899" y="198948"/>
                    <a:pt x="75" y="436027"/>
                  </a:cubicBezTo>
                  <a:cubicBezTo>
                    <a:pt x="5048" y="673106"/>
                    <a:pt x="257712" y="895265"/>
                    <a:pt x="257712" y="895265"/>
                  </a:cubicBezTo>
                  <a:close/>
                </a:path>
              </a:pathLst>
            </a:custGeom>
            <a:solidFill>
              <a:schemeClr val="accent4">
                <a:lumMod val="60000"/>
                <a:lumOff val="40000"/>
              </a:schemeClr>
            </a:solidFill>
            <a:ln w="33139"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9AAA7B3-502D-3E7B-7D98-F2F602220910}"/>
                </a:ext>
              </a:extLst>
            </p:cNvPr>
            <p:cNvSpPr/>
            <p:nvPr/>
          </p:nvSpPr>
          <p:spPr>
            <a:xfrm>
              <a:off x="7277392" y="3250531"/>
              <a:ext cx="497499" cy="894932"/>
            </a:xfrm>
            <a:custGeom>
              <a:avLst/>
              <a:gdLst>
                <a:gd name="connsiteX0" fmla="*/ 258034 w 497499"/>
                <a:gd name="connsiteY0" fmla="*/ 894933 h 894932"/>
                <a:gd name="connsiteX1" fmla="*/ 497434 w 497499"/>
                <a:gd name="connsiteY1" fmla="*/ 426080 h 894932"/>
                <a:gd name="connsiteX2" fmla="*/ 240460 w 497499"/>
                <a:gd name="connsiteY2" fmla="*/ 0 h 894932"/>
                <a:gd name="connsiteX3" fmla="*/ 65 w 497499"/>
                <a:gd name="connsiteY3" fmla="*/ 435696 h 894932"/>
                <a:gd name="connsiteX4" fmla="*/ 258034 w 497499"/>
                <a:gd name="connsiteY4" fmla="*/ 894933 h 894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499" h="894932">
                  <a:moveTo>
                    <a:pt x="258034" y="894933"/>
                  </a:moveTo>
                  <a:cubicBezTo>
                    <a:pt x="258034" y="894933"/>
                    <a:pt x="502077" y="662827"/>
                    <a:pt x="497434" y="426080"/>
                  </a:cubicBezTo>
                  <a:cubicBezTo>
                    <a:pt x="492792" y="189332"/>
                    <a:pt x="240460" y="0"/>
                    <a:pt x="240460" y="0"/>
                  </a:cubicBezTo>
                  <a:cubicBezTo>
                    <a:pt x="240460" y="0"/>
                    <a:pt x="-4577" y="198948"/>
                    <a:pt x="65" y="435696"/>
                  </a:cubicBezTo>
                  <a:cubicBezTo>
                    <a:pt x="4707" y="672443"/>
                    <a:pt x="258034" y="894933"/>
                    <a:pt x="258034" y="894933"/>
                  </a:cubicBezTo>
                  <a:close/>
                </a:path>
              </a:pathLst>
            </a:custGeom>
            <a:solidFill>
              <a:schemeClr val="accent6"/>
            </a:solidFill>
            <a:ln w="33139"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F9AD028-A40D-7727-2B18-24E8BF436ED1}"/>
                </a:ext>
              </a:extLst>
            </p:cNvPr>
            <p:cNvSpPr/>
            <p:nvPr/>
          </p:nvSpPr>
          <p:spPr>
            <a:xfrm>
              <a:off x="8216425" y="2312493"/>
              <a:ext cx="496505" cy="895264"/>
            </a:xfrm>
            <a:custGeom>
              <a:avLst/>
              <a:gdLst>
                <a:gd name="connsiteX0" fmla="*/ 256708 w 496505"/>
                <a:gd name="connsiteY0" fmla="*/ 895265 h 895264"/>
                <a:gd name="connsiteX1" fmla="*/ 496440 w 496505"/>
                <a:gd name="connsiteY1" fmla="*/ 426080 h 895264"/>
                <a:gd name="connsiteX2" fmla="*/ 240129 w 496505"/>
                <a:gd name="connsiteY2" fmla="*/ 0 h 895264"/>
                <a:gd name="connsiteX3" fmla="*/ 65 w 496505"/>
                <a:gd name="connsiteY3" fmla="*/ 436027 h 895264"/>
                <a:gd name="connsiteX4" fmla="*/ 256708 w 496505"/>
                <a:gd name="connsiteY4" fmla="*/ 895265 h 89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05" h="895264">
                  <a:moveTo>
                    <a:pt x="256708" y="895265"/>
                  </a:moveTo>
                  <a:cubicBezTo>
                    <a:pt x="256708" y="895265"/>
                    <a:pt x="501082" y="663159"/>
                    <a:pt x="496440" y="426080"/>
                  </a:cubicBezTo>
                  <a:cubicBezTo>
                    <a:pt x="491798" y="189000"/>
                    <a:pt x="240129" y="0"/>
                    <a:pt x="240129" y="0"/>
                  </a:cubicBezTo>
                  <a:cubicBezTo>
                    <a:pt x="240129" y="0"/>
                    <a:pt x="-4577" y="198948"/>
                    <a:pt x="65" y="436027"/>
                  </a:cubicBezTo>
                  <a:cubicBezTo>
                    <a:pt x="4707" y="673106"/>
                    <a:pt x="256708" y="895265"/>
                    <a:pt x="256708" y="895265"/>
                  </a:cubicBezTo>
                  <a:close/>
                </a:path>
              </a:pathLst>
            </a:custGeom>
            <a:solidFill>
              <a:schemeClr val="accent4">
                <a:lumMod val="75000"/>
              </a:schemeClr>
            </a:solidFill>
            <a:ln w="33139" cap="flat">
              <a:noFill/>
              <a:prstDash val="solid"/>
              <a:miter/>
            </a:ln>
          </p:spPr>
          <p:txBody>
            <a:bodyPr rtlCol="0" anchor="ctr"/>
            <a:lstStyle/>
            <a:p>
              <a:endParaRPr lang="en-US"/>
            </a:p>
          </p:txBody>
        </p:sp>
      </p:grpSp>
      <p:sp>
        <p:nvSpPr>
          <p:cNvPr id="18" name="Date Placeholder 17">
            <a:extLst>
              <a:ext uri="{FF2B5EF4-FFF2-40B4-BE49-F238E27FC236}">
                <a16:creationId xmlns:a16="http://schemas.microsoft.com/office/drawing/2014/main" id="{A3D9B530-908F-6C86-F664-FD7F7C949460}"/>
              </a:ext>
            </a:extLst>
          </p:cNvPr>
          <p:cNvSpPr>
            <a:spLocks noGrp="1"/>
          </p:cNvSpPr>
          <p:nvPr>
            <p:ph type="dt" sz="half" idx="10"/>
          </p:nvPr>
        </p:nvSpPr>
        <p:spPr/>
        <p:txBody>
          <a:bodyPr/>
          <a:lstStyle/>
          <a:p>
            <a:fld id="{4E88DDE0-FD1C-4D8A-821C-C67C8105424D}" type="datetime1">
              <a:rPr lang="en-US" smtClean="0"/>
              <a:t>3/15/2023</a:t>
            </a:fld>
            <a:endParaRPr lang="en-US"/>
          </a:p>
        </p:txBody>
      </p:sp>
      <p:sp>
        <p:nvSpPr>
          <p:cNvPr id="19" name="Footer Placeholder 18">
            <a:extLst>
              <a:ext uri="{FF2B5EF4-FFF2-40B4-BE49-F238E27FC236}">
                <a16:creationId xmlns:a16="http://schemas.microsoft.com/office/drawing/2014/main" id="{BA44FCB6-A33D-4F14-F183-033A09B2B4F4}"/>
              </a:ext>
            </a:extLst>
          </p:cNvPr>
          <p:cNvSpPr>
            <a:spLocks noGrp="1"/>
          </p:cNvSpPr>
          <p:nvPr>
            <p:ph type="ftr" sz="quarter" idx="11"/>
          </p:nvPr>
        </p:nvSpPr>
        <p:spPr/>
        <p:txBody>
          <a:bodyPr/>
          <a:lstStyle/>
          <a:p>
            <a:r>
              <a:rPr lang="en-US"/>
              <a:t>Chowdhury Mujaddid Ahmed </a:t>
            </a:r>
          </a:p>
        </p:txBody>
      </p:sp>
      <p:sp>
        <p:nvSpPr>
          <p:cNvPr id="20" name="Slide Number Placeholder 19">
            <a:extLst>
              <a:ext uri="{FF2B5EF4-FFF2-40B4-BE49-F238E27FC236}">
                <a16:creationId xmlns:a16="http://schemas.microsoft.com/office/drawing/2014/main" id="{6CC58AF3-C9EF-647C-D9E2-020238B39E6E}"/>
              </a:ext>
            </a:extLst>
          </p:cNvPr>
          <p:cNvSpPr>
            <a:spLocks noGrp="1"/>
          </p:cNvSpPr>
          <p:nvPr>
            <p:ph type="sldNum" sz="quarter" idx="12"/>
          </p:nvPr>
        </p:nvSpPr>
        <p:spPr/>
        <p:txBody>
          <a:bodyPr/>
          <a:lstStyle/>
          <a:p>
            <a:fld id="{E7951114-4229-437D-8DBE-1731FC19275D}" type="slidenum">
              <a:rPr lang="en-US" smtClean="0"/>
              <a:t>2</a:t>
            </a:fld>
            <a:endParaRPr lang="en-US"/>
          </a:p>
        </p:txBody>
      </p:sp>
    </p:spTree>
    <p:extLst>
      <p:ext uri="{BB962C8B-B14F-4D97-AF65-F5344CB8AC3E}">
        <p14:creationId xmlns:p14="http://schemas.microsoft.com/office/powerpoint/2010/main" val="718565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0941F-D047-6902-DB99-8425FB5A587A}"/>
              </a:ext>
            </a:extLst>
          </p:cNvPr>
          <p:cNvSpPr>
            <a:spLocks noGrp="1"/>
          </p:cNvSpPr>
          <p:nvPr>
            <p:ph type="title"/>
          </p:nvPr>
        </p:nvSpPr>
        <p:spPr/>
        <p:txBody>
          <a:bodyPr/>
          <a:lstStyle/>
          <a:p>
            <a:pPr algn="ctr"/>
            <a:r>
              <a:rPr lang="en-US" dirty="0">
                <a:latin typeface="Arial Rounded MT Bold" panose="020F0704030504030204" pitchFamily="34" charset="0"/>
              </a:rPr>
              <a:t>How seasonal change takes place? </a:t>
            </a:r>
          </a:p>
        </p:txBody>
      </p:sp>
      <p:pic>
        <p:nvPicPr>
          <p:cNvPr id="10" name="Content Placeholder 9">
            <a:extLst>
              <a:ext uri="{FF2B5EF4-FFF2-40B4-BE49-F238E27FC236}">
                <a16:creationId xmlns:a16="http://schemas.microsoft.com/office/drawing/2014/main" id="{77439C38-37DD-BD19-C095-E27D2599D9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8617" y="1617765"/>
            <a:ext cx="8160026" cy="4590014"/>
          </a:xfrm>
        </p:spPr>
      </p:pic>
      <p:sp>
        <p:nvSpPr>
          <p:cNvPr id="5" name="Date Placeholder 4">
            <a:extLst>
              <a:ext uri="{FF2B5EF4-FFF2-40B4-BE49-F238E27FC236}">
                <a16:creationId xmlns:a16="http://schemas.microsoft.com/office/drawing/2014/main" id="{8DB991F5-F405-7056-D8F7-EDE38910D44B}"/>
              </a:ext>
            </a:extLst>
          </p:cNvPr>
          <p:cNvSpPr>
            <a:spLocks noGrp="1"/>
          </p:cNvSpPr>
          <p:nvPr>
            <p:ph type="dt" sz="half" idx="10"/>
          </p:nvPr>
        </p:nvSpPr>
        <p:spPr/>
        <p:txBody>
          <a:bodyPr/>
          <a:lstStyle/>
          <a:p>
            <a:fld id="{1E2D9EED-F7BA-41FC-98C2-8429EDB7B230}" type="datetime1">
              <a:rPr lang="en-US" smtClean="0"/>
              <a:t>3/15/2023</a:t>
            </a:fld>
            <a:endParaRPr lang="en-US"/>
          </a:p>
        </p:txBody>
      </p:sp>
      <p:sp>
        <p:nvSpPr>
          <p:cNvPr id="6" name="Footer Placeholder 5">
            <a:extLst>
              <a:ext uri="{FF2B5EF4-FFF2-40B4-BE49-F238E27FC236}">
                <a16:creationId xmlns:a16="http://schemas.microsoft.com/office/drawing/2014/main" id="{24534ECD-4F0D-0B84-F737-7475433F7459}"/>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A24ACE94-D087-90C8-7803-24CC8E81012B}"/>
              </a:ext>
            </a:extLst>
          </p:cNvPr>
          <p:cNvSpPr>
            <a:spLocks noGrp="1"/>
          </p:cNvSpPr>
          <p:nvPr>
            <p:ph type="sldNum" sz="quarter" idx="12"/>
          </p:nvPr>
        </p:nvSpPr>
        <p:spPr/>
        <p:txBody>
          <a:bodyPr/>
          <a:lstStyle/>
          <a:p>
            <a:fld id="{E7951114-4229-437D-8DBE-1731FC19275D}" type="slidenum">
              <a:rPr lang="en-US" smtClean="0"/>
              <a:t>3</a:t>
            </a:fld>
            <a:endParaRPr lang="en-US"/>
          </a:p>
        </p:txBody>
      </p:sp>
    </p:spTree>
    <p:extLst>
      <p:ext uri="{BB962C8B-B14F-4D97-AF65-F5344CB8AC3E}">
        <p14:creationId xmlns:p14="http://schemas.microsoft.com/office/powerpoint/2010/main" val="248796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0BC0F-97AF-ED22-6A35-3341E16BD6E0}"/>
              </a:ext>
            </a:extLst>
          </p:cNvPr>
          <p:cNvSpPr>
            <a:spLocks noGrp="1"/>
          </p:cNvSpPr>
          <p:nvPr>
            <p:ph type="title"/>
          </p:nvPr>
        </p:nvSpPr>
        <p:spPr/>
        <p:txBody>
          <a:bodyPr/>
          <a:lstStyle/>
          <a:p>
            <a:pPr algn="ctr"/>
            <a:r>
              <a:rPr lang="en-US" dirty="0">
                <a:latin typeface="Arial Rounded MT Bold" panose="020F0704030504030204" pitchFamily="34" charset="0"/>
              </a:rPr>
              <a:t>Seasons of Bangladesh</a:t>
            </a:r>
          </a:p>
        </p:txBody>
      </p:sp>
      <p:sp>
        <p:nvSpPr>
          <p:cNvPr id="7" name="Content Placeholder 6">
            <a:extLst>
              <a:ext uri="{FF2B5EF4-FFF2-40B4-BE49-F238E27FC236}">
                <a16:creationId xmlns:a16="http://schemas.microsoft.com/office/drawing/2014/main" id="{1BCAEA25-1CAE-829B-A212-34A91A2EA068}"/>
              </a:ext>
            </a:extLst>
          </p:cNvPr>
          <p:cNvSpPr>
            <a:spLocks noGrp="1"/>
          </p:cNvSpPr>
          <p:nvPr>
            <p:ph idx="1"/>
          </p:nvPr>
        </p:nvSpPr>
        <p:spPr/>
        <p:txBody>
          <a:bodyPr>
            <a:normAutofit fontScale="77500" lnSpcReduction="20000"/>
          </a:bodyPr>
          <a:lstStyle/>
          <a:p>
            <a:r>
              <a:rPr lang="en-US" dirty="0"/>
              <a:t>Bangladesh is called the land of six seasons (</a:t>
            </a:r>
            <a:r>
              <a:rPr lang="en-US" dirty="0" err="1"/>
              <a:t>Sadartu</a:t>
            </a:r>
            <a:r>
              <a:rPr lang="en-US" dirty="0"/>
              <a:t>).</a:t>
            </a:r>
          </a:p>
          <a:p>
            <a:r>
              <a:rPr lang="en-US" dirty="0"/>
              <a:t> It has a temperate climate because of its </a:t>
            </a:r>
            <a:r>
              <a:rPr lang="en-US" b="1" dirty="0"/>
              <a:t>physical location</a:t>
            </a:r>
            <a:r>
              <a:rPr lang="en-US" dirty="0"/>
              <a:t>. </a:t>
            </a:r>
          </a:p>
          <a:p>
            <a:r>
              <a:rPr lang="en-US" dirty="0"/>
              <a:t>Though the climate of Bangladesh is mainly </a:t>
            </a:r>
            <a:r>
              <a:rPr lang="en-US" b="1" dirty="0"/>
              <a:t>sub-tropical monsoon</a:t>
            </a:r>
            <a:r>
              <a:rPr lang="en-US" dirty="0"/>
              <a:t>, </a:t>
            </a:r>
            <a:r>
              <a:rPr lang="en-US" dirty="0" err="1"/>
              <a:t>ie</a:t>
            </a:r>
            <a:r>
              <a:rPr lang="en-US" dirty="0"/>
              <a:t> warm and humid; </a:t>
            </a:r>
          </a:p>
          <a:p>
            <a:r>
              <a:rPr lang="en-US" dirty="0"/>
              <a:t>the Bangla calendar year is traditionally divided into six seasons: </a:t>
            </a:r>
            <a:r>
              <a:rPr lang="en-US" dirty="0" err="1"/>
              <a:t>Grisma</a:t>
            </a:r>
            <a:r>
              <a:rPr lang="en-US" dirty="0"/>
              <a:t> (summer), </a:t>
            </a:r>
            <a:r>
              <a:rPr lang="en-US" dirty="0" err="1"/>
              <a:t>Barsa</a:t>
            </a:r>
            <a:r>
              <a:rPr lang="en-US" dirty="0"/>
              <a:t> (rainy), Sarat (autumn), </a:t>
            </a:r>
            <a:r>
              <a:rPr lang="en-US" dirty="0" err="1"/>
              <a:t>Hemanta</a:t>
            </a:r>
            <a:r>
              <a:rPr lang="en-US" dirty="0"/>
              <a:t> (late autumn), </a:t>
            </a:r>
            <a:r>
              <a:rPr lang="en-US" dirty="0" err="1"/>
              <a:t>Shhit</a:t>
            </a:r>
            <a:r>
              <a:rPr lang="en-US" dirty="0"/>
              <a:t> (winter) and </a:t>
            </a:r>
            <a:r>
              <a:rPr lang="en-US" dirty="0" err="1"/>
              <a:t>Basanta</a:t>
            </a:r>
            <a:r>
              <a:rPr lang="en-US" dirty="0"/>
              <a:t> (spring). </a:t>
            </a:r>
          </a:p>
          <a:p>
            <a:r>
              <a:rPr lang="en-US" dirty="0"/>
              <a:t>Each season comprises two months, but some seasons flow into other seasons, while others are short. </a:t>
            </a:r>
          </a:p>
          <a:p>
            <a:r>
              <a:rPr lang="en-US" dirty="0"/>
              <a:t>In actual, Bangladesh has three </a:t>
            </a:r>
            <a:r>
              <a:rPr lang="en-US" b="1" dirty="0"/>
              <a:t>distinct seasons</a:t>
            </a:r>
            <a:r>
              <a:rPr lang="en-US" dirty="0"/>
              <a:t>: the pre-monsoon hot season from March through May,</a:t>
            </a:r>
          </a:p>
          <a:p>
            <a:r>
              <a:rPr lang="en-US" dirty="0"/>
              <a:t> the rainy monsoon season which lasts from June through October, </a:t>
            </a:r>
          </a:p>
          <a:p>
            <a:r>
              <a:rPr lang="en-US" dirty="0"/>
              <a:t>and a cool dry winter season from November through February. </a:t>
            </a:r>
          </a:p>
          <a:p>
            <a:r>
              <a:rPr lang="en-US" dirty="0"/>
              <a:t>However, March may also be considered as the spring season, and the period from mid-October through mid-November may be called the autumn.</a:t>
            </a:r>
          </a:p>
        </p:txBody>
      </p:sp>
      <p:sp>
        <p:nvSpPr>
          <p:cNvPr id="4" name="Date Placeholder 3">
            <a:extLst>
              <a:ext uri="{FF2B5EF4-FFF2-40B4-BE49-F238E27FC236}">
                <a16:creationId xmlns:a16="http://schemas.microsoft.com/office/drawing/2014/main" id="{01008111-B5AB-5AD2-286B-65477679242E}"/>
              </a:ext>
            </a:extLst>
          </p:cNvPr>
          <p:cNvSpPr>
            <a:spLocks noGrp="1"/>
          </p:cNvSpPr>
          <p:nvPr>
            <p:ph type="dt" sz="half" idx="10"/>
          </p:nvPr>
        </p:nvSpPr>
        <p:spPr/>
        <p:txBody>
          <a:bodyPr/>
          <a:lstStyle/>
          <a:p>
            <a:fld id="{92EFABC6-5FE7-491A-91F0-E09396D7AC74}" type="datetime1">
              <a:rPr lang="en-US" smtClean="0"/>
              <a:t>3/15/2023</a:t>
            </a:fld>
            <a:endParaRPr lang="en-US"/>
          </a:p>
        </p:txBody>
      </p:sp>
      <p:sp>
        <p:nvSpPr>
          <p:cNvPr id="5" name="Footer Placeholder 4">
            <a:extLst>
              <a:ext uri="{FF2B5EF4-FFF2-40B4-BE49-F238E27FC236}">
                <a16:creationId xmlns:a16="http://schemas.microsoft.com/office/drawing/2014/main" id="{BED9B6DE-C690-DE44-0094-E9DA858203B3}"/>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C87E9B73-9274-AA67-F313-6460296A855C}"/>
              </a:ext>
            </a:extLst>
          </p:cNvPr>
          <p:cNvSpPr>
            <a:spLocks noGrp="1"/>
          </p:cNvSpPr>
          <p:nvPr>
            <p:ph type="sldNum" sz="quarter" idx="12"/>
          </p:nvPr>
        </p:nvSpPr>
        <p:spPr/>
        <p:txBody>
          <a:bodyPr/>
          <a:lstStyle/>
          <a:p>
            <a:fld id="{E7951114-4229-437D-8DBE-1731FC19275D}" type="slidenum">
              <a:rPr lang="en-US" smtClean="0"/>
              <a:t>4</a:t>
            </a:fld>
            <a:endParaRPr lang="en-US"/>
          </a:p>
        </p:txBody>
      </p:sp>
    </p:spTree>
    <p:extLst>
      <p:ext uri="{BB962C8B-B14F-4D97-AF65-F5344CB8AC3E}">
        <p14:creationId xmlns:p14="http://schemas.microsoft.com/office/powerpoint/2010/main" val="247615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0A8E7-0D1D-4337-0308-DA66D56A9524}"/>
              </a:ext>
            </a:extLst>
          </p:cNvPr>
          <p:cNvSpPr>
            <a:spLocks noGrp="1"/>
          </p:cNvSpPr>
          <p:nvPr>
            <p:ph type="title"/>
          </p:nvPr>
        </p:nvSpPr>
        <p:spPr/>
        <p:txBody>
          <a:bodyPr/>
          <a:lstStyle/>
          <a:p>
            <a:pPr algn="ctr"/>
            <a:r>
              <a:rPr lang="en-US" dirty="0">
                <a:latin typeface="Arial Rounded MT Bold" panose="020F0704030504030204" pitchFamily="34" charset="0"/>
              </a:rPr>
              <a:t>Seasonal Impact</a:t>
            </a:r>
          </a:p>
        </p:txBody>
      </p:sp>
      <p:sp>
        <p:nvSpPr>
          <p:cNvPr id="9" name="Text Placeholder 8">
            <a:extLst>
              <a:ext uri="{FF2B5EF4-FFF2-40B4-BE49-F238E27FC236}">
                <a16:creationId xmlns:a16="http://schemas.microsoft.com/office/drawing/2014/main" id="{4DFC4D79-CDF4-B20E-C275-0EC0D2D1117C}"/>
              </a:ext>
            </a:extLst>
          </p:cNvPr>
          <p:cNvSpPr>
            <a:spLocks noGrp="1"/>
          </p:cNvSpPr>
          <p:nvPr>
            <p:ph type="body" idx="1"/>
          </p:nvPr>
        </p:nvSpPr>
        <p:spPr/>
        <p:txBody>
          <a:bodyPr/>
          <a:lstStyle/>
          <a:p>
            <a:r>
              <a:rPr lang="en-US" b="1" dirty="0"/>
              <a:t>Summer (</a:t>
            </a:r>
            <a:r>
              <a:rPr lang="en-US" b="1" dirty="0" err="1"/>
              <a:t>grisma</a:t>
            </a:r>
            <a:r>
              <a:rPr lang="en-US" b="1" dirty="0"/>
              <a:t>).</a:t>
            </a:r>
            <a:endParaRPr lang="en-US" dirty="0"/>
          </a:p>
        </p:txBody>
      </p:sp>
      <p:sp>
        <p:nvSpPr>
          <p:cNvPr id="7" name="Content Placeholder 6">
            <a:extLst>
              <a:ext uri="{FF2B5EF4-FFF2-40B4-BE49-F238E27FC236}">
                <a16:creationId xmlns:a16="http://schemas.microsoft.com/office/drawing/2014/main" id="{17F4442C-8988-9BDD-B844-4F10142962D5}"/>
              </a:ext>
            </a:extLst>
          </p:cNvPr>
          <p:cNvSpPr>
            <a:spLocks noGrp="1"/>
          </p:cNvSpPr>
          <p:nvPr>
            <p:ph sz="half" idx="2"/>
          </p:nvPr>
        </p:nvSpPr>
        <p:spPr/>
        <p:txBody>
          <a:bodyPr>
            <a:normAutofit fontScale="62500" lnSpcReduction="20000"/>
          </a:bodyPr>
          <a:lstStyle/>
          <a:p>
            <a:r>
              <a:rPr lang="en-US" dirty="0"/>
              <a:t>The heat of the sun dries up the waterbodies including rivers, canals, and wetlands. Probability of massive </a:t>
            </a:r>
            <a:r>
              <a:rPr lang="en-US" b="1" dirty="0"/>
              <a:t>drought compromising food security</a:t>
            </a:r>
            <a:r>
              <a:rPr lang="en-US" dirty="0"/>
              <a:t>.</a:t>
            </a:r>
          </a:p>
          <a:p>
            <a:r>
              <a:rPr lang="en-US" dirty="0"/>
              <a:t> The summer days are longer than the nights. </a:t>
            </a:r>
          </a:p>
          <a:p>
            <a:r>
              <a:rPr lang="en-US" dirty="0"/>
              <a:t>At this time the southerly or southwesterly monsoons flow over the country. </a:t>
            </a:r>
          </a:p>
          <a:p>
            <a:r>
              <a:rPr lang="en-US" dirty="0"/>
              <a:t>When dry and cool streams of air flowing from the west and northwest come in contact with </a:t>
            </a:r>
            <a:r>
              <a:rPr lang="en-US" dirty="0" err="1"/>
              <a:t>wirain-ladenden</a:t>
            </a:r>
            <a:r>
              <a:rPr lang="en-US" dirty="0"/>
              <a:t> clouds, storms occur, which, at times, take a violent form. </a:t>
            </a:r>
          </a:p>
          <a:p>
            <a:r>
              <a:rPr lang="en-US" dirty="0"/>
              <a:t>These storms are popularly known as </a:t>
            </a:r>
            <a:r>
              <a:rPr lang="en-US" b="1" dirty="0" err="1"/>
              <a:t>kalbaishakhi</a:t>
            </a:r>
            <a:r>
              <a:rPr lang="en-US" b="1" dirty="0"/>
              <a:t> (northwestern) or destructive </a:t>
            </a:r>
            <a:r>
              <a:rPr lang="en-US" b="1" dirty="0" err="1"/>
              <a:t>Baishakh</a:t>
            </a:r>
            <a:r>
              <a:rPr lang="en-US" b="1" dirty="0"/>
              <a:t> storms</a:t>
            </a:r>
            <a:r>
              <a:rPr lang="en-US" dirty="0"/>
              <a:t>.</a:t>
            </a:r>
          </a:p>
          <a:p>
            <a:r>
              <a:rPr lang="en-US" dirty="0"/>
              <a:t>Summer is a season of fruit baselining of agro-economy </a:t>
            </a:r>
          </a:p>
        </p:txBody>
      </p:sp>
      <p:pic>
        <p:nvPicPr>
          <p:cNvPr id="13" name="Content Placeholder 12">
            <a:extLst>
              <a:ext uri="{FF2B5EF4-FFF2-40B4-BE49-F238E27FC236}">
                <a16:creationId xmlns:a16="http://schemas.microsoft.com/office/drawing/2014/main" id="{F70312C8-973D-3968-039B-44B66A5237A9}"/>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535555" y="2505075"/>
            <a:ext cx="4147274" cy="3106453"/>
          </a:xfrm>
        </p:spPr>
      </p:pic>
      <p:sp>
        <p:nvSpPr>
          <p:cNvPr id="4" name="Date Placeholder 3">
            <a:extLst>
              <a:ext uri="{FF2B5EF4-FFF2-40B4-BE49-F238E27FC236}">
                <a16:creationId xmlns:a16="http://schemas.microsoft.com/office/drawing/2014/main" id="{550917B5-0F43-D046-7478-C97C503D08C3}"/>
              </a:ext>
            </a:extLst>
          </p:cNvPr>
          <p:cNvSpPr>
            <a:spLocks noGrp="1"/>
          </p:cNvSpPr>
          <p:nvPr>
            <p:ph type="dt" sz="half" idx="10"/>
          </p:nvPr>
        </p:nvSpPr>
        <p:spPr/>
        <p:txBody>
          <a:bodyPr/>
          <a:lstStyle/>
          <a:p>
            <a:fld id="{92EFABC6-5FE7-491A-91F0-E09396D7AC74}" type="datetime1">
              <a:rPr lang="en-US" smtClean="0"/>
              <a:t>3/15/2023</a:t>
            </a:fld>
            <a:endParaRPr lang="en-US"/>
          </a:p>
        </p:txBody>
      </p:sp>
      <p:sp>
        <p:nvSpPr>
          <p:cNvPr id="5" name="Footer Placeholder 4">
            <a:extLst>
              <a:ext uri="{FF2B5EF4-FFF2-40B4-BE49-F238E27FC236}">
                <a16:creationId xmlns:a16="http://schemas.microsoft.com/office/drawing/2014/main" id="{8839ECC4-9C7F-0C95-0253-B18397F9BF01}"/>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64094DC0-84EB-1966-E647-40E6F22E16EF}"/>
              </a:ext>
            </a:extLst>
          </p:cNvPr>
          <p:cNvSpPr>
            <a:spLocks noGrp="1"/>
          </p:cNvSpPr>
          <p:nvPr>
            <p:ph type="sldNum" sz="quarter" idx="12"/>
          </p:nvPr>
        </p:nvSpPr>
        <p:spPr/>
        <p:txBody>
          <a:bodyPr/>
          <a:lstStyle/>
          <a:p>
            <a:fld id="{E7951114-4229-437D-8DBE-1731FC19275D}" type="slidenum">
              <a:rPr lang="en-US" smtClean="0"/>
              <a:t>5</a:t>
            </a:fld>
            <a:endParaRPr lang="en-US"/>
          </a:p>
        </p:txBody>
      </p:sp>
    </p:spTree>
    <p:extLst>
      <p:ext uri="{BB962C8B-B14F-4D97-AF65-F5344CB8AC3E}">
        <p14:creationId xmlns:p14="http://schemas.microsoft.com/office/powerpoint/2010/main" val="182165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08F35-45FC-98A4-2C6B-A28FA0494F5A}"/>
              </a:ext>
            </a:extLst>
          </p:cNvPr>
          <p:cNvSpPr>
            <a:spLocks noGrp="1"/>
          </p:cNvSpPr>
          <p:nvPr>
            <p:ph type="title"/>
          </p:nvPr>
        </p:nvSpPr>
        <p:spPr/>
        <p:txBody>
          <a:bodyPr/>
          <a:lstStyle/>
          <a:p>
            <a:pPr algn="ctr"/>
            <a:r>
              <a:rPr lang="en-US" dirty="0">
                <a:latin typeface="Arial Rounded MT Bold" panose="020F0704030504030204" pitchFamily="34" charset="0"/>
              </a:rPr>
              <a:t>Seasonal Impact</a:t>
            </a:r>
            <a:endParaRPr lang="en-US" dirty="0"/>
          </a:p>
        </p:txBody>
      </p:sp>
      <p:sp>
        <p:nvSpPr>
          <p:cNvPr id="3" name="Text Placeholder 2">
            <a:extLst>
              <a:ext uri="{FF2B5EF4-FFF2-40B4-BE49-F238E27FC236}">
                <a16:creationId xmlns:a16="http://schemas.microsoft.com/office/drawing/2014/main" id="{6C3B979A-C562-A0A5-9E98-6B3236ACBAC1}"/>
              </a:ext>
            </a:extLst>
          </p:cNvPr>
          <p:cNvSpPr>
            <a:spLocks noGrp="1"/>
          </p:cNvSpPr>
          <p:nvPr>
            <p:ph type="body" idx="1"/>
          </p:nvPr>
        </p:nvSpPr>
        <p:spPr>
          <a:xfrm>
            <a:off x="733910" y="1445419"/>
            <a:ext cx="5157787" cy="823912"/>
          </a:xfrm>
        </p:spPr>
        <p:txBody>
          <a:bodyPr/>
          <a:lstStyle/>
          <a:p>
            <a:r>
              <a:rPr lang="en-US" dirty="0">
                <a:latin typeface="Arial Rounded MT Bold" panose="020F0704030504030204" pitchFamily="34" charset="0"/>
              </a:rPr>
              <a:t>The rainy season (</a:t>
            </a:r>
            <a:r>
              <a:rPr lang="en-US" dirty="0" err="1">
                <a:latin typeface="Arial Rounded MT Bold" panose="020F0704030504030204" pitchFamily="34" charset="0"/>
              </a:rPr>
              <a:t>barsa</a:t>
            </a:r>
            <a:r>
              <a:rPr lang="en-US" dirty="0">
                <a:latin typeface="Arial Rounded MT Bold" panose="020F0704030504030204" pitchFamily="34" charset="0"/>
              </a:rPr>
              <a:t>)</a:t>
            </a:r>
          </a:p>
        </p:txBody>
      </p:sp>
      <p:sp>
        <p:nvSpPr>
          <p:cNvPr id="4" name="Content Placeholder 3">
            <a:extLst>
              <a:ext uri="{FF2B5EF4-FFF2-40B4-BE49-F238E27FC236}">
                <a16:creationId xmlns:a16="http://schemas.microsoft.com/office/drawing/2014/main" id="{9564EFC3-1841-929E-CD6F-D9F66CB17A3A}"/>
              </a:ext>
            </a:extLst>
          </p:cNvPr>
          <p:cNvSpPr>
            <a:spLocks noGrp="1"/>
          </p:cNvSpPr>
          <p:nvPr>
            <p:ph sz="half" idx="2"/>
          </p:nvPr>
        </p:nvSpPr>
        <p:spPr>
          <a:xfrm>
            <a:off x="733910" y="2339339"/>
            <a:ext cx="6571665" cy="3920332"/>
          </a:xfrm>
        </p:spPr>
        <p:txBody>
          <a:bodyPr>
            <a:normAutofit/>
          </a:bodyPr>
          <a:lstStyle/>
          <a:p>
            <a:r>
              <a:rPr lang="en-US" sz="1200" dirty="0"/>
              <a:t>During the rainy season, the southwest monsoon winds bring plenty of rainfall (70 to 85 percent of the annual total) and occasionally last for days without end without any respite.</a:t>
            </a:r>
          </a:p>
          <a:p>
            <a:r>
              <a:rPr lang="en-US" sz="1200" dirty="0"/>
              <a:t> Most of the floodplains of the country remain inundated during this period. </a:t>
            </a:r>
          </a:p>
          <a:p>
            <a:r>
              <a:rPr lang="en-US" sz="1200" dirty="0"/>
              <a:t>Depending upon the local elevation, the depth and duration of </a:t>
            </a:r>
            <a:r>
              <a:rPr lang="en-US" sz="1200" dirty="0" err="1"/>
              <a:t>barsha</a:t>
            </a:r>
            <a:r>
              <a:rPr lang="en-US" sz="1200" dirty="0"/>
              <a:t> vary in different parts of Bangladesh. For instance, in low-lying parts like haors, </a:t>
            </a:r>
            <a:r>
              <a:rPr lang="en-US" sz="1200" dirty="0" err="1"/>
              <a:t>beels</a:t>
            </a:r>
            <a:r>
              <a:rPr lang="en-US" sz="1200" dirty="0"/>
              <a:t>, and </a:t>
            </a:r>
            <a:r>
              <a:rPr lang="en-US" sz="1200" dirty="0" err="1"/>
              <a:t>jheels</a:t>
            </a:r>
            <a:r>
              <a:rPr lang="en-US" sz="1200" dirty="0"/>
              <a:t> of Sylhet, </a:t>
            </a:r>
            <a:r>
              <a:rPr lang="en-US" sz="1200" dirty="0" err="1"/>
              <a:t>Netrokona</a:t>
            </a:r>
            <a:r>
              <a:rPr lang="en-US" sz="1200" dirty="0"/>
              <a:t>, Kishoreganj, Gopalganj, and Pabna districts inundation lasts for the longest period (more than six months). </a:t>
            </a:r>
          </a:p>
          <a:p>
            <a:r>
              <a:rPr lang="en-US" sz="1200" dirty="0"/>
              <a:t>In other places, like the central parts of Bangladesh, it lasts for about 3 to 4 months. In rural areas, boat navigation becomes a common mode of transport during this season.</a:t>
            </a:r>
          </a:p>
          <a:p>
            <a:r>
              <a:rPr lang="en-US" sz="1200" dirty="0"/>
              <a:t>Farmers are busy for harvesting jute, in flood-free areas and/or shallowly flooded (0 to 30 cm depth) areas for preparing paddy seedbeds. </a:t>
            </a:r>
          </a:p>
          <a:p>
            <a:r>
              <a:rPr lang="en-US" sz="1200" dirty="0"/>
              <a:t>Barsha is also important for the fishing community of Bangladesh. hilsa fish is available in plenty during this season. </a:t>
            </a:r>
          </a:p>
          <a:p>
            <a:r>
              <a:rPr lang="en-US" sz="1200" dirty="0"/>
              <a:t>The inundated floodplains become a large habitat for a wide variety of aquatic flora and fauna. At this time plenty of edible herbs grow everywhere, as does the national flower lotus. </a:t>
            </a:r>
          </a:p>
          <a:p>
            <a:r>
              <a:rPr lang="en-US" sz="1200" dirty="0"/>
              <a:t>This is the season for </a:t>
            </a:r>
            <a:r>
              <a:rPr lang="en-US" sz="1200" dirty="0" err="1"/>
              <a:t>keya</a:t>
            </a:r>
            <a:r>
              <a:rPr lang="en-US" sz="1200" dirty="0"/>
              <a:t>, kadam, </a:t>
            </a:r>
            <a:r>
              <a:rPr lang="en-US" sz="1200" dirty="0" err="1"/>
              <a:t>kamini</a:t>
            </a:r>
            <a:r>
              <a:rPr lang="en-US" sz="1200" dirty="0"/>
              <a:t>, </a:t>
            </a:r>
            <a:r>
              <a:rPr lang="en-US" sz="1200" dirty="0" err="1"/>
              <a:t>jui</a:t>
            </a:r>
            <a:r>
              <a:rPr lang="en-US" sz="1200" dirty="0"/>
              <a:t>, </a:t>
            </a:r>
            <a:r>
              <a:rPr lang="en-US" sz="1200" dirty="0" err="1"/>
              <a:t>gandharaj</a:t>
            </a:r>
            <a:r>
              <a:rPr lang="en-US" sz="1200" dirty="0"/>
              <a:t> and other fragrant flowers, as well as fruits like guava, pineapple, and pomelo.</a:t>
            </a:r>
          </a:p>
        </p:txBody>
      </p:sp>
      <p:pic>
        <p:nvPicPr>
          <p:cNvPr id="11" name="Content Placeholder 10">
            <a:extLst>
              <a:ext uri="{FF2B5EF4-FFF2-40B4-BE49-F238E27FC236}">
                <a16:creationId xmlns:a16="http://schemas.microsoft.com/office/drawing/2014/main" id="{3AAC2A7E-3A8A-5023-2B97-7159261F1B70}"/>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7800356" y="2339339"/>
            <a:ext cx="3124317" cy="3905396"/>
          </a:xfrm>
        </p:spPr>
      </p:pic>
      <p:sp>
        <p:nvSpPr>
          <p:cNvPr id="7" name="Date Placeholder 6">
            <a:extLst>
              <a:ext uri="{FF2B5EF4-FFF2-40B4-BE49-F238E27FC236}">
                <a16:creationId xmlns:a16="http://schemas.microsoft.com/office/drawing/2014/main" id="{84D95067-B656-3800-9B69-4661B6749FC3}"/>
              </a:ext>
            </a:extLst>
          </p:cNvPr>
          <p:cNvSpPr>
            <a:spLocks noGrp="1"/>
          </p:cNvSpPr>
          <p:nvPr>
            <p:ph type="dt" sz="half" idx="10"/>
          </p:nvPr>
        </p:nvSpPr>
        <p:spPr/>
        <p:txBody>
          <a:bodyPr/>
          <a:lstStyle/>
          <a:p>
            <a:fld id="{7234B325-3584-4E8A-A588-2478C53D5EF9}" type="datetime1">
              <a:rPr lang="en-US" smtClean="0"/>
              <a:t>3/15/2023</a:t>
            </a:fld>
            <a:endParaRPr lang="en-US"/>
          </a:p>
        </p:txBody>
      </p:sp>
      <p:sp>
        <p:nvSpPr>
          <p:cNvPr id="8" name="Footer Placeholder 7">
            <a:extLst>
              <a:ext uri="{FF2B5EF4-FFF2-40B4-BE49-F238E27FC236}">
                <a16:creationId xmlns:a16="http://schemas.microsoft.com/office/drawing/2014/main" id="{F7560BDA-B572-DD86-A6D1-C40AFAF80834}"/>
              </a:ext>
            </a:extLst>
          </p:cNvPr>
          <p:cNvSpPr>
            <a:spLocks noGrp="1"/>
          </p:cNvSpPr>
          <p:nvPr>
            <p:ph type="ftr" sz="quarter" idx="11"/>
          </p:nvPr>
        </p:nvSpPr>
        <p:spPr/>
        <p:txBody>
          <a:bodyPr/>
          <a:lstStyle/>
          <a:p>
            <a:r>
              <a:rPr lang="en-US"/>
              <a:t>Chowdhury Mujaddid Ahmed </a:t>
            </a:r>
          </a:p>
        </p:txBody>
      </p:sp>
      <p:sp>
        <p:nvSpPr>
          <p:cNvPr id="9" name="Slide Number Placeholder 8">
            <a:extLst>
              <a:ext uri="{FF2B5EF4-FFF2-40B4-BE49-F238E27FC236}">
                <a16:creationId xmlns:a16="http://schemas.microsoft.com/office/drawing/2014/main" id="{4D6C7FF4-DC98-3730-2F54-3481975F2B20}"/>
              </a:ext>
            </a:extLst>
          </p:cNvPr>
          <p:cNvSpPr>
            <a:spLocks noGrp="1"/>
          </p:cNvSpPr>
          <p:nvPr>
            <p:ph type="sldNum" sz="quarter" idx="12"/>
          </p:nvPr>
        </p:nvSpPr>
        <p:spPr/>
        <p:txBody>
          <a:bodyPr/>
          <a:lstStyle/>
          <a:p>
            <a:fld id="{E7951114-4229-437D-8DBE-1731FC19275D}" type="slidenum">
              <a:rPr lang="en-US" smtClean="0"/>
              <a:t>6</a:t>
            </a:fld>
            <a:endParaRPr lang="en-US"/>
          </a:p>
        </p:txBody>
      </p:sp>
    </p:spTree>
    <p:extLst>
      <p:ext uri="{BB962C8B-B14F-4D97-AF65-F5344CB8AC3E}">
        <p14:creationId xmlns:p14="http://schemas.microsoft.com/office/powerpoint/2010/main" val="3345851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F0B5-3E1F-A7E3-7C8D-6BB96CB5904E}"/>
              </a:ext>
            </a:extLst>
          </p:cNvPr>
          <p:cNvSpPr>
            <a:spLocks noGrp="1"/>
          </p:cNvSpPr>
          <p:nvPr>
            <p:ph type="title"/>
          </p:nvPr>
        </p:nvSpPr>
        <p:spPr/>
        <p:txBody>
          <a:bodyPr/>
          <a:lstStyle/>
          <a:p>
            <a:pPr algn="ctr"/>
            <a:r>
              <a:rPr lang="en-US" dirty="0">
                <a:latin typeface="Arial Rounded MT Bold" panose="020F0704030504030204" pitchFamily="34" charset="0"/>
              </a:rPr>
              <a:t>Seasonal Impact</a:t>
            </a:r>
            <a:endParaRPr lang="en-US" dirty="0"/>
          </a:p>
        </p:txBody>
      </p:sp>
      <p:sp>
        <p:nvSpPr>
          <p:cNvPr id="3" name="Text Placeholder 2">
            <a:extLst>
              <a:ext uri="{FF2B5EF4-FFF2-40B4-BE49-F238E27FC236}">
                <a16:creationId xmlns:a16="http://schemas.microsoft.com/office/drawing/2014/main" id="{22650412-AE48-4828-251A-D00EE156DDBC}"/>
              </a:ext>
            </a:extLst>
          </p:cNvPr>
          <p:cNvSpPr>
            <a:spLocks noGrp="1"/>
          </p:cNvSpPr>
          <p:nvPr>
            <p:ph type="body" idx="1"/>
          </p:nvPr>
        </p:nvSpPr>
        <p:spPr/>
        <p:txBody>
          <a:bodyPr/>
          <a:lstStyle/>
          <a:p>
            <a:r>
              <a:rPr lang="en-US" dirty="0">
                <a:latin typeface="Arial Rounded MT Bold" panose="020F0704030504030204" pitchFamily="34" charset="0"/>
              </a:rPr>
              <a:t>Autumn (</a:t>
            </a:r>
            <a:r>
              <a:rPr lang="en-US" dirty="0" err="1">
                <a:latin typeface="Arial Rounded MT Bold" panose="020F0704030504030204" pitchFamily="34" charset="0"/>
              </a:rPr>
              <a:t>sharat</a:t>
            </a:r>
            <a:r>
              <a:rPr lang="en-US" dirty="0">
                <a:latin typeface="Arial Rounded MT Bold" panose="020F0704030504030204" pitchFamily="34" charset="0"/>
              </a:rPr>
              <a:t>)</a:t>
            </a:r>
          </a:p>
        </p:txBody>
      </p:sp>
      <p:sp>
        <p:nvSpPr>
          <p:cNvPr id="4" name="Content Placeholder 3">
            <a:extLst>
              <a:ext uri="{FF2B5EF4-FFF2-40B4-BE49-F238E27FC236}">
                <a16:creationId xmlns:a16="http://schemas.microsoft.com/office/drawing/2014/main" id="{6BC3D049-200A-541A-C9E2-09FAB35F2C79}"/>
              </a:ext>
            </a:extLst>
          </p:cNvPr>
          <p:cNvSpPr>
            <a:spLocks noGrp="1"/>
          </p:cNvSpPr>
          <p:nvPr>
            <p:ph sz="half" idx="2"/>
          </p:nvPr>
        </p:nvSpPr>
        <p:spPr/>
        <p:txBody>
          <a:bodyPr>
            <a:normAutofit fontScale="62500" lnSpcReduction="20000"/>
          </a:bodyPr>
          <a:lstStyle/>
          <a:p>
            <a:r>
              <a:rPr lang="en-US" dirty="0"/>
              <a:t>The dark clouds in a grey sky, characteristic of the rainy season, are replaced by white clouds floating in a blue sky. Though at the beginning of this season, the days can be hot and sultry, towards the end of the season the nights and mornings become cool. </a:t>
            </a:r>
          </a:p>
          <a:p>
            <a:r>
              <a:rPr lang="en-US" dirty="0"/>
              <a:t>The gradual decrease in humidity also makes the weather comfortable. </a:t>
            </a:r>
          </a:p>
          <a:p>
            <a:r>
              <a:rPr lang="en-US" dirty="0"/>
              <a:t>During autumn a large number of fragrant flowers blossom: </a:t>
            </a:r>
            <a:r>
              <a:rPr lang="en-US" dirty="0" err="1"/>
              <a:t>shiuli</a:t>
            </a:r>
            <a:r>
              <a:rPr lang="en-US" dirty="0"/>
              <a:t>, roses, </a:t>
            </a:r>
            <a:r>
              <a:rPr lang="en-US" dirty="0" err="1"/>
              <a:t>bakul</a:t>
            </a:r>
            <a:r>
              <a:rPr lang="en-US" dirty="0"/>
              <a:t>, </a:t>
            </a:r>
            <a:r>
              <a:rPr lang="en-US" dirty="0" err="1"/>
              <a:t>mallika</a:t>
            </a:r>
            <a:r>
              <a:rPr lang="en-US" dirty="0"/>
              <a:t>, </a:t>
            </a:r>
            <a:r>
              <a:rPr lang="en-US" dirty="0" err="1"/>
              <a:t>kamini</a:t>
            </a:r>
            <a:r>
              <a:rPr lang="en-US" dirty="0"/>
              <a:t> and </a:t>
            </a:r>
            <a:r>
              <a:rPr lang="en-US" dirty="0" err="1"/>
              <a:t>madhabi</a:t>
            </a:r>
            <a:r>
              <a:rPr lang="en-US" dirty="0"/>
              <a:t>. The lotus grows in the wetlands and </a:t>
            </a:r>
            <a:r>
              <a:rPr lang="en-US" dirty="0" err="1"/>
              <a:t>kash</a:t>
            </a:r>
            <a:r>
              <a:rPr lang="en-US" dirty="0"/>
              <a:t> flower on the riverfronts.</a:t>
            </a:r>
          </a:p>
          <a:p>
            <a:r>
              <a:rPr lang="en-US" dirty="0"/>
              <a:t> This is also the time when the palmyra ripens. A major Hindu festival </a:t>
            </a:r>
            <a:r>
              <a:rPr lang="en-US" dirty="0" err="1"/>
              <a:t>durga</a:t>
            </a:r>
            <a:r>
              <a:rPr lang="en-US" dirty="0"/>
              <a:t> puja is celebrated during this season.</a:t>
            </a:r>
          </a:p>
        </p:txBody>
      </p:sp>
      <p:pic>
        <p:nvPicPr>
          <p:cNvPr id="11" name="Content Placeholder 10">
            <a:extLst>
              <a:ext uri="{FF2B5EF4-FFF2-40B4-BE49-F238E27FC236}">
                <a16:creationId xmlns:a16="http://schemas.microsoft.com/office/drawing/2014/main" id="{68BEEBB9-26A6-D54E-FCC5-220936C1110B}"/>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69024" y="2652336"/>
            <a:ext cx="5183188" cy="2889627"/>
          </a:xfrm>
        </p:spPr>
      </p:pic>
      <p:sp>
        <p:nvSpPr>
          <p:cNvPr id="7" name="Date Placeholder 6">
            <a:extLst>
              <a:ext uri="{FF2B5EF4-FFF2-40B4-BE49-F238E27FC236}">
                <a16:creationId xmlns:a16="http://schemas.microsoft.com/office/drawing/2014/main" id="{86A4BC1A-84EB-B8C9-19AA-F13B7163EFC1}"/>
              </a:ext>
            </a:extLst>
          </p:cNvPr>
          <p:cNvSpPr>
            <a:spLocks noGrp="1"/>
          </p:cNvSpPr>
          <p:nvPr>
            <p:ph type="dt" sz="half" idx="10"/>
          </p:nvPr>
        </p:nvSpPr>
        <p:spPr/>
        <p:txBody>
          <a:bodyPr/>
          <a:lstStyle/>
          <a:p>
            <a:fld id="{7234B325-3584-4E8A-A588-2478C53D5EF9}" type="datetime1">
              <a:rPr lang="en-US" smtClean="0"/>
              <a:t>3/15/2023</a:t>
            </a:fld>
            <a:endParaRPr lang="en-US"/>
          </a:p>
        </p:txBody>
      </p:sp>
      <p:sp>
        <p:nvSpPr>
          <p:cNvPr id="8" name="Footer Placeholder 7">
            <a:extLst>
              <a:ext uri="{FF2B5EF4-FFF2-40B4-BE49-F238E27FC236}">
                <a16:creationId xmlns:a16="http://schemas.microsoft.com/office/drawing/2014/main" id="{0733092B-B3FC-FB0F-82F9-B34AE35058E8}"/>
              </a:ext>
            </a:extLst>
          </p:cNvPr>
          <p:cNvSpPr>
            <a:spLocks noGrp="1"/>
          </p:cNvSpPr>
          <p:nvPr>
            <p:ph type="ftr" sz="quarter" idx="11"/>
          </p:nvPr>
        </p:nvSpPr>
        <p:spPr/>
        <p:txBody>
          <a:bodyPr/>
          <a:lstStyle/>
          <a:p>
            <a:r>
              <a:rPr lang="en-US"/>
              <a:t>Chowdhury Mujaddid Ahmed </a:t>
            </a:r>
          </a:p>
        </p:txBody>
      </p:sp>
      <p:sp>
        <p:nvSpPr>
          <p:cNvPr id="9" name="Slide Number Placeholder 8">
            <a:extLst>
              <a:ext uri="{FF2B5EF4-FFF2-40B4-BE49-F238E27FC236}">
                <a16:creationId xmlns:a16="http://schemas.microsoft.com/office/drawing/2014/main" id="{87E09C47-9F6F-E190-2AC7-49247EF137D0}"/>
              </a:ext>
            </a:extLst>
          </p:cNvPr>
          <p:cNvSpPr>
            <a:spLocks noGrp="1"/>
          </p:cNvSpPr>
          <p:nvPr>
            <p:ph type="sldNum" sz="quarter" idx="12"/>
          </p:nvPr>
        </p:nvSpPr>
        <p:spPr/>
        <p:txBody>
          <a:bodyPr/>
          <a:lstStyle/>
          <a:p>
            <a:fld id="{E7951114-4229-437D-8DBE-1731FC19275D}" type="slidenum">
              <a:rPr lang="en-US" smtClean="0"/>
              <a:t>7</a:t>
            </a:fld>
            <a:endParaRPr lang="en-US"/>
          </a:p>
        </p:txBody>
      </p:sp>
    </p:spTree>
    <p:extLst>
      <p:ext uri="{BB962C8B-B14F-4D97-AF65-F5344CB8AC3E}">
        <p14:creationId xmlns:p14="http://schemas.microsoft.com/office/powerpoint/2010/main" val="3067009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8CAF2-C6F2-0AEC-5BD3-4B7BB463E4BC}"/>
              </a:ext>
            </a:extLst>
          </p:cNvPr>
          <p:cNvSpPr>
            <a:spLocks noGrp="1"/>
          </p:cNvSpPr>
          <p:nvPr>
            <p:ph type="title"/>
          </p:nvPr>
        </p:nvSpPr>
        <p:spPr/>
        <p:txBody>
          <a:bodyPr/>
          <a:lstStyle/>
          <a:p>
            <a:pPr algn="ctr"/>
            <a:r>
              <a:rPr lang="en-US" dirty="0">
                <a:latin typeface="Arial Rounded MT Bold" panose="020F0704030504030204" pitchFamily="34" charset="0"/>
              </a:rPr>
              <a:t>Seasonal Impact</a:t>
            </a:r>
            <a:endParaRPr lang="en-US" dirty="0"/>
          </a:p>
        </p:txBody>
      </p:sp>
      <p:sp>
        <p:nvSpPr>
          <p:cNvPr id="3" name="Text Placeholder 2">
            <a:extLst>
              <a:ext uri="{FF2B5EF4-FFF2-40B4-BE49-F238E27FC236}">
                <a16:creationId xmlns:a16="http://schemas.microsoft.com/office/drawing/2014/main" id="{525565B7-E7F0-44DD-5AA6-98DE7620AE47}"/>
              </a:ext>
            </a:extLst>
          </p:cNvPr>
          <p:cNvSpPr>
            <a:spLocks noGrp="1"/>
          </p:cNvSpPr>
          <p:nvPr>
            <p:ph type="body" idx="1"/>
          </p:nvPr>
        </p:nvSpPr>
        <p:spPr>
          <a:xfrm>
            <a:off x="839788" y="1681163"/>
            <a:ext cx="5809490" cy="823912"/>
          </a:xfrm>
        </p:spPr>
        <p:txBody>
          <a:bodyPr/>
          <a:lstStyle/>
          <a:p>
            <a:r>
              <a:rPr lang="en-US" dirty="0"/>
              <a:t>Late autumn (</a:t>
            </a:r>
            <a:r>
              <a:rPr lang="en-US" dirty="0" err="1"/>
              <a:t>hemanta</a:t>
            </a:r>
            <a:r>
              <a:rPr lang="en-US" dirty="0"/>
              <a:t>)</a:t>
            </a:r>
          </a:p>
        </p:txBody>
      </p:sp>
      <p:sp>
        <p:nvSpPr>
          <p:cNvPr id="4" name="Content Placeholder 3">
            <a:extLst>
              <a:ext uri="{FF2B5EF4-FFF2-40B4-BE49-F238E27FC236}">
                <a16:creationId xmlns:a16="http://schemas.microsoft.com/office/drawing/2014/main" id="{6ECDBD84-BAA6-71E7-3DB8-E6DEE951EAC7}"/>
              </a:ext>
            </a:extLst>
          </p:cNvPr>
          <p:cNvSpPr>
            <a:spLocks noGrp="1"/>
          </p:cNvSpPr>
          <p:nvPr>
            <p:ph sz="half" idx="2"/>
          </p:nvPr>
        </p:nvSpPr>
        <p:spPr>
          <a:xfrm>
            <a:off x="839788" y="2505075"/>
            <a:ext cx="5809490" cy="3684588"/>
          </a:xfrm>
        </p:spPr>
        <p:txBody>
          <a:bodyPr>
            <a:normAutofit fontScale="85000" lnSpcReduction="20000"/>
          </a:bodyPr>
          <a:lstStyle/>
          <a:p>
            <a:r>
              <a:rPr lang="en-US" dirty="0"/>
              <a:t>It is a transitional phase between autumn and winter.</a:t>
            </a:r>
          </a:p>
          <a:p>
            <a:r>
              <a:rPr lang="en-US" dirty="0"/>
              <a:t> By mid-November the evenings grow cool. </a:t>
            </a:r>
          </a:p>
          <a:p>
            <a:r>
              <a:rPr lang="en-US" dirty="0"/>
              <a:t>The contrast between the daytime and nighttime temperatures results in heavy dew. </a:t>
            </a:r>
          </a:p>
          <a:p>
            <a:r>
              <a:rPr lang="en-US" dirty="0"/>
              <a:t>This is also the time for colds, coughs, and fevers. </a:t>
            </a:r>
          </a:p>
          <a:p>
            <a:r>
              <a:rPr lang="en-US" dirty="0"/>
              <a:t>In this season farmers are very busy with harvesting paddy and celebrating </a:t>
            </a:r>
            <a:r>
              <a:rPr lang="en-US" dirty="0" err="1"/>
              <a:t>navanna</a:t>
            </a:r>
            <a:r>
              <a:rPr lang="en-US" dirty="0"/>
              <a:t> with the new rice crop.</a:t>
            </a:r>
          </a:p>
        </p:txBody>
      </p:sp>
      <p:pic>
        <p:nvPicPr>
          <p:cNvPr id="11" name="Content Placeholder 10">
            <a:extLst>
              <a:ext uri="{FF2B5EF4-FFF2-40B4-BE49-F238E27FC236}">
                <a16:creationId xmlns:a16="http://schemas.microsoft.com/office/drawing/2014/main" id="{ACBC7120-0028-369C-2CCF-B8B639CDEEA4}"/>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7040220" y="2505075"/>
            <a:ext cx="4315305" cy="2416571"/>
          </a:xfrm>
        </p:spPr>
      </p:pic>
      <p:sp>
        <p:nvSpPr>
          <p:cNvPr id="7" name="Date Placeholder 6">
            <a:extLst>
              <a:ext uri="{FF2B5EF4-FFF2-40B4-BE49-F238E27FC236}">
                <a16:creationId xmlns:a16="http://schemas.microsoft.com/office/drawing/2014/main" id="{CCF6E118-D436-C4A4-E95D-CF074665C0EA}"/>
              </a:ext>
            </a:extLst>
          </p:cNvPr>
          <p:cNvSpPr>
            <a:spLocks noGrp="1"/>
          </p:cNvSpPr>
          <p:nvPr>
            <p:ph type="dt" sz="half" idx="10"/>
          </p:nvPr>
        </p:nvSpPr>
        <p:spPr/>
        <p:txBody>
          <a:bodyPr/>
          <a:lstStyle/>
          <a:p>
            <a:fld id="{7234B325-3584-4E8A-A588-2478C53D5EF9}" type="datetime1">
              <a:rPr lang="en-US" smtClean="0"/>
              <a:t>3/15/2023</a:t>
            </a:fld>
            <a:endParaRPr lang="en-US"/>
          </a:p>
        </p:txBody>
      </p:sp>
      <p:sp>
        <p:nvSpPr>
          <p:cNvPr id="8" name="Footer Placeholder 7">
            <a:extLst>
              <a:ext uri="{FF2B5EF4-FFF2-40B4-BE49-F238E27FC236}">
                <a16:creationId xmlns:a16="http://schemas.microsoft.com/office/drawing/2014/main" id="{E580A293-7030-92E9-4137-320B83D72FB3}"/>
              </a:ext>
            </a:extLst>
          </p:cNvPr>
          <p:cNvSpPr>
            <a:spLocks noGrp="1"/>
          </p:cNvSpPr>
          <p:nvPr>
            <p:ph type="ftr" sz="quarter" idx="11"/>
          </p:nvPr>
        </p:nvSpPr>
        <p:spPr/>
        <p:txBody>
          <a:bodyPr/>
          <a:lstStyle/>
          <a:p>
            <a:r>
              <a:rPr lang="en-US"/>
              <a:t>Chowdhury Mujaddid Ahmed </a:t>
            </a:r>
          </a:p>
        </p:txBody>
      </p:sp>
      <p:sp>
        <p:nvSpPr>
          <p:cNvPr id="9" name="Slide Number Placeholder 8">
            <a:extLst>
              <a:ext uri="{FF2B5EF4-FFF2-40B4-BE49-F238E27FC236}">
                <a16:creationId xmlns:a16="http://schemas.microsoft.com/office/drawing/2014/main" id="{43007E21-8E83-6BAD-721E-699B5943BF97}"/>
              </a:ext>
            </a:extLst>
          </p:cNvPr>
          <p:cNvSpPr>
            <a:spLocks noGrp="1"/>
          </p:cNvSpPr>
          <p:nvPr>
            <p:ph type="sldNum" sz="quarter" idx="12"/>
          </p:nvPr>
        </p:nvSpPr>
        <p:spPr/>
        <p:txBody>
          <a:bodyPr/>
          <a:lstStyle/>
          <a:p>
            <a:fld id="{E7951114-4229-437D-8DBE-1731FC19275D}" type="slidenum">
              <a:rPr lang="en-US" smtClean="0"/>
              <a:t>8</a:t>
            </a:fld>
            <a:endParaRPr lang="en-US"/>
          </a:p>
        </p:txBody>
      </p:sp>
    </p:spTree>
    <p:extLst>
      <p:ext uri="{BB962C8B-B14F-4D97-AF65-F5344CB8AC3E}">
        <p14:creationId xmlns:p14="http://schemas.microsoft.com/office/powerpoint/2010/main" val="2149441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3B83D-3784-5F21-976D-085EB209A96D}"/>
              </a:ext>
            </a:extLst>
          </p:cNvPr>
          <p:cNvSpPr>
            <a:spLocks noGrp="1"/>
          </p:cNvSpPr>
          <p:nvPr>
            <p:ph type="title"/>
          </p:nvPr>
        </p:nvSpPr>
        <p:spPr/>
        <p:txBody>
          <a:bodyPr/>
          <a:lstStyle/>
          <a:p>
            <a:pPr algn="ctr"/>
            <a:r>
              <a:rPr lang="en-US" dirty="0">
                <a:latin typeface="Arial Rounded MT Bold" panose="020F0704030504030204" pitchFamily="34" charset="0"/>
              </a:rPr>
              <a:t>Seasonal Impact</a:t>
            </a:r>
            <a:endParaRPr lang="en-US" dirty="0"/>
          </a:p>
        </p:txBody>
      </p:sp>
      <p:sp>
        <p:nvSpPr>
          <p:cNvPr id="10" name="Text Placeholder 9">
            <a:extLst>
              <a:ext uri="{FF2B5EF4-FFF2-40B4-BE49-F238E27FC236}">
                <a16:creationId xmlns:a16="http://schemas.microsoft.com/office/drawing/2014/main" id="{A8CA57BE-CC76-570F-4920-7550AB28D198}"/>
              </a:ext>
            </a:extLst>
          </p:cNvPr>
          <p:cNvSpPr>
            <a:spLocks noGrp="1"/>
          </p:cNvSpPr>
          <p:nvPr>
            <p:ph type="body" idx="1"/>
          </p:nvPr>
        </p:nvSpPr>
        <p:spPr>
          <a:xfrm>
            <a:off x="660883" y="1347789"/>
            <a:ext cx="5157787" cy="823912"/>
          </a:xfrm>
        </p:spPr>
        <p:txBody>
          <a:bodyPr/>
          <a:lstStyle/>
          <a:p>
            <a:r>
              <a:rPr lang="en-US" dirty="0">
                <a:latin typeface="Arial Rounded MT Bold" panose="020F0704030504030204" pitchFamily="34" charset="0"/>
              </a:rPr>
              <a:t>Winter</a:t>
            </a:r>
          </a:p>
        </p:txBody>
      </p:sp>
      <p:sp>
        <p:nvSpPr>
          <p:cNvPr id="4" name="Content Placeholder 3">
            <a:extLst>
              <a:ext uri="{FF2B5EF4-FFF2-40B4-BE49-F238E27FC236}">
                <a16:creationId xmlns:a16="http://schemas.microsoft.com/office/drawing/2014/main" id="{96E2A8CF-4F23-F92B-A932-FE493F459F95}"/>
              </a:ext>
            </a:extLst>
          </p:cNvPr>
          <p:cNvSpPr>
            <a:spLocks noGrp="1"/>
          </p:cNvSpPr>
          <p:nvPr>
            <p:ph sz="half" idx="2"/>
          </p:nvPr>
        </p:nvSpPr>
        <p:spPr>
          <a:xfrm>
            <a:off x="713892" y="2099849"/>
            <a:ext cx="11057351" cy="3684588"/>
          </a:xfrm>
        </p:spPr>
        <p:txBody>
          <a:bodyPr>
            <a:noAutofit/>
          </a:bodyPr>
          <a:lstStyle/>
          <a:p>
            <a:r>
              <a:rPr lang="en-US" sz="1400" b="1" dirty="0"/>
              <a:t>The Winter: </a:t>
            </a:r>
            <a:r>
              <a:rPr lang="en-US" sz="1400" dirty="0"/>
              <a:t>Average temperatures in January vary from about 11'C in the northwestern and northeastern parts of the country to 20'C to 21'C in the coastal areas. </a:t>
            </a:r>
          </a:p>
          <a:p>
            <a:r>
              <a:rPr lang="en-US" sz="1400" dirty="0"/>
              <a:t>Northern Bangladesh is cooler than southern Bangladesh, with occasional cold spells that claim lives. During this season, a center of high pressure lies over the northwestern part of India (Himalayan zone). A stream of cold air flows eastward from this high pressure and enters Bangladesh through its northwest corner. During this season, winds inside Bangladesh generally have a northerly component (</a:t>
            </a:r>
            <a:r>
              <a:rPr lang="en-US" sz="1400" dirty="0" err="1"/>
              <a:t>ie</a:t>
            </a:r>
            <a:r>
              <a:rPr lang="en-US" sz="1400" dirty="0"/>
              <a:t>, flowing from north or northwest).</a:t>
            </a:r>
          </a:p>
          <a:p>
            <a:r>
              <a:rPr lang="en-US" sz="1400" dirty="0"/>
              <a:t>The winter season is very dry, which accounts for less than 4 percent of the total annual rainfall. Average rainfall during the season varies from less than 2 cm in the west and south to slightly over 4 cm in the northeast.</a:t>
            </a:r>
          </a:p>
          <a:p>
            <a:r>
              <a:rPr lang="en-US" sz="1400" dirty="0"/>
              <a:t> Rainfall in this season is caused by the wind coming from the Mediterranean region that enters the country from the northwestern part of India along the Ganges basin. </a:t>
            </a:r>
          </a:p>
          <a:p>
            <a:r>
              <a:rPr lang="en-US" sz="1400" dirty="0"/>
              <a:t>Rainfall amount is slightly enhanced in northeastern Bangladesh by the orographic effect of the Meghalaya Plateau. These rainy spells bring the temperature down. The nights are longer than the days and mornings are often foggy. This is the time when deciduous trees shed their leaves.</a:t>
            </a:r>
          </a:p>
          <a:p>
            <a:r>
              <a:rPr lang="en-US" sz="1400" dirty="0"/>
              <a:t>Winter is the best and most enjoyable season of Bangladesh. A large variety of vegetables are available in the markets. So is fish, particularly large koi, </a:t>
            </a:r>
            <a:r>
              <a:rPr lang="en-US" sz="1400" dirty="0" err="1"/>
              <a:t>magur</a:t>
            </a:r>
            <a:r>
              <a:rPr lang="en-US" sz="1400" dirty="0"/>
              <a:t>, shing. </a:t>
            </a:r>
          </a:p>
          <a:p>
            <a:r>
              <a:rPr lang="en-US" sz="1400" dirty="0"/>
              <a:t>Special flowers of the season are Ganda and </a:t>
            </a:r>
            <a:r>
              <a:rPr lang="en-US" sz="1400" dirty="0" err="1"/>
              <a:t>Suryamukhi</a:t>
            </a:r>
            <a:r>
              <a:rPr lang="en-US" sz="1400" dirty="0"/>
              <a:t>. </a:t>
            </a:r>
            <a:r>
              <a:rPr lang="en-US" sz="1400" dirty="0" err="1"/>
              <a:t>Boroi</a:t>
            </a:r>
            <a:r>
              <a:rPr lang="en-US" sz="1400" dirty="0"/>
              <a:t> (jujube) and oranges are among the fruits of this season. Date juice is extracted during this time, to be used as juice or made into </a:t>
            </a:r>
            <a:r>
              <a:rPr lang="en-US" sz="1400" dirty="0" err="1"/>
              <a:t>gud</a:t>
            </a:r>
            <a:r>
              <a:rPr lang="en-US" sz="1400" dirty="0"/>
              <a:t> (molasses). This is the season for </a:t>
            </a:r>
            <a:r>
              <a:rPr lang="en-US" sz="1400" dirty="0" err="1"/>
              <a:t>pitha</a:t>
            </a:r>
            <a:r>
              <a:rPr lang="en-US" sz="1400" dirty="0"/>
              <a:t> or rice cakes such as </a:t>
            </a:r>
            <a:r>
              <a:rPr lang="en-US" sz="1400" dirty="0" err="1"/>
              <a:t>bhapa</a:t>
            </a:r>
            <a:r>
              <a:rPr lang="en-US" sz="1400" dirty="0"/>
              <a:t> </a:t>
            </a:r>
            <a:r>
              <a:rPr lang="en-US" sz="1400" dirty="0" err="1"/>
              <a:t>pitha</a:t>
            </a:r>
            <a:r>
              <a:rPr lang="en-US" sz="1400" dirty="0"/>
              <a:t>, </a:t>
            </a:r>
            <a:r>
              <a:rPr lang="en-US" sz="1400" dirty="0" err="1"/>
              <a:t>chitai</a:t>
            </a:r>
            <a:r>
              <a:rPr lang="en-US" sz="1400" dirty="0"/>
              <a:t> </a:t>
            </a:r>
            <a:r>
              <a:rPr lang="en-US" sz="1400" dirty="0" err="1"/>
              <a:t>pitha</a:t>
            </a:r>
            <a:r>
              <a:rPr lang="en-US" sz="1400" dirty="0"/>
              <a:t>, </a:t>
            </a:r>
            <a:r>
              <a:rPr lang="en-US" sz="1400" dirty="0" err="1"/>
              <a:t>patisapta</a:t>
            </a:r>
            <a:r>
              <a:rPr lang="en-US" sz="1400" dirty="0"/>
              <a:t> and </a:t>
            </a:r>
            <a:r>
              <a:rPr lang="en-US" sz="1400" dirty="0" err="1"/>
              <a:t>puli</a:t>
            </a:r>
            <a:r>
              <a:rPr lang="en-US" sz="1400" dirty="0"/>
              <a:t> </a:t>
            </a:r>
            <a:r>
              <a:rPr lang="en-US" sz="1400" dirty="0" err="1"/>
              <a:t>pitha</a:t>
            </a:r>
            <a:r>
              <a:rPr lang="en-US" sz="1400" dirty="0"/>
              <a:t>.</a:t>
            </a:r>
          </a:p>
        </p:txBody>
      </p:sp>
      <p:sp>
        <p:nvSpPr>
          <p:cNvPr id="7" name="Date Placeholder 6">
            <a:extLst>
              <a:ext uri="{FF2B5EF4-FFF2-40B4-BE49-F238E27FC236}">
                <a16:creationId xmlns:a16="http://schemas.microsoft.com/office/drawing/2014/main" id="{34C30E97-0880-2CEF-4D95-DEA24B9D5482}"/>
              </a:ext>
            </a:extLst>
          </p:cNvPr>
          <p:cNvSpPr>
            <a:spLocks noGrp="1"/>
          </p:cNvSpPr>
          <p:nvPr>
            <p:ph type="dt" sz="half" idx="10"/>
          </p:nvPr>
        </p:nvSpPr>
        <p:spPr/>
        <p:txBody>
          <a:bodyPr/>
          <a:lstStyle/>
          <a:p>
            <a:fld id="{7234B325-3584-4E8A-A588-2478C53D5EF9}" type="datetime1">
              <a:rPr lang="en-US" smtClean="0"/>
              <a:t>3/15/2023</a:t>
            </a:fld>
            <a:endParaRPr lang="en-US"/>
          </a:p>
        </p:txBody>
      </p:sp>
      <p:sp>
        <p:nvSpPr>
          <p:cNvPr id="8" name="Footer Placeholder 7">
            <a:extLst>
              <a:ext uri="{FF2B5EF4-FFF2-40B4-BE49-F238E27FC236}">
                <a16:creationId xmlns:a16="http://schemas.microsoft.com/office/drawing/2014/main" id="{EED09D24-93C1-D924-DA1C-4BDB7B09CCFB}"/>
              </a:ext>
            </a:extLst>
          </p:cNvPr>
          <p:cNvSpPr>
            <a:spLocks noGrp="1"/>
          </p:cNvSpPr>
          <p:nvPr>
            <p:ph type="ftr" sz="quarter" idx="11"/>
          </p:nvPr>
        </p:nvSpPr>
        <p:spPr/>
        <p:txBody>
          <a:bodyPr/>
          <a:lstStyle/>
          <a:p>
            <a:r>
              <a:rPr lang="en-US" dirty="0"/>
              <a:t>Chowdhury Mujaddid Ahmed </a:t>
            </a:r>
          </a:p>
        </p:txBody>
      </p:sp>
      <p:sp>
        <p:nvSpPr>
          <p:cNvPr id="9" name="Slide Number Placeholder 8">
            <a:extLst>
              <a:ext uri="{FF2B5EF4-FFF2-40B4-BE49-F238E27FC236}">
                <a16:creationId xmlns:a16="http://schemas.microsoft.com/office/drawing/2014/main" id="{0EBB6513-B31C-A3AF-E419-211F8FEA90B2}"/>
              </a:ext>
            </a:extLst>
          </p:cNvPr>
          <p:cNvSpPr>
            <a:spLocks noGrp="1"/>
          </p:cNvSpPr>
          <p:nvPr>
            <p:ph type="sldNum" sz="quarter" idx="12"/>
          </p:nvPr>
        </p:nvSpPr>
        <p:spPr/>
        <p:txBody>
          <a:bodyPr/>
          <a:lstStyle/>
          <a:p>
            <a:fld id="{E7951114-4229-437D-8DBE-1731FC19275D}" type="slidenum">
              <a:rPr lang="en-US" smtClean="0"/>
              <a:t>9</a:t>
            </a:fld>
            <a:endParaRPr lang="en-US"/>
          </a:p>
        </p:txBody>
      </p:sp>
    </p:spTree>
    <p:extLst>
      <p:ext uri="{BB962C8B-B14F-4D97-AF65-F5344CB8AC3E}">
        <p14:creationId xmlns:p14="http://schemas.microsoft.com/office/powerpoint/2010/main" val="183796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0229-4F18-A3D1-E016-764FE77748B0}"/>
              </a:ext>
            </a:extLst>
          </p:cNvPr>
          <p:cNvSpPr>
            <a:spLocks noGrp="1"/>
          </p:cNvSpPr>
          <p:nvPr>
            <p:ph type="title"/>
          </p:nvPr>
        </p:nvSpPr>
        <p:spPr/>
        <p:txBody>
          <a:bodyPr/>
          <a:lstStyle/>
          <a:p>
            <a:pPr algn="ctr"/>
            <a:r>
              <a:rPr lang="en-US" dirty="0">
                <a:latin typeface="Arial Rounded MT Bold" panose="020F0704030504030204" pitchFamily="34" charset="0"/>
              </a:rPr>
              <a:t>Seasonal Impact</a:t>
            </a:r>
            <a:endParaRPr lang="en-US" dirty="0"/>
          </a:p>
        </p:txBody>
      </p:sp>
      <p:sp>
        <p:nvSpPr>
          <p:cNvPr id="3" name="Text Placeholder 2">
            <a:extLst>
              <a:ext uri="{FF2B5EF4-FFF2-40B4-BE49-F238E27FC236}">
                <a16:creationId xmlns:a16="http://schemas.microsoft.com/office/drawing/2014/main" id="{DAFB9BCC-E59E-6202-6A69-01F20F6384D4}"/>
              </a:ext>
            </a:extLst>
          </p:cNvPr>
          <p:cNvSpPr>
            <a:spLocks noGrp="1"/>
          </p:cNvSpPr>
          <p:nvPr>
            <p:ph type="body" idx="1"/>
          </p:nvPr>
        </p:nvSpPr>
        <p:spPr/>
        <p:txBody>
          <a:bodyPr/>
          <a:lstStyle/>
          <a:p>
            <a:r>
              <a:rPr lang="en-US" dirty="0"/>
              <a:t>The spring (</a:t>
            </a:r>
            <a:r>
              <a:rPr lang="en-US" dirty="0" err="1"/>
              <a:t>basanta</a:t>
            </a:r>
            <a:r>
              <a:rPr lang="en-US" dirty="0"/>
              <a:t>)</a:t>
            </a:r>
          </a:p>
        </p:txBody>
      </p:sp>
      <p:sp>
        <p:nvSpPr>
          <p:cNvPr id="4" name="Content Placeholder 3">
            <a:extLst>
              <a:ext uri="{FF2B5EF4-FFF2-40B4-BE49-F238E27FC236}">
                <a16:creationId xmlns:a16="http://schemas.microsoft.com/office/drawing/2014/main" id="{F2F914E5-DAA4-B689-5158-2569F7BE496A}"/>
              </a:ext>
            </a:extLst>
          </p:cNvPr>
          <p:cNvSpPr>
            <a:spLocks noGrp="1"/>
          </p:cNvSpPr>
          <p:nvPr>
            <p:ph sz="half" idx="2"/>
          </p:nvPr>
        </p:nvSpPr>
        <p:spPr>
          <a:xfrm>
            <a:off x="839788" y="2505075"/>
            <a:ext cx="10512424" cy="3684588"/>
          </a:xfrm>
        </p:spPr>
        <p:txBody>
          <a:bodyPr>
            <a:normAutofit fontScale="55000" lnSpcReduction="20000"/>
          </a:bodyPr>
          <a:lstStyle/>
          <a:p>
            <a:r>
              <a:rPr lang="en-US" dirty="0"/>
              <a:t>Weather is normally pleasant, with 20 to 25 percent cloud-cover, comfortable temperature and moderate relative humidity. </a:t>
            </a:r>
          </a:p>
          <a:p>
            <a:r>
              <a:rPr lang="en-US" dirty="0"/>
              <a:t>The average temperature in March varies from 22'C to 25'C all over the country, with relative humidity ranging from 50 to 70 percent. However, temperature, cloud cover and relative humidity during the early part of the season are lower than their respective average values. Occasionally, isolated thunderstorms may occur in the afternoon, especially during the second half of March.</a:t>
            </a:r>
          </a:p>
          <a:p>
            <a:r>
              <a:rPr lang="en-US" dirty="0"/>
              <a:t>Spring is called the king of seasons.</a:t>
            </a:r>
          </a:p>
          <a:p>
            <a:r>
              <a:rPr lang="en-US" dirty="0"/>
              <a:t>At this time the sky is clear and plants sprout new leaves. There are balmy breezes from the south, very welcome after the cold winter. </a:t>
            </a:r>
          </a:p>
          <a:p>
            <a:r>
              <a:rPr lang="en-US" dirty="0"/>
              <a:t>Flame-colored </a:t>
            </a:r>
            <a:r>
              <a:rPr lang="en-US" dirty="0" err="1"/>
              <a:t>shimul</a:t>
            </a:r>
            <a:r>
              <a:rPr lang="en-US" dirty="0"/>
              <a:t>, palash and </a:t>
            </a:r>
            <a:r>
              <a:rPr lang="en-US" dirty="0" err="1"/>
              <a:t>krisnachuda</a:t>
            </a:r>
            <a:r>
              <a:rPr lang="en-US" dirty="0"/>
              <a:t> blossom, as does the golden </a:t>
            </a:r>
            <a:r>
              <a:rPr lang="en-US" dirty="0" err="1"/>
              <a:t>radhachuda</a:t>
            </a:r>
            <a:r>
              <a:rPr lang="en-US" dirty="0"/>
              <a:t> and the mauve jarul.</a:t>
            </a:r>
          </a:p>
          <a:p>
            <a:r>
              <a:rPr lang="en-US" dirty="0"/>
              <a:t>Fruit trees such as mango and jackfruit also flower at this time. Spring sees the advent of the cuckoo, which sings hidden in the foliage. This is also the season for bees to become active gathering nectar.</a:t>
            </a:r>
          </a:p>
          <a:p>
            <a:r>
              <a:rPr lang="en-US" dirty="0"/>
              <a:t> Wheat, oat and mustard dominate the fields. Hindus celebrate pujas like Basanti and </a:t>
            </a:r>
            <a:r>
              <a:rPr lang="en-US" dirty="0" err="1"/>
              <a:t>doljatra</a:t>
            </a:r>
            <a:r>
              <a:rPr lang="en-US" dirty="0"/>
              <a:t>. In the past this season' was marked by epidemics like cholera and smallpox (which was called </a:t>
            </a:r>
            <a:r>
              <a:rPr lang="en-US" dirty="0" err="1"/>
              <a:t>basanta</a:t>
            </a:r>
            <a:r>
              <a:rPr lang="en-US" dirty="0"/>
              <a:t>). Smallpox has since been completely eradicated and cholera largely controlled.</a:t>
            </a:r>
          </a:p>
        </p:txBody>
      </p:sp>
      <p:sp>
        <p:nvSpPr>
          <p:cNvPr id="7" name="Date Placeholder 6">
            <a:extLst>
              <a:ext uri="{FF2B5EF4-FFF2-40B4-BE49-F238E27FC236}">
                <a16:creationId xmlns:a16="http://schemas.microsoft.com/office/drawing/2014/main" id="{0719C0B4-9493-2040-94CD-BDF33260BD07}"/>
              </a:ext>
            </a:extLst>
          </p:cNvPr>
          <p:cNvSpPr>
            <a:spLocks noGrp="1"/>
          </p:cNvSpPr>
          <p:nvPr>
            <p:ph type="dt" sz="half" idx="10"/>
          </p:nvPr>
        </p:nvSpPr>
        <p:spPr/>
        <p:txBody>
          <a:bodyPr/>
          <a:lstStyle/>
          <a:p>
            <a:fld id="{7234B325-3584-4E8A-A588-2478C53D5EF9}" type="datetime1">
              <a:rPr lang="en-US" smtClean="0"/>
              <a:t>3/15/2023</a:t>
            </a:fld>
            <a:endParaRPr lang="en-US"/>
          </a:p>
        </p:txBody>
      </p:sp>
      <p:sp>
        <p:nvSpPr>
          <p:cNvPr id="8" name="Footer Placeholder 7">
            <a:extLst>
              <a:ext uri="{FF2B5EF4-FFF2-40B4-BE49-F238E27FC236}">
                <a16:creationId xmlns:a16="http://schemas.microsoft.com/office/drawing/2014/main" id="{FA49335A-4DC6-4947-8F78-2C048B56AB81}"/>
              </a:ext>
            </a:extLst>
          </p:cNvPr>
          <p:cNvSpPr>
            <a:spLocks noGrp="1"/>
          </p:cNvSpPr>
          <p:nvPr>
            <p:ph type="ftr" sz="quarter" idx="11"/>
          </p:nvPr>
        </p:nvSpPr>
        <p:spPr/>
        <p:txBody>
          <a:bodyPr/>
          <a:lstStyle/>
          <a:p>
            <a:r>
              <a:rPr lang="en-US"/>
              <a:t>Chowdhury Mujaddid Ahmed </a:t>
            </a:r>
          </a:p>
        </p:txBody>
      </p:sp>
      <p:sp>
        <p:nvSpPr>
          <p:cNvPr id="9" name="Slide Number Placeholder 8">
            <a:extLst>
              <a:ext uri="{FF2B5EF4-FFF2-40B4-BE49-F238E27FC236}">
                <a16:creationId xmlns:a16="http://schemas.microsoft.com/office/drawing/2014/main" id="{164B78B2-73A6-4D23-3FD1-A617AB4677B0}"/>
              </a:ext>
            </a:extLst>
          </p:cNvPr>
          <p:cNvSpPr>
            <a:spLocks noGrp="1"/>
          </p:cNvSpPr>
          <p:nvPr>
            <p:ph type="sldNum" sz="quarter" idx="12"/>
          </p:nvPr>
        </p:nvSpPr>
        <p:spPr/>
        <p:txBody>
          <a:bodyPr/>
          <a:lstStyle/>
          <a:p>
            <a:fld id="{E7951114-4229-437D-8DBE-1731FC19275D}" type="slidenum">
              <a:rPr lang="en-US" smtClean="0"/>
              <a:t>10</a:t>
            </a:fld>
            <a:endParaRPr lang="en-US"/>
          </a:p>
        </p:txBody>
      </p:sp>
    </p:spTree>
    <p:extLst>
      <p:ext uri="{BB962C8B-B14F-4D97-AF65-F5344CB8AC3E}">
        <p14:creationId xmlns:p14="http://schemas.microsoft.com/office/powerpoint/2010/main" val="1756951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0D14-24E7-6C00-4978-A05FFF7BB128}"/>
              </a:ext>
            </a:extLst>
          </p:cNvPr>
          <p:cNvSpPr>
            <a:spLocks noGrp="1"/>
          </p:cNvSpPr>
          <p:nvPr>
            <p:ph type="ctrTitle"/>
          </p:nvPr>
        </p:nvSpPr>
        <p:spPr/>
        <p:txBody>
          <a:bodyPr/>
          <a:lstStyle/>
          <a:p>
            <a:r>
              <a:rPr lang="en-US" dirty="0">
                <a:latin typeface="Arial Rounded MT Bold" panose="020F0704030504030204" pitchFamily="34" charset="0"/>
              </a:rPr>
              <a:t>Thank you </a:t>
            </a:r>
          </a:p>
        </p:txBody>
      </p:sp>
      <p:sp>
        <p:nvSpPr>
          <p:cNvPr id="3" name="Subtitle 2">
            <a:extLst>
              <a:ext uri="{FF2B5EF4-FFF2-40B4-BE49-F238E27FC236}">
                <a16:creationId xmlns:a16="http://schemas.microsoft.com/office/drawing/2014/main" id="{6DBA92DB-21C4-C15D-816F-1E895EC9D32D}"/>
              </a:ext>
            </a:extLst>
          </p:cNvPr>
          <p:cNvSpPr>
            <a:spLocks noGrp="1"/>
          </p:cNvSpPr>
          <p:nvPr>
            <p:ph type="subTitle" idx="1"/>
          </p:nvPr>
        </p:nvSpPr>
        <p:spPr/>
        <p:txBody>
          <a:bodyPr>
            <a:normAutofit/>
          </a:bodyPr>
          <a:lstStyle/>
          <a:p>
            <a:r>
              <a:rPr lang="en-US" sz="4400" dirty="0">
                <a:latin typeface="Arial Rounded MT Bold" panose="020F0704030504030204" pitchFamily="34" charset="0"/>
              </a:rPr>
              <a:t>End of Lecture 5 </a:t>
            </a:r>
          </a:p>
        </p:txBody>
      </p:sp>
      <p:sp>
        <p:nvSpPr>
          <p:cNvPr id="4" name="Date Placeholder 3">
            <a:extLst>
              <a:ext uri="{FF2B5EF4-FFF2-40B4-BE49-F238E27FC236}">
                <a16:creationId xmlns:a16="http://schemas.microsoft.com/office/drawing/2014/main" id="{0D6BA885-EF80-D4CC-F182-A8D297688941}"/>
              </a:ext>
            </a:extLst>
          </p:cNvPr>
          <p:cNvSpPr>
            <a:spLocks noGrp="1"/>
          </p:cNvSpPr>
          <p:nvPr>
            <p:ph type="dt" sz="half" idx="10"/>
          </p:nvPr>
        </p:nvSpPr>
        <p:spPr/>
        <p:txBody>
          <a:bodyPr/>
          <a:lstStyle/>
          <a:p>
            <a:fld id="{A004FD32-4016-45F2-B7C1-FEA036F6551A}" type="datetime1">
              <a:rPr lang="en-US" smtClean="0"/>
              <a:t>3/15/2023</a:t>
            </a:fld>
            <a:endParaRPr lang="en-US"/>
          </a:p>
        </p:txBody>
      </p:sp>
      <p:sp>
        <p:nvSpPr>
          <p:cNvPr id="5" name="Footer Placeholder 4">
            <a:extLst>
              <a:ext uri="{FF2B5EF4-FFF2-40B4-BE49-F238E27FC236}">
                <a16:creationId xmlns:a16="http://schemas.microsoft.com/office/drawing/2014/main" id="{65574076-1DF0-D047-E0A2-B66443EC226F}"/>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BE053296-4099-91D7-4F83-F2FB2A573F65}"/>
              </a:ext>
            </a:extLst>
          </p:cNvPr>
          <p:cNvSpPr>
            <a:spLocks noGrp="1"/>
          </p:cNvSpPr>
          <p:nvPr>
            <p:ph type="sldNum" sz="quarter" idx="12"/>
          </p:nvPr>
        </p:nvSpPr>
        <p:spPr/>
        <p:txBody>
          <a:bodyPr/>
          <a:lstStyle/>
          <a:p>
            <a:fld id="{E7951114-4229-437D-8DBE-1731FC19275D}" type="slidenum">
              <a:rPr lang="en-US" smtClean="0"/>
              <a:t>11</a:t>
            </a:fld>
            <a:endParaRPr lang="en-US"/>
          </a:p>
        </p:txBody>
      </p:sp>
    </p:spTree>
    <p:extLst>
      <p:ext uri="{BB962C8B-B14F-4D97-AF65-F5344CB8AC3E}">
        <p14:creationId xmlns:p14="http://schemas.microsoft.com/office/powerpoint/2010/main" val="1686096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1432</Words>
  <Application>Microsoft Office PowerPoint</Application>
  <PresentationFormat>Widescreen</PresentationFormat>
  <Paragraphs>101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Rounded MT Bold</vt:lpstr>
      <vt:lpstr>Calibri</vt:lpstr>
      <vt:lpstr>Calibri Light</vt:lpstr>
      <vt:lpstr>Office Theme</vt:lpstr>
      <vt:lpstr> Understanding of Seasonal change and impact (Monsoon-Flood-Drought)</vt:lpstr>
      <vt:lpstr>What is seasonal change? </vt:lpstr>
      <vt:lpstr>How seasonal change takes place? </vt:lpstr>
      <vt:lpstr>Seasons of Bangladesh</vt:lpstr>
      <vt:lpstr>Seasonal Impact</vt:lpstr>
      <vt:lpstr>Seasonal Impact</vt:lpstr>
      <vt:lpstr>Seasonal Impact</vt:lpstr>
      <vt:lpstr>Seasonal Impact</vt:lpstr>
      <vt:lpstr>Seasonal Impact</vt:lpstr>
      <vt:lpstr>Seasonal Impact</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Understanding of Seasonal change and impact (Monsoon-Flood-Drought)</dc:title>
  <dc:creator>Chowdhury Mujaddid Ahmed</dc:creator>
  <cp:lastModifiedBy>Chowdhury Mujaddid Ahmed</cp:lastModifiedBy>
  <cp:revision>13</cp:revision>
  <dcterms:created xsi:type="dcterms:W3CDTF">2023-03-13T14:21:54Z</dcterms:created>
  <dcterms:modified xsi:type="dcterms:W3CDTF">2023-03-15T16:11:04Z</dcterms:modified>
</cp:coreProperties>
</file>